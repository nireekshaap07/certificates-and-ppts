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Arial Bold" charset="1" panose="020B0704020202020204"/>
      <p:regular r:id="rId10"/>
    </p:embeddedFont>
    <p:embeddedFont>
      <p:font typeface="Times New Roman Bold" charset="1" panose="02020803070505020304"/>
      <p:regular r:id="rId11"/>
    </p:embeddedFont>
    <p:embeddedFont>
      <p:font typeface="Times New Roman" charset="1" panose="02020603050405020304"/>
      <p:regular r:id="rId12"/>
    </p:embeddedFont>
    <p:embeddedFont>
      <p:font typeface="Arial Nova Bold" charset="1" panose="020B0804020202020204"/>
      <p:regular r:id="rId13"/>
    </p:embeddedFont>
    <p:embeddedFont>
      <p:font typeface="Arial Nova" charset="1" panose="020B050402020202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2.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85203" y="1277998"/>
            <a:ext cx="6958079" cy="7731004"/>
            <a:chOff x="0" y="0"/>
            <a:chExt cx="9277439" cy="10308006"/>
          </a:xfrm>
        </p:grpSpPr>
        <p:sp>
          <p:nvSpPr>
            <p:cNvPr name="Freeform 3" id="3"/>
            <p:cNvSpPr/>
            <p:nvPr/>
          </p:nvSpPr>
          <p:spPr>
            <a:xfrm flipH="false" flipV="false" rot="0">
              <a:off x="0" y="0"/>
              <a:ext cx="9277477" cy="10307955"/>
            </a:xfrm>
            <a:custGeom>
              <a:avLst/>
              <a:gdLst/>
              <a:ahLst/>
              <a:cxnLst/>
              <a:rect r="r" b="b" t="t" l="l"/>
              <a:pathLst>
                <a:path h="10307955" w="9277477">
                  <a:moveTo>
                    <a:pt x="0" y="0"/>
                  </a:moveTo>
                  <a:lnTo>
                    <a:pt x="9277477" y="0"/>
                  </a:lnTo>
                  <a:lnTo>
                    <a:pt x="9277477" y="10307955"/>
                  </a:lnTo>
                  <a:lnTo>
                    <a:pt x="0" y="10307955"/>
                  </a:lnTo>
                  <a:lnTo>
                    <a:pt x="0" y="0"/>
                  </a:lnTo>
                  <a:close/>
                </a:path>
              </a:pathLst>
            </a:custGeom>
            <a:blipFill>
              <a:blip r:embed="rId2"/>
              <a:stretch>
                <a:fillRect l="0" t="-60" r="0" b="-61"/>
              </a:stretch>
            </a:blipFill>
          </p:spPr>
        </p:sp>
      </p:grpSp>
      <p:sp>
        <p:nvSpPr>
          <p:cNvPr name="TextBox 4" id="4"/>
          <p:cNvSpPr txBox="true"/>
          <p:nvPr/>
        </p:nvSpPr>
        <p:spPr>
          <a:xfrm rot="0">
            <a:off x="138236" y="-337995"/>
            <a:ext cx="15588908" cy="2183412"/>
          </a:xfrm>
          <a:prstGeom prst="rect">
            <a:avLst/>
          </a:prstGeom>
        </p:spPr>
        <p:txBody>
          <a:bodyPr anchor="t" rtlCol="false" tIns="0" lIns="0" bIns="0" rIns="0">
            <a:spAutoFit/>
          </a:bodyPr>
          <a:lstStyle/>
          <a:p>
            <a:pPr algn="l">
              <a:lnSpc>
                <a:spcPts val="3662"/>
              </a:lnSpc>
            </a:pPr>
          </a:p>
          <a:p>
            <a:pPr algn="just">
              <a:lnSpc>
                <a:spcPts val="4798"/>
              </a:lnSpc>
            </a:pPr>
            <a:r>
              <a:rPr lang="en-US" sz="1919" b="true">
                <a:solidFill>
                  <a:srgbClr val="000000"/>
                </a:solidFill>
                <a:latin typeface="Arial Bold"/>
                <a:ea typeface="Arial Bold"/>
                <a:cs typeface="Arial Bold"/>
                <a:sym typeface="Arial Bold"/>
              </a:rPr>
              <a:t>Team Name (Registered on Devfolio): CODE-RUNNERS                                     Theme: Open Innovation</a:t>
            </a:r>
          </a:p>
          <a:p>
            <a:pPr algn="just">
              <a:lnSpc>
                <a:spcPts val="4798"/>
              </a:lnSpc>
            </a:pPr>
            <a:r>
              <a:rPr lang="en-US" sz="1919" b="true">
                <a:solidFill>
                  <a:srgbClr val="000000"/>
                </a:solidFill>
                <a:latin typeface="Arial Bold"/>
                <a:ea typeface="Arial Bold"/>
                <a:cs typeface="Arial Bold"/>
                <a:sym typeface="Arial Bold"/>
              </a:rPr>
              <a:t>University/Institute name:  Sapthagiri NPS University                                          city/state: Bengaluru , Karnataka</a:t>
            </a:r>
          </a:p>
          <a:p>
            <a:pPr algn="just">
              <a:lnSpc>
                <a:spcPts val="4798"/>
              </a:lnSpc>
            </a:pPr>
            <a:r>
              <a:rPr lang="en-US" sz="1919" b="true">
                <a:solidFill>
                  <a:srgbClr val="000000"/>
                </a:solidFill>
                <a:latin typeface="Arial Bold"/>
                <a:ea typeface="Arial Bold"/>
                <a:cs typeface="Arial Bold"/>
                <a:sym typeface="Arial Bold"/>
              </a:rPr>
              <a:t>Problem Statement Title: Children Learn Health Too Late</a:t>
            </a:r>
          </a:p>
        </p:txBody>
      </p:sp>
      <p:grpSp>
        <p:nvGrpSpPr>
          <p:cNvPr name="Group 5" id="5"/>
          <p:cNvGrpSpPr/>
          <p:nvPr/>
        </p:nvGrpSpPr>
        <p:grpSpPr>
          <a:xfrm rot="0">
            <a:off x="14227197" y="0"/>
            <a:ext cx="4060803" cy="2706843"/>
            <a:chOff x="0" y="0"/>
            <a:chExt cx="5414404" cy="3609124"/>
          </a:xfrm>
        </p:grpSpPr>
        <p:sp>
          <p:nvSpPr>
            <p:cNvPr name="Freeform 6" id="6"/>
            <p:cNvSpPr/>
            <p:nvPr/>
          </p:nvSpPr>
          <p:spPr>
            <a:xfrm flipH="false" flipV="false" rot="0">
              <a:off x="0" y="0"/>
              <a:ext cx="5414391" cy="3609086"/>
            </a:xfrm>
            <a:custGeom>
              <a:avLst/>
              <a:gdLst/>
              <a:ahLst/>
              <a:cxnLst/>
              <a:rect r="r" b="b" t="t" l="l"/>
              <a:pathLst>
                <a:path h="3609086" w="5414391">
                  <a:moveTo>
                    <a:pt x="0" y="0"/>
                  </a:moveTo>
                  <a:lnTo>
                    <a:pt x="5414391" y="0"/>
                  </a:lnTo>
                  <a:lnTo>
                    <a:pt x="5414391" y="3609086"/>
                  </a:lnTo>
                  <a:lnTo>
                    <a:pt x="0" y="3609086"/>
                  </a:lnTo>
                  <a:lnTo>
                    <a:pt x="0" y="0"/>
                  </a:lnTo>
                  <a:close/>
                </a:path>
              </a:pathLst>
            </a:custGeom>
            <a:blipFill>
              <a:blip r:embed="rId3"/>
              <a:stretch>
                <a:fillRect l="0" t="-6" r="0" b="-7"/>
              </a:stretch>
            </a:blipFill>
          </p:spPr>
        </p:sp>
      </p:grpSp>
      <p:sp>
        <p:nvSpPr>
          <p:cNvPr name="Freeform 7" id="7"/>
          <p:cNvSpPr/>
          <p:nvPr/>
        </p:nvSpPr>
        <p:spPr>
          <a:xfrm flipH="false" flipV="false" rot="0">
            <a:off x="12292389" y="1718491"/>
            <a:ext cx="5312898" cy="8057923"/>
          </a:xfrm>
          <a:custGeom>
            <a:avLst/>
            <a:gdLst/>
            <a:ahLst/>
            <a:cxnLst/>
            <a:rect r="r" b="b" t="t" l="l"/>
            <a:pathLst>
              <a:path h="8057923" w="5312898">
                <a:moveTo>
                  <a:pt x="0" y="0"/>
                </a:moveTo>
                <a:lnTo>
                  <a:pt x="5312898" y="0"/>
                </a:lnTo>
                <a:lnTo>
                  <a:pt x="5312898" y="8057923"/>
                </a:lnTo>
                <a:lnTo>
                  <a:pt x="0" y="8057923"/>
                </a:lnTo>
                <a:lnTo>
                  <a:pt x="0" y="0"/>
                </a:lnTo>
                <a:close/>
              </a:path>
            </a:pathLst>
          </a:custGeom>
          <a:blipFill>
            <a:blip r:embed="rId4"/>
            <a:stretch>
              <a:fillRect l="-1111" t="0" r="0" b="0"/>
            </a:stretch>
          </a:blipFill>
        </p:spPr>
      </p:sp>
      <p:sp>
        <p:nvSpPr>
          <p:cNvPr name="TextBox 8" id="8"/>
          <p:cNvSpPr txBox="true"/>
          <p:nvPr/>
        </p:nvSpPr>
        <p:spPr>
          <a:xfrm rot="0">
            <a:off x="224078" y="4445287"/>
            <a:ext cx="8919922" cy="1255448"/>
          </a:xfrm>
          <a:prstGeom prst="rect">
            <a:avLst/>
          </a:prstGeom>
        </p:spPr>
        <p:txBody>
          <a:bodyPr anchor="t" rtlCol="false" tIns="0" lIns="0" bIns="0" rIns="0">
            <a:spAutoFit/>
          </a:bodyPr>
          <a:lstStyle/>
          <a:p>
            <a:pPr algn="l">
              <a:lnSpc>
                <a:spcPts val="3599"/>
              </a:lnSpc>
              <a:spcBef>
                <a:spcPct val="0"/>
              </a:spcBef>
            </a:pPr>
            <a:r>
              <a:rPr lang="en-US" b="true" sz="2499">
                <a:solidFill>
                  <a:srgbClr val="000000"/>
                </a:solidFill>
                <a:latin typeface="Times New Roman Bold"/>
                <a:ea typeface="Times New Roman Bold"/>
                <a:cs typeface="Times New Roman Bold"/>
                <a:sym typeface="Times New Roman Bold"/>
              </a:rPr>
              <a:t>Proposed Solution:</a:t>
            </a:r>
          </a:p>
          <a:p>
            <a:pPr algn="l">
              <a:lnSpc>
                <a:spcPts val="3599"/>
              </a:lnSpc>
              <a:spcBef>
                <a:spcPct val="0"/>
              </a:spcBef>
            </a:pPr>
          </a:p>
          <a:p>
            <a:pPr algn="l">
              <a:lnSpc>
                <a:spcPts val="2874"/>
              </a:lnSpc>
              <a:spcBef>
                <a:spcPct val="0"/>
              </a:spcBef>
            </a:pPr>
          </a:p>
        </p:txBody>
      </p:sp>
      <p:sp>
        <p:nvSpPr>
          <p:cNvPr name="TextBox 9" id="9"/>
          <p:cNvSpPr txBox="true"/>
          <p:nvPr/>
        </p:nvSpPr>
        <p:spPr>
          <a:xfrm rot="0">
            <a:off x="14914482" y="9821522"/>
            <a:ext cx="2779637" cy="320209"/>
          </a:xfrm>
          <a:prstGeom prst="rect">
            <a:avLst/>
          </a:prstGeom>
        </p:spPr>
        <p:txBody>
          <a:bodyPr anchor="t" rtlCol="false" tIns="0" lIns="0" bIns="0" rIns="0">
            <a:spAutoFit/>
          </a:bodyPr>
          <a:lstStyle/>
          <a:p>
            <a:pPr algn="ctr">
              <a:lnSpc>
                <a:spcPts val="2414"/>
              </a:lnSpc>
              <a:spcBef>
                <a:spcPct val="0"/>
              </a:spcBef>
            </a:pPr>
            <a:r>
              <a:rPr lang="en-US" b="true" sz="1676">
                <a:solidFill>
                  <a:srgbClr val="000000"/>
                </a:solidFill>
                <a:latin typeface="Times New Roman Bold"/>
                <a:ea typeface="Times New Roman Bold"/>
                <a:cs typeface="Times New Roman Bold"/>
                <a:sym typeface="Times New Roman Bold"/>
              </a:rPr>
              <a:t>*this is an image for reference </a:t>
            </a:r>
          </a:p>
        </p:txBody>
      </p:sp>
      <p:sp>
        <p:nvSpPr>
          <p:cNvPr name="TextBox 10" id="10"/>
          <p:cNvSpPr txBox="true"/>
          <p:nvPr/>
        </p:nvSpPr>
        <p:spPr>
          <a:xfrm rot="0">
            <a:off x="138236" y="2303287"/>
            <a:ext cx="2612529" cy="438150"/>
          </a:xfrm>
          <a:prstGeom prst="rect">
            <a:avLst/>
          </a:prstGeom>
        </p:spPr>
        <p:txBody>
          <a:bodyPr anchor="t" rtlCol="false" tIns="0" lIns="0" bIns="0" rIns="0">
            <a:spAutoFit/>
          </a:bodyPr>
          <a:lstStyle/>
          <a:p>
            <a:pPr algn="ctr">
              <a:lnSpc>
                <a:spcPts val="3599"/>
              </a:lnSpc>
              <a:spcBef>
                <a:spcPct val="0"/>
              </a:spcBef>
            </a:pPr>
            <a:r>
              <a:rPr lang="en-US" b="true" sz="2499">
                <a:solidFill>
                  <a:srgbClr val="000000"/>
                </a:solidFill>
                <a:latin typeface="Times New Roman Bold"/>
                <a:ea typeface="Times New Roman Bold"/>
                <a:cs typeface="Times New Roman Bold"/>
                <a:sym typeface="Times New Roman Bold"/>
              </a:rPr>
              <a:t>Problem Statement</a:t>
            </a:r>
          </a:p>
        </p:txBody>
      </p:sp>
      <p:sp>
        <p:nvSpPr>
          <p:cNvPr name="TextBox 11" id="11"/>
          <p:cNvSpPr txBox="true"/>
          <p:nvPr/>
        </p:nvSpPr>
        <p:spPr>
          <a:xfrm rot="0">
            <a:off x="138236" y="2876129"/>
            <a:ext cx="10752041" cy="1443990"/>
          </a:xfrm>
          <a:prstGeom prst="rect">
            <a:avLst/>
          </a:prstGeom>
        </p:spPr>
        <p:txBody>
          <a:bodyPr anchor="t" rtlCol="false" tIns="0" lIns="0" bIns="0" rIns="0">
            <a:spAutoFit/>
          </a:bodyPr>
          <a:lstStyle/>
          <a:p>
            <a:pPr algn="l">
              <a:lnSpc>
                <a:spcPts val="2880"/>
              </a:lnSpc>
              <a:spcBef>
                <a:spcPct val="0"/>
              </a:spcBef>
            </a:pPr>
            <a:r>
              <a:rPr lang="en-US" sz="2000" u="sng">
                <a:solidFill>
                  <a:srgbClr val="000000"/>
                </a:solidFill>
                <a:latin typeface="Times New Roman"/>
                <a:ea typeface="Times New Roman"/>
                <a:cs typeface="Times New Roman"/>
                <a:sym typeface="Times New Roman"/>
              </a:rPr>
              <a:t>Children Learn Health Too Late</a:t>
            </a:r>
          </a:p>
          <a:p>
            <a:pPr algn="l">
              <a:lnSpc>
                <a:spcPts val="2880"/>
              </a:lnSpc>
              <a:spcBef>
                <a:spcPct val="0"/>
              </a:spcBef>
            </a:pPr>
            <a:r>
              <a:rPr lang="en-US" sz="2000">
                <a:solidFill>
                  <a:srgbClr val="000000"/>
                </a:solidFill>
                <a:latin typeface="Times New Roman"/>
                <a:ea typeface="Times New Roman"/>
                <a:cs typeface="Times New Roman"/>
                <a:sym typeface="Times New Roman"/>
              </a:rPr>
              <a:t>Children aged 4–15 often develop unhealthy eating and hygiene habits because health education is either boring, generic, or aimed at adults. Existing solutions focus on providing information rather than helping children build lifelong healthy habits through engagement.</a:t>
            </a:r>
          </a:p>
        </p:txBody>
      </p:sp>
      <p:sp>
        <p:nvSpPr>
          <p:cNvPr name="TextBox 12" id="12"/>
          <p:cNvSpPr txBox="true"/>
          <p:nvPr/>
        </p:nvSpPr>
        <p:spPr>
          <a:xfrm rot="0">
            <a:off x="224078" y="4897717"/>
            <a:ext cx="10666200" cy="3253740"/>
          </a:xfrm>
          <a:prstGeom prst="rect">
            <a:avLst/>
          </a:prstGeom>
        </p:spPr>
        <p:txBody>
          <a:bodyPr anchor="t" rtlCol="false" tIns="0" lIns="0" bIns="0" rIns="0">
            <a:spAutoFit/>
          </a:bodyPr>
          <a:lstStyle/>
          <a:p>
            <a:pPr algn="l">
              <a:lnSpc>
                <a:spcPts val="2880"/>
              </a:lnSpc>
              <a:spcBef>
                <a:spcPct val="0"/>
              </a:spcBef>
            </a:pPr>
            <a:r>
              <a:rPr lang="en-US" sz="2000">
                <a:solidFill>
                  <a:srgbClr val="000000"/>
                </a:solidFill>
                <a:latin typeface="Times New Roman"/>
                <a:ea typeface="Times New Roman"/>
                <a:cs typeface="Times New Roman"/>
                <a:sym typeface="Times New Roman"/>
              </a:rPr>
              <a:t>BuddyBloom is an AI-powered gamified learning platform where children improve their health by completing real world challenges.</a:t>
            </a:r>
          </a:p>
          <a:p>
            <a:pPr algn="l">
              <a:lnSpc>
                <a:spcPts val="2880"/>
              </a:lnSpc>
              <a:spcBef>
                <a:spcPct val="0"/>
              </a:spcBef>
            </a:pPr>
            <a:r>
              <a:rPr lang="en-US" sz="2000">
                <a:solidFill>
                  <a:srgbClr val="000000"/>
                </a:solidFill>
                <a:latin typeface="Times New Roman"/>
                <a:ea typeface="Times New Roman"/>
                <a:cs typeface="Times New Roman"/>
                <a:sym typeface="Times New Roman"/>
              </a:rPr>
              <a:t>Children receive:</a:t>
            </a:r>
          </a:p>
          <a:p>
            <a:pPr algn="l">
              <a:lnSpc>
                <a:spcPts val="2880"/>
              </a:lnSpc>
              <a:spcBef>
                <a:spcPct val="0"/>
              </a:spcBef>
            </a:pPr>
            <a:r>
              <a:rPr lang="en-US" sz="2000">
                <a:solidFill>
                  <a:srgbClr val="000000"/>
                </a:solidFill>
                <a:latin typeface="Times New Roman"/>
                <a:ea typeface="Times New Roman"/>
                <a:cs typeface="Times New Roman"/>
                <a:sym typeface="Times New Roman"/>
              </a:rPr>
              <a:t>🥗 Daily health missions</a:t>
            </a:r>
          </a:p>
          <a:p>
            <a:pPr algn="l">
              <a:lnSpc>
                <a:spcPts val="2880"/>
              </a:lnSpc>
              <a:spcBef>
                <a:spcPct val="0"/>
              </a:spcBef>
            </a:pPr>
            <a:r>
              <a:rPr lang="en-US" sz="2000">
                <a:solidFill>
                  <a:srgbClr val="000000"/>
                </a:solidFill>
                <a:latin typeface="Times New Roman"/>
                <a:ea typeface="Times New Roman"/>
                <a:cs typeface="Times New Roman"/>
                <a:sym typeface="Times New Roman"/>
              </a:rPr>
              <a:t>📷 AI for knowing about thier meal</a:t>
            </a:r>
          </a:p>
          <a:p>
            <a:pPr algn="l">
              <a:lnSpc>
                <a:spcPts val="2880"/>
              </a:lnSpc>
              <a:spcBef>
                <a:spcPct val="0"/>
              </a:spcBef>
            </a:pPr>
            <a:r>
              <a:rPr lang="en-US" sz="2000">
                <a:solidFill>
                  <a:srgbClr val="000000"/>
                </a:solidFill>
                <a:latin typeface="Times New Roman"/>
                <a:ea typeface="Times New Roman"/>
                <a:cs typeface="Times New Roman"/>
                <a:sym typeface="Times New Roman"/>
              </a:rPr>
              <a:t>🎮 Interactive games teaching nutrition &amp; hygiene</a:t>
            </a:r>
          </a:p>
          <a:p>
            <a:pPr algn="l">
              <a:lnSpc>
                <a:spcPts val="2880"/>
              </a:lnSpc>
              <a:spcBef>
                <a:spcPct val="0"/>
              </a:spcBef>
            </a:pPr>
            <a:r>
              <a:rPr lang="en-US" sz="2000">
                <a:solidFill>
                  <a:srgbClr val="000000"/>
                </a:solidFill>
                <a:latin typeface="Times New Roman"/>
                <a:ea typeface="Times New Roman"/>
                <a:cs typeface="Times New Roman"/>
                <a:sym typeface="Times New Roman"/>
              </a:rPr>
              <a:t>🦷 Habit-building challenges (brushing, hydration, exercise, sleep)</a:t>
            </a:r>
          </a:p>
          <a:p>
            <a:pPr algn="l">
              <a:lnSpc>
                <a:spcPts val="2880"/>
              </a:lnSpc>
              <a:spcBef>
                <a:spcPct val="0"/>
              </a:spcBef>
            </a:pPr>
            <a:r>
              <a:rPr lang="en-US" sz="2000">
                <a:solidFill>
                  <a:srgbClr val="000000"/>
                </a:solidFill>
                <a:latin typeface="Times New Roman"/>
                <a:ea typeface="Times New Roman"/>
                <a:cs typeface="Times New Roman"/>
                <a:sym typeface="Times New Roman"/>
              </a:rPr>
              <a:t>🐣 A virtual Health Buddy that grows healthier as the child develops good habits</a:t>
            </a:r>
          </a:p>
          <a:p>
            <a:pPr algn="l">
              <a:lnSpc>
                <a:spcPts val="2880"/>
              </a:lnSpc>
              <a:spcBef>
                <a:spcPct val="0"/>
              </a:spcBef>
            </a:pPr>
            <a:r>
              <a:rPr lang="en-US" sz="2000">
                <a:solidFill>
                  <a:srgbClr val="000000"/>
                </a:solidFill>
                <a:latin typeface="Times New Roman"/>
                <a:ea typeface="Times New Roman"/>
                <a:cs typeface="Times New Roman"/>
                <a:sym typeface="Times New Roman"/>
              </a:rPr>
              <a:t>Instead of simply teaching health, BuddyBloom transforms healthy living into an exciting adventure.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57600" y="15716"/>
            <a:ext cx="10972800" cy="1140238"/>
          </a:xfrm>
          <a:prstGeom prst="rect">
            <a:avLst/>
          </a:prstGeom>
        </p:spPr>
        <p:txBody>
          <a:bodyPr anchor="t" rtlCol="false" tIns="0" lIns="0" bIns="0" rIns="0">
            <a:spAutoFit/>
          </a:bodyPr>
          <a:lstStyle/>
          <a:p>
            <a:pPr algn="ctr">
              <a:lnSpc>
                <a:spcPts val="7775"/>
              </a:lnSpc>
            </a:pPr>
            <a:r>
              <a:rPr lang="en-US" sz="5400" b="true">
                <a:solidFill>
                  <a:srgbClr val="000000"/>
                </a:solidFill>
                <a:latin typeface="Times New Roman Bold"/>
                <a:ea typeface="Times New Roman Bold"/>
                <a:cs typeface="Times New Roman Bold"/>
                <a:sym typeface="Times New Roman Bold"/>
              </a:rPr>
              <a:t>TECHNICAL APPROACH</a:t>
            </a:r>
          </a:p>
        </p:txBody>
      </p:sp>
      <p:sp>
        <p:nvSpPr>
          <p:cNvPr name="TextBox 3" id="3"/>
          <p:cNvSpPr txBox="true"/>
          <p:nvPr/>
        </p:nvSpPr>
        <p:spPr>
          <a:xfrm rot="0">
            <a:off x="13198316" y="9523505"/>
            <a:ext cx="4083120" cy="367503"/>
          </a:xfrm>
          <a:prstGeom prst="rect">
            <a:avLst/>
          </a:prstGeom>
        </p:spPr>
        <p:txBody>
          <a:bodyPr anchor="t" rtlCol="false" tIns="0" lIns="0" bIns="0" rIns="0">
            <a:spAutoFit/>
          </a:bodyPr>
          <a:lstStyle/>
          <a:p>
            <a:pPr algn="r">
              <a:lnSpc>
                <a:spcPts val="2592"/>
              </a:lnSpc>
            </a:pPr>
            <a:r>
              <a:rPr lang="en-US" sz="1800" b="true">
                <a:solidFill>
                  <a:srgbClr val="FFFFFF"/>
                </a:solidFill>
                <a:latin typeface="Arial Nova Bold"/>
                <a:ea typeface="Arial Nova Bold"/>
                <a:cs typeface="Arial Nova Bold"/>
                <a:sym typeface="Arial Nova Bold"/>
              </a:rPr>
              <a:t>3</a:t>
            </a:r>
          </a:p>
        </p:txBody>
      </p:sp>
      <p:grpSp>
        <p:nvGrpSpPr>
          <p:cNvPr name="Group 4" id="4"/>
          <p:cNvGrpSpPr/>
          <p:nvPr/>
        </p:nvGrpSpPr>
        <p:grpSpPr>
          <a:xfrm rot="0">
            <a:off x="299876" y="194043"/>
            <a:ext cx="1878120" cy="1211037"/>
            <a:chOff x="0" y="0"/>
            <a:chExt cx="2504161" cy="1614716"/>
          </a:xfrm>
        </p:grpSpPr>
        <p:sp>
          <p:nvSpPr>
            <p:cNvPr name="Freeform 5" id="5" descr="Your startup LOGO"/>
            <p:cNvSpPr/>
            <p:nvPr/>
          </p:nvSpPr>
          <p:spPr>
            <a:xfrm flipH="false" flipV="false" rot="0">
              <a:off x="0" y="0"/>
              <a:ext cx="2504186" cy="1614678"/>
            </a:xfrm>
            <a:custGeom>
              <a:avLst/>
              <a:gdLst/>
              <a:ahLst/>
              <a:cxnLst/>
              <a:rect r="r" b="b" t="t" l="l"/>
              <a:pathLst>
                <a:path h="1614678" w="2504186">
                  <a:moveTo>
                    <a:pt x="0" y="807339"/>
                  </a:moveTo>
                  <a:cubicBezTo>
                    <a:pt x="0" y="361442"/>
                    <a:pt x="560578" y="0"/>
                    <a:pt x="1252093" y="0"/>
                  </a:cubicBezTo>
                  <a:cubicBezTo>
                    <a:pt x="1943608" y="0"/>
                    <a:pt x="2504186" y="361442"/>
                    <a:pt x="2504186" y="807339"/>
                  </a:cubicBezTo>
                  <a:cubicBezTo>
                    <a:pt x="2504186" y="1253236"/>
                    <a:pt x="1943608" y="1614678"/>
                    <a:pt x="1252093" y="1614678"/>
                  </a:cubicBezTo>
                  <a:cubicBezTo>
                    <a:pt x="560578" y="1614678"/>
                    <a:pt x="0" y="1253236"/>
                    <a:pt x="0" y="807339"/>
                  </a:cubicBezTo>
                  <a:close/>
                </a:path>
              </a:pathLst>
            </a:custGeom>
            <a:solidFill>
              <a:srgbClr val="FFFFFF"/>
            </a:solidFill>
          </p:spPr>
        </p:sp>
      </p:grpSp>
      <p:sp>
        <p:nvSpPr>
          <p:cNvPr name="Freeform 6" id="6" descr="Your startup LOGO"/>
          <p:cNvSpPr/>
          <p:nvPr/>
        </p:nvSpPr>
        <p:spPr>
          <a:xfrm flipH="false" flipV="false" rot="0">
            <a:off x="281159" y="174965"/>
            <a:ext cx="1915916" cy="1249204"/>
          </a:xfrm>
          <a:custGeom>
            <a:avLst/>
            <a:gdLst/>
            <a:ahLst/>
            <a:cxnLst/>
            <a:rect r="r" b="b" t="t" l="l"/>
            <a:pathLst>
              <a:path h="1249204" w="1915916">
                <a:moveTo>
                  <a:pt x="0" y="0"/>
                </a:moveTo>
                <a:lnTo>
                  <a:pt x="1915916" y="0"/>
                </a:lnTo>
                <a:lnTo>
                  <a:pt x="1915916" y="1249203"/>
                </a:lnTo>
                <a:lnTo>
                  <a:pt x="0" y="12492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9531363"/>
            <a:ext cx="18288000" cy="755637"/>
            <a:chOff x="0" y="0"/>
            <a:chExt cx="24384000" cy="1007516"/>
          </a:xfrm>
        </p:grpSpPr>
        <p:sp>
          <p:nvSpPr>
            <p:cNvPr name="Freeform 8" id="8"/>
            <p:cNvSpPr/>
            <p:nvPr/>
          </p:nvSpPr>
          <p:spPr>
            <a:xfrm flipH="false" flipV="false" rot="0">
              <a:off x="0" y="0"/>
              <a:ext cx="24384000" cy="1007491"/>
            </a:xfrm>
            <a:custGeom>
              <a:avLst/>
              <a:gdLst/>
              <a:ahLst/>
              <a:cxnLst/>
              <a:rect r="r" b="b" t="t" l="l"/>
              <a:pathLst>
                <a:path h="1007491" w="24384000">
                  <a:moveTo>
                    <a:pt x="0" y="0"/>
                  </a:moveTo>
                  <a:lnTo>
                    <a:pt x="24384000" y="0"/>
                  </a:lnTo>
                  <a:lnTo>
                    <a:pt x="24384000" y="1007491"/>
                  </a:lnTo>
                  <a:lnTo>
                    <a:pt x="0" y="1007491"/>
                  </a:lnTo>
                  <a:lnTo>
                    <a:pt x="0" y="0"/>
                  </a:lnTo>
                  <a:close/>
                </a:path>
              </a:pathLst>
            </a:custGeom>
            <a:solidFill>
              <a:srgbClr val="14B798"/>
            </a:solidFill>
          </p:spPr>
        </p:sp>
      </p:grpSp>
      <p:grpSp>
        <p:nvGrpSpPr>
          <p:cNvPr name="Group 9" id="9"/>
          <p:cNvGrpSpPr/>
          <p:nvPr/>
        </p:nvGrpSpPr>
        <p:grpSpPr>
          <a:xfrm rot="0">
            <a:off x="14227197" y="0"/>
            <a:ext cx="4060803" cy="2706843"/>
            <a:chOff x="0" y="0"/>
            <a:chExt cx="5414404" cy="3609124"/>
          </a:xfrm>
        </p:grpSpPr>
        <p:sp>
          <p:nvSpPr>
            <p:cNvPr name="Freeform 10" id="10"/>
            <p:cNvSpPr/>
            <p:nvPr/>
          </p:nvSpPr>
          <p:spPr>
            <a:xfrm flipH="false" flipV="false" rot="0">
              <a:off x="0" y="0"/>
              <a:ext cx="5414391" cy="3609086"/>
            </a:xfrm>
            <a:custGeom>
              <a:avLst/>
              <a:gdLst/>
              <a:ahLst/>
              <a:cxnLst/>
              <a:rect r="r" b="b" t="t" l="l"/>
              <a:pathLst>
                <a:path h="3609086" w="5414391">
                  <a:moveTo>
                    <a:pt x="0" y="0"/>
                  </a:moveTo>
                  <a:lnTo>
                    <a:pt x="5414391" y="0"/>
                  </a:lnTo>
                  <a:lnTo>
                    <a:pt x="5414391" y="3609086"/>
                  </a:lnTo>
                  <a:lnTo>
                    <a:pt x="0" y="3609086"/>
                  </a:lnTo>
                  <a:lnTo>
                    <a:pt x="0" y="0"/>
                  </a:lnTo>
                  <a:close/>
                </a:path>
              </a:pathLst>
            </a:custGeom>
            <a:blipFill>
              <a:blip r:embed="rId4"/>
              <a:stretch>
                <a:fillRect l="0" t="-6" r="0" b="-7"/>
              </a:stretch>
            </a:blipFill>
          </p:spPr>
        </p:sp>
      </p:grpSp>
      <p:sp>
        <p:nvSpPr>
          <p:cNvPr name="Freeform 11" id="11"/>
          <p:cNvSpPr/>
          <p:nvPr/>
        </p:nvSpPr>
        <p:spPr>
          <a:xfrm flipH="false" flipV="false" rot="0">
            <a:off x="13252" y="1739974"/>
            <a:ext cx="14213945" cy="7000214"/>
          </a:xfrm>
          <a:custGeom>
            <a:avLst/>
            <a:gdLst/>
            <a:ahLst/>
            <a:cxnLst/>
            <a:rect r="r" b="b" t="t" l="l"/>
            <a:pathLst>
              <a:path h="7000214" w="14213945">
                <a:moveTo>
                  <a:pt x="0" y="0"/>
                </a:moveTo>
                <a:lnTo>
                  <a:pt x="14213945" y="0"/>
                </a:lnTo>
                <a:lnTo>
                  <a:pt x="14213945" y="7000214"/>
                </a:lnTo>
                <a:lnTo>
                  <a:pt x="0" y="7000214"/>
                </a:lnTo>
                <a:lnTo>
                  <a:pt x="0" y="0"/>
                </a:lnTo>
                <a:close/>
              </a:path>
            </a:pathLst>
          </a:custGeom>
          <a:blipFill>
            <a:blip r:embed="rId5"/>
            <a:stretch>
              <a:fillRect l="0" t="0" r="0" b="-35366"/>
            </a:stretch>
          </a:blipFill>
        </p:spPr>
      </p:sp>
      <p:sp>
        <p:nvSpPr>
          <p:cNvPr name="TextBox 12" id="12"/>
          <p:cNvSpPr txBox="true"/>
          <p:nvPr/>
        </p:nvSpPr>
        <p:spPr>
          <a:xfrm rot="0">
            <a:off x="7063559" y="9621784"/>
            <a:ext cx="4623121" cy="367503"/>
          </a:xfrm>
          <a:prstGeom prst="rect">
            <a:avLst/>
          </a:prstGeom>
        </p:spPr>
        <p:txBody>
          <a:bodyPr anchor="t" rtlCol="false" tIns="0" lIns="0" bIns="0" rIns="0">
            <a:spAutoFit/>
          </a:bodyPr>
          <a:lstStyle/>
          <a:p>
            <a:pPr algn="ctr">
              <a:lnSpc>
                <a:spcPts val="2592"/>
              </a:lnSpc>
            </a:pPr>
            <a:r>
              <a:rPr lang="en-US" sz="1800">
                <a:solidFill>
                  <a:srgbClr val="FFFFFF"/>
                </a:solidFill>
                <a:latin typeface="Arial Nova"/>
                <a:ea typeface="Arial Nova"/>
                <a:cs typeface="Arial Nova"/>
                <a:sym typeface="Arial Nova"/>
              </a:rPr>
              <a:t>@DevHack Idea submission- Template</a:t>
            </a:r>
          </a:p>
        </p:txBody>
      </p:sp>
      <p:sp>
        <p:nvSpPr>
          <p:cNvPr name="TextBox 13" id="13"/>
          <p:cNvSpPr txBox="true"/>
          <p:nvPr/>
        </p:nvSpPr>
        <p:spPr>
          <a:xfrm rot="0">
            <a:off x="14227197" y="3241114"/>
            <a:ext cx="3860920" cy="5341474"/>
          </a:xfrm>
          <a:prstGeom prst="rect">
            <a:avLst/>
          </a:prstGeom>
        </p:spPr>
        <p:txBody>
          <a:bodyPr anchor="t" rtlCol="false" tIns="0" lIns="0" bIns="0" rIns="0">
            <a:spAutoFit/>
          </a:bodyPr>
          <a:lstStyle/>
          <a:p>
            <a:pPr algn="l" marL="635224" indent="-317612" lvl="1">
              <a:lnSpc>
                <a:spcPts val="4236"/>
              </a:lnSpc>
              <a:buFont typeface="Arial"/>
              <a:buChar char="•"/>
            </a:pPr>
            <a:r>
              <a:rPr lang="en-US" sz="2942">
                <a:solidFill>
                  <a:srgbClr val="000000"/>
                </a:solidFill>
                <a:latin typeface="Times New Roman"/>
                <a:ea typeface="Times New Roman"/>
                <a:cs typeface="Times New Roman"/>
                <a:sym typeface="Times New Roman"/>
              </a:rPr>
              <a:t>Fast</a:t>
            </a:r>
          </a:p>
          <a:p>
            <a:pPr algn="l">
              <a:lnSpc>
                <a:spcPts val="4236"/>
              </a:lnSpc>
            </a:pPr>
            <a:r>
              <a:rPr lang="en-US" sz="2942">
                <a:solidFill>
                  <a:srgbClr val="000000"/>
                </a:solidFill>
                <a:latin typeface="Times New Roman"/>
                <a:ea typeface="Times New Roman"/>
                <a:cs typeface="Times New Roman"/>
                <a:sym typeface="Times New Roman"/>
              </a:rPr>
              <a:t>     ⚡ Easy Hosting</a:t>
            </a:r>
          </a:p>
          <a:p>
            <a:pPr algn="l" marL="635224" indent="-317612" lvl="1">
              <a:lnSpc>
                <a:spcPts val="4236"/>
              </a:lnSpc>
              <a:buFont typeface="Arial"/>
              <a:buChar char="•"/>
            </a:pPr>
            <a:r>
              <a:rPr lang="en-US" sz="2942">
                <a:solidFill>
                  <a:srgbClr val="000000"/>
                </a:solidFill>
                <a:latin typeface="Times New Roman"/>
                <a:ea typeface="Times New Roman"/>
                <a:cs typeface="Times New Roman"/>
                <a:sym typeface="Times New Roman"/>
              </a:rPr>
              <a:t>Smart</a:t>
            </a:r>
          </a:p>
          <a:p>
            <a:pPr algn="l">
              <a:lnSpc>
                <a:spcPts val="4236"/>
              </a:lnSpc>
            </a:pPr>
            <a:r>
              <a:rPr lang="en-US" sz="2942">
                <a:solidFill>
                  <a:srgbClr val="000000"/>
                </a:solidFill>
                <a:latin typeface="Times New Roman"/>
                <a:ea typeface="Times New Roman"/>
                <a:cs typeface="Times New Roman"/>
                <a:sym typeface="Times New Roman"/>
              </a:rPr>
              <a:t>      🤖 Gemini Vision</a:t>
            </a:r>
          </a:p>
          <a:p>
            <a:pPr algn="l" marL="635224" indent="-317612" lvl="1">
              <a:lnSpc>
                <a:spcPts val="4236"/>
              </a:lnSpc>
              <a:buFont typeface="Arial"/>
              <a:buChar char="•"/>
            </a:pPr>
            <a:r>
              <a:rPr lang="en-US" sz="2942">
                <a:solidFill>
                  <a:srgbClr val="000000"/>
                </a:solidFill>
                <a:latin typeface="Times New Roman"/>
                <a:ea typeface="Times New Roman"/>
                <a:cs typeface="Times New Roman"/>
                <a:sym typeface="Times New Roman"/>
              </a:rPr>
              <a:t>Secure</a:t>
            </a:r>
          </a:p>
          <a:p>
            <a:pPr algn="l">
              <a:lnSpc>
                <a:spcPts val="4236"/>
              </a:lnSpc>
            </a:pPr>
            <a:r>
              <a:rPr lang="en-US" sz="2942">
                <a:solidFill>
                  <a:srgbClr val="000000"/>
                </a:solidFill>
                <a:latin typeface="Times New Roman"/>
                <a:ea typeface="Times New Roman"/>
                <a:cs typeface="Times New Roman"/>
                <a:sym typeface="Times New Roman"/>
              </a:rPr>
              <a:t>      🔒 Firebase</a:t>
            </a:r>
          </a:p>
          <a:p>
            <a:pPr algn="l" marL="635224" indent="-317612" lvl="1">
              <a:lnSpc>
                <a:spcPts val="4236"/>
              </a:lnSpc>
              <a:buFont typeface="Arial"/>
              <a:buChar char="•"/>
            </a:pPr>
            <a:r>
              <a:rPr lang="en-US" sz="2942">
                <a:solidFill>
                  <a:srgbClr val="000000"/>
                </a:solidFill>
                <a:latin typeface="Times New Roman"/>
                <a:ea typeface="Times New Roman"/>
                <a:cs typeface="Times New Roman"/>
                <a:sym typeface="Times New Roman"/>
              </a:rPr>
              <a:t>Interactive</a:t>
            </a:r>
          </a:p>
          <a:p>
            <a:pPr algn="l">
              <a:lnSpc>
                <a:spcPts val="4236"/>
              </a:lnSpc>
            </a:pPr>
            <a:r>
              <a:rPr lang="en-US" sz="2942">
                <a:solidFill>
                  <a:srgbClr val="000000"/>
                </a:solidFill>
                <a:latin typeface="Times New Roman"/>
                <a:ea typeface="Times New Roman"/>
                <a:cs typeface="Times New Roman"/>
                <a:sym typeface="Times New Roman"/>
              </a:rPr>
              <a:t>        🎮 React</a:t>
            </a:r>
          </a:p>
          <a:p>
            <a:pPr algn="l" marL="635224" indent="-317612" lvl="1">
              <a:lnSpc>
                <a:spcPts val="4236"/>
              </a:lnSpc>
              <a:buFont typeface="Arial"/>
              <a:buChar char="•"/>
            </a:pPr>
            <a:r>
              <a:rPr lang="en-US" sz="2942">
                <a:solidFill>
                  <a:srgbClr val="000000"/>
                </a:solidFill>
                <a:latin typeface="Times New Roman"/>
                <a:ea typeface="Times New Roman"/>
                <a:cs typeface="Times New Roman"/>
                <a:sym typeface="Times New Roman"/>
              </a:rPr>
              <a:t>Looks modern.</a:t>
            </a:r>
          </a:p>
          <a:p>
            <a:pPr algn="l">
              <a:lnSpc>
                <a:spcPts val="4236"/>
              </a:lnSpc>
            </a:pPr>
            <a:r>
              <a:rPr lang="en-US" sz="2942">
                <a:solidFill>
                  <a:srgbClr val="000000"/>
                </a:solidFill>
                <a:latin typeface="Times New Roman"/>
                <a:ea typeface="Times New Roman"/>
                <a:cs typeface="Times New Roman"/>
                <a:sym typeface="Times New Roman"/>
              </a:rPr>
              <a:t>         Children will love it</a:t>
            </a:r>
          </a:p>
        </p:txBody>
      </p:sp>
      <p:sp>
        <p:nvSpPr>
          <p:cNvPr name="TextBox 14" id="14"/>
          <p:cNvSpPr txBox="true"/>
          <p:nvPr/>
        </p:nvSpPr>
        <p:spPr>
          <a:xfrm rot="0">
            <a:off x="318947" y="606433"/>
            <a:ext cx="1840341" cy="329118"/>
          </a:xfrm>
          <a:prstGeom prst="rect">
            <a:avLst/>
          </a:prstGeom>
        </p:spPr>
        <p:txBody>
          <a:bodyPr anchor="t" rtlCol="false" tIns="0" lIns="0" bIns="0" rIns="0">
            <a:spAutoFit/>
          </a:bodyPr>
          <a:lstStyle/>
          <a:p>
            <a:pPr algn="ctr">
              <a:lnSpc>
                <a:spcPts val="2590"/>
              </a:lnSpc>
              <a:spcBef>
                <a:spcPct val="0"/>
              </a:spcBef>
            </a:pPr>
            <a:r>
              <a:rPr lang="en-US" b="true" sz="1798">
                <a:solidFill>
                  <a:srgbClr val="000000"/>
                </a:solidFill>
                <a:latin typeface="Times New Roman Bold"/>
                <a:ea typeface="Times New Roman Bold"/>
                <a:cs typeface="Times New Roman Bold"/>
                <a:sym typeface="Times New Roman Bold"/>
              </a:rPr>
              <a:t>CODE-RUNNERS</a:t>
            </a:r>
          </a:p>
        </p:txBody>
      </p:sp>
      <p:sp>
        <p:nvSpPr>
          <p:cNvPr name="TextBox 15" id="15"/>
          <p:cNvSpPr txBox="true"/>
          <p:nvPr/>
        </p:nvSpPr>
        <p:spPr>
          <a:xfrm rot="0">
            <a:off x="14529380" y="2621118"/>
            <a:ext cx="1827157" cy="471207"/>
          </a:xfrm>
          <a:prstGeom prst="rect">
            <a:avLst/>
          </a:prstGeom>
        </p:spPr>
        <p:txBody>
          <a:bodyPr anchor="t" rtlCol="false" tIns="0" lIns="0" bIns="0" rIns="0">
            <a:spAutoFit/>
          </a:bodyPr>
          <a:lstStyle/>
          <a:p>
            <a:pPr algn="ctr">
              <a:lnSpc>
                <a:spcPts val="3711"/>
              </a:lnSpc>
              <a:spcBef>
                <a:spcPct val="0"/>
              </a:spcBef>
            </a:pPr>
            <a:r>
              <a:rPr lang="en-US" b="true" sz="2577">
                <a:solidFill>
                  <a:srgbClr val="000000"/>
                </a:solidFill>
                <a:latin typeface="Times New Roman Bold"/>
                <a:ea typeface="Times New Roman Bold"/>
                <a:cs typeface="Times New Roman Bold"/>
                <a:sym typeface="Times New Roman Bold"/>
              </a:rPr>
              <a:t>WHY THIS?</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09957" y="103203"/>
            <a:ext cx="12717361" cy="1140238"/>
          </a:xfrm>
          <a:prstGeom prst="rect">
            <a:avLst/>
          </a:prstGeom>
        </p:spPr>
        <p:txBody>
          <a:bodyPr anchor="t" rtlCol="false" tIns="0" lIns="0" bIns="0" rIns="0">
            <a:spAutoFit/>
          </a:bodyPr>
          <a:lstStyle/>
          <a:p>
            <a:pPr algn="ctr">
              <a:lnSpc>
                <a:spcPts val="7775"/>
              </a:lnSpc>
            </a:pPr>
            <a:r>
              <a:rPr lang="en-US" sz="5400" b="true">
                <a:solidFill>
                  <a:srgbClr val="000000"/>
                </a:solidFill>
                <a:latin typeface="Times New Roman Bold"/>
                <a:ea typeface="Times New Roman Bold"/>
                <a:cs typeface="Times New Roman Bold"/>
                <a:sym typeface="Times New Roman Bold"/>
              </a:rPr>
              <a:t>FEASIBILITY AND IMPACT</a:t>
            </a:r>
          </a:p>
        </p:txBody>
      </p:sp>
      <p:sp>
        <p:nvSpPr>
          <p:cNvPr name="TextBox 3" id="3"/>
          <p:cNvSpPr txBox="true"/>
          <p:nvPr/>
        </p:nvSpPr>
        <p:spPr>
          <a:xfrm rot="0">
            <a:off x="13198316" y="9523505"/>
            <a:ext cx="4083120" cy="367503"/>
          </a:xfrm>
          <a:prstGeom prst="rect">
            <a:avLst/>
          </a:prstGeom>
        </p:spPr>
        <p:txBody>
          <a:bodyPr anchor="t" rtlCol="false" tIns="0" lIns="0" bIns="0" rIns="0">
            <a:spAutoFit/>
          </a:bodyPr>
          <a:lstStyle/>
          <a:p>
            <a:pPr algn="r">
              <a:lnSpc>
                <a:spcPts val="2592"/>
              </a:lnSpc>
            </a:pPr>
            <a:r>
              <a:rPr lang="en-US" sz="1800" b="true">
                <a:solidFill>
                  <a:srgbClr val="FFFFFF"/>
                </a:solidFill>
                <a:latin typeface="Arial Nova Bold"/>
                <a:ea typeface="Arial Nova Bold"/>
                <a:cs typeface="Arial Nova Bold"/>
                <a:sym typeface="Arial Nova Bold"/>
              </a:rPr>
              <a:t>4</a:t>
            </a:r>
          </a:p>
        </p:txBody>
      </p:sp>
      <p:grpSp>
        <p:nvGrpSpPr>
          <p:cNvPr name="Group 4" id="4"/>
          <p:cNvGrpSpPr/>
          <p:nvPr/>
        </p:nvGrpSpPr>
        <p:grpSpPr>
          <a:xfrm rot="0">
            <a:off x="450361" y="281521"/>
            <a:ext cx="1878482" cy="1210685"/>
            <a:chOff x="0" y="0"/>
            <a:chExt cx="2504643" cy="1614246"/>
          </a:xfrm>
        </p:grpSpPr>
        <p:sp>
          <p:nvSpPr>
            <p:cNvPr name="Freeform 5" id="5" descr="Your startup LOGO"/>
            <p:cNvSpPr/>
            <p:nvPr/>
          </p:nvSpPr>
          <p:spPr>
            <a:xfrm flipH="false" flipV="false" rot="0">
              <a:off x="0" y="0"/>
              <a:ext cx="2504694" cy="1614170"/>
            </a:xfrm>
            <a:custGeom>
              <a:avLst/>
              <a:gdLst/>
              <a:ahLst/>
              <a:cxnLst/>
              <a:rect r="r" b="b" t="t" l="l"/>
              <a:pathLst>
                <a:path h="1614170" w="2504694">
                  <a:moveTo>
                    <a:pt x="0" y="807085"/>
                  </a:moveTo>
                  <a:cubicBezTo>
                    <a:pt x="0" y="361315"/>
                    <a:pt x="560705" y="0"/>
                    <a:pt x="1252347" y="0"/>
                  </a:cubicBezTo>
                  <a:cubicBezTo>
                    <a:pt x="1943989" y="0"/>
                    <a:pt x="2504694" y="361315"/>
                    <a:pt x="2504694" y="807085"/>
                  </a:cubicBezTo>
                  <a:cubicBezTo>
                    <a:pt x="2504694" y="1252855"/>
                    <a:pt x="1943989" y="1614170"/>
                    <a:pt x="1252347" y="1614170"/>
                  </a:cubicBezTo>
                  <a:cubicBezTo>
                    <a:pt x="560705" y="1614170"/>
                    <a:pt x="0" y="1252855"/>
                    <a:pt x="0" y="807085"/>
                  </a:cubicBezTo>
                  <a:close/>
                </a:path>
              </a:pathLst>
            </a:custGeom>
            <a:solidFill>
              <a:srgbClr val="FFFFFF"/>
            </a:solidFill>
          </p:spPr>
        </p:sp>
      </p:grpSp>
      <p:sp>
        <p:nvSpPr>
          <p:cNvPr name="Freeform 6" id="6" descr="Your startup LOGO"/>
          <p:cNvSpPr/>
          <p:nvPr/>
        </p:nvSpPr>
        <p:spPr>
          <a:xfrm flipH="false" flipV="false" rot="0">
            <a:off x="431644" y="262442"/>
            <a:ext cx="1916278" cy="1248842"/>
          </a:xfrm>
          <a:custGeom>
            <a:avLst/>
            <a:gdLst/>
            <a:ahLst/>
            <a:cxnLst/>
            <a:rect r="r" b="b" t="t" l="l"/>
            <a:pathLst>
              <a:path h="1248842" w="1916278">
                <a:moveTo>
                  <a:pt x="0" y="0"/>
                </a:moveTo>
                <a:lnTo>
                  <a:pt x="1916278" y="0"/>
                </a:lnTo>
                <a:lnTo>
                  <a:pt x="1916278" y="1248842"/>
                </a:lnTo>
                <a:lnTo>
                  <a:pt x="0" y="1248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9531363"/>
            <a:ext cx="18288000" cy="755637"/>
            <a:chOff x="0" y="0"/>
            <a:chExt cx="24384000" cy="1007516"/>
          </a:xfrm>
        </p:grpSpPr>
        <p:sp>
          <p:nvSpPr>
            <p:cNvPr name="Freeform 8" id="8"/>
            <p:cNvSpPr/>
            <p:nvPr/>
          </p:nvSpPr>
          <p:spPr>
            <a:xfrm flipH="false" flipV="false" rot="0">
              <a:off x="0" y="0"/>
              <a:ext cx="24384000" cy="1007491"/>
            </a:xfrm>
            <a:custGeom>
              <a:avLst/>
              <a:gdLst/>
              <a:ahLst/>
              <a:cxnLst/>
              <a:rect r="r" b="b" t="t" l="l"/>
              <a:pathLst>
                <a:path h="1007491" w="24384000">
                  <a:moveTo>
                    <a:pt x="0" y="0"/>
                  </a:moveTo>
                  <a:lnTo>
                    <a:pt x="24384000" y="0"/>
                  </a:lnTo>
                  <a:lnTo>
                    <a:pt x="24384000" y="1007491"/>
                  </a:lnTo>
                  <a:lnTo>
                    <a:pt x="0" y="1007491"/>
                  </a:lnTo>
                  <a:lnTo>
                    <a:pt x="0" y="0"/>
                  </a:lnTo>
                  <a:close/>
                </a:path>
              </a:pathLst>
            </a:custGeom>
            <a:solidFill>
              <a:srgbClr val="14B798"/>
            </a:solidFill>
          </p:spPr>
        </p:sp>
      </p:grpSp>
      <p:grpSp>
        <p:nvGrpSpPr>
          <p:cNvPr name="Group 9" id="9"/>
          <p:cNvGrpSpPr/>
          <p:nvPr/>
        </p:nvGrpSpPr>
        <p:grpSpPr>
          <a:xfrm rot="0">
            <a:off x="14227197" y="0"/>
            <a:ext cx="4060803" cy="2706843"/>
            <a:chOff x="0" y="0"/>
            <a:chExt cx="5414404" cy="3609124"/>
          </a:xfrm>
        </p:grpSpPr>
        <p:sp>
          <p:nvSpPr>
            <p:cNvPr name="Freeform 10" id="10"/>
            <p:cNvSpPr/>
            <p:nvPr/>
          </p:nvSpPr>
          <p:spPr>
            <a:xfrm flipH="false" flipV="false" rot="0">
              <a:off x="0" y="0"/>
              <a:ext cx="5414391" cy="3609086"/>
            </a:xfrm>
            <a:custGeom>
              <a:avLst/>
              <a:gdLst/>
              <a:ahLst/>
              <a:cxnLst/>
              <a:rect r="r" b="b" t="t" l="l"/>
              <a:pathLst>
                <a:path h="3609086" w="5414391">
                  <a:moveTo>
                    <a:pt x="0" y="0"/>
                  </a:moveTo>
                  <a:lnTo>
                    <a:pt x="5414391" y="0"/>
                  </a:lnTo>
                  <a:lnTo>
                    <a:pt x="5414391" y="3609086"/>
                  </a:lnTo>
                  <a:lnTo>
                    <a:pt x="0" y="3609086"/>
                  </a:lnTo>
                  <a:lnTo>
                    <a:pt x="0" y="0"/>
                  </a:lnTo>
                  <a:close/>
                </a:path>
              </a:pathLst>
            </a:custGeom>
            <a:blipFill>
              <a:blip r:embed="rId4"/>
              <a:stretch>
                <a:fillRect l="0" t="-6" r="0" b="-7"/>
              </a:stretch>
            </a:blipFill>
          </p:spPr>
        </p:sp>
      </p:grpSp>
      <p:sp>
        <p:nvSpPr>
          <p:cNvPr name="Freeform 11" id="11"/>
          <p:cNvSpPr/>
          <p:nvPr/>
        </p:nvSpPr>
        <p:spPr>
          <a:xfrm flipH="false" flipV="false" rot="0">
            <a:off x="7863943" y="2024258"/>
            <a:ext cx="10424057" cy="6993822"/>
          </a:xfrm>
          <a:custGeom>
            <a:avLst/>
            <a:gdLst/>
            <a:ahLst/>
            <a:cxnLst/>
            <a:rect r="r" b="b" t="t" l="l"/>
            <a:pathLst>
              <a:path h="6993822" w="10424057">
                <a:moveTo>
                  <a:pt x="0" y="0"/>
                </a:moveTo>
                <a:lnTo>
                  <a:pt x="10424057" y="0"/>
                </a:lnTo>
                <a:lnTo>
                  <a:pt x="10424057" y="6993822"/>
                </a:lnTo>
                <a:lnTo>
                  <a:pt x="0" y="6993822"/>
                </a:lnTo>
                <a:lnTo>
                  <a:pt x="0" y="0"/>
                </a:lnTo>
                <a:close/>
              </a:path>
            </a:pathLst>
          </a:custGeom>
          <a:blipFill>
            <a:blip r:embed="rId5"/>
            <a:stretch>
              <a:fillRect l="-639" t="0" r="0" b="0"/>
            </a:stretch>
          </a:blipFill>
        </p:spPr>
      </p:sp>
      <p:sp>
        <p:nvSpPr>
          <p:cNvPr name="Freeform 12" id="12"/>
          <p:cNvSpPr/>
          <p:nvPr/>
        </p:nvSpPr>
        <p:spPr>
          <a:xfrm flipH="false" flipV="false" rot="0">
            <a:off x="154239" y="1587727"/>
            <a:ext cx="7709704" cy="7430353"/>
          </a:xfrm>
          <a:custGeom>
            <a:avLst/>
            <a:gdLst/>
            <a:ahLst/>
            <a:cxnLst/>
            <a:rect r="r" b="b" t="t" l="l"/>
            <a:pathLst>
              <a:path h="7430353" w="7709704">
                <a:moveTo>
                  <a:pt x="0" y="0"/>
                </a:moveTo>
                <a:lnTo>
                  <a:pt x="7709704" y="0"/>
                </a:lnTo>
                <a:lnTo>
                  <a:pt x="7709704" y="7430353"/>
                </a:lnTo>
                <a:lnTo>
                  <a:pt x="0" y="7430353"/>
                </a:lnTo>
                <a:lnTo>
                  <a:pt x="0" y="0"/>
                </a:lnTo>
                <a:close/>
              </a:path>
            </a:pathLst>
          </a:custGeom>
          <a:blipFill>
            <a:blip r:embed="rId6"/>
            <a:stretch>
              <a:fillRect l="-52606" t="0" r="-2084" b="-7004"/>
            </a:stretch>
          </a:blipFill>
        </p:spPr>
      </p:sp>
      <p:sp>
        <p:nvSpPr>
          <p:cNvPr name="Freeform 13" id="13"/>
          <p:cNvSpPr/>
          <p:nvPr/>
        </p:nvSpPr>
        <p:spPr>
          <a:xfrm flipH="false" flipV="false" rot="1960024">
            <a:off x="16916590" y="1729822"/>
            <a:ext cx="1744680" cy="977021"/>
          </a:xfrm>
          <a:custGeom>
            <a:avLst/>
            <a:gdLst/>
            <a:ahLst/>
            <a:cxnLst/>
            <a:rect r="r" b="b" t="t" l="l"/>
            <a:pathLst>
              <a:path h="977021" w="1744680">
                <a:moveTo>
                  <a:pt x="0" y="0"/>
                </a:moveTo>
                <a:lnTo>
                  <a:pt x="1744680" y="0"/>
                </a:lnTo>
                <a:lnTo>
                  <a:pt x="1744680" y="977021"/>
                </a:lnTo>
                <a:lnTo>
                  <a:pt x="0" y="9770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7063559" y="9621784"/>
            <a:ext cx="4623121" cy="367503"/>
          </a:xfrm>
          <a:prstGeom prst="rect">
            <a:avLst/>
          </a:prstGeom>
        </p:spPr>
        <p:txBody>
          <a:bodyPr anchor="t" rtlCol="false" tIns="0" lIns="0" bIns="0" rIns="0">
            <a:spAutoFit/>
          </a:bodyPr>
          <a:lstStyle/>
          <a:p>
            <a:pPr algn="ctr">
              <a:lnSpc>
                <a:spcPts val="2592"/>
              </a:lnSpc>
            </a:pPr>
            <a:r>
              <a:rPr lang="en-US" sz="1800">
                <a:solidFill>
                  <a:srgbClr val="FFFFFF"/>
                </a:solidFill>
                <a:latin typeface="Arial Nova"/>
                <a:ea typeface="Arial Nova"/>
                <a:cs typeface="Arial Nova"/>
                <a:sym typeface="Arial Nova"/>
              </a:rPr>
              <a:t>@DevHack Idea submission- Template</a:t>
            </a:r>
          </a:p>
        </p:txBody>
      </p:sp>
      <p:sp>
        <p:nvSpPr>
          <p:cNvPr name="TextBox 15" id="15"/>
          <p:cNvSpPr txBox="true"/>
          <p:nvPr/>
        </p:nvSpPr>
        <p:spPr>
          <a:xfrm rot="0">
            <a:off x="7863943" y="1568463"/>
            <a:ext cx="1280057" cy="507775"/>
          </a:xfrm>
          <a:prstGeom prst="rect">
            <a:avLst/>
          </a:prstGeom>
        </p:spPr>
        <p:txBody>
          <a:bodyPr anchor="t" rtlCol="false" tIns="0" lIns="0" bIns="0" rIns="0">
            <a:spAutoFit/>
          </a:bodyPr>
          <a:lstStyle/>
          <a:p>
            <a:pPr algn="ctr">
              <a:lnSpc>
                <a:spcPts val="4019"/>
              </a:lnSpc>
              <a:spcBef>
                <a:spcPct val="0"/>
              </a:spcBef>
            </a:pPr>
            <a:r>
              <a:rPr lang="en-US" b="true" sz="2791">
                <a:solidFill>
                  <a:srgbClr val="000000"/>
                </a:solidFill>
                <a:latin typeface="Times New Roman Bold"/>
                <a:ea typeface="Times New Roman Bold"/>
                <a:cs typeface="Times New Roman Bold"/>
                <a:sym typeface="Times New Roman Bold"/>
              </a:rPr>
              <a:t>Benifits:</a:t>
            </a:r>
          </a:p>
        </p:txBody>
      </p:sp>
      <p:sp>
        <p:nvSpPr>
          <p:cNvPr name="TextBox 16" id="16"/>
          <p:cNvSpPr txBox="true"/>
          <p:nvPr/>
        </p:nvSpPr>
        <p:spPr>
          <a:xfrm rot="0">
            <a:off x="507582" y="699582"/>
            <a:ext cx="1840341" cy="329118"/>
          </a:xfrm>
          <a:prstGeom prst="rect">
            <a:avLst/>
          </a:prstGeom>
        </p:spPr>
        <p:txBody>
          <a:bodyPr anchor="t" rtlCol="false" tIns="0" lIns="0" bIns="0" rIns="0">
            <a:spAutoFit/>
          </a:bodyPr>
          <a:lstStyle/>
          <a:p>
            <a:pPr algn="ctr">
              <a:lnSpc>
                <a:spcPts val="2590"/>
              </a:lnSpc>
              <a:spcBef>
                <a:spcPct val="0"/>
              </a:spcBef>
            </a:pPr>
            <a:r>
              <a:rPr lang="en-US" b="true" sz="1798">
                <a:solidFill>
                  <a:srgbClr val="000000"/>
                </a:solidFill>
                <a:latin typeface="Times New Roman Bold"/>
                <a:ea typeface="Times New Roman Bold"/>
                <a:cs typeface="Times New Roman Bold"/>
                <a:sym typeface="Times New Roman Bold"/>
              </a:rPr>
              <a:t>CODE-RUNNERS</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33994" y="-66362"/>
            <a:ext cx="12544863" cy="10039470"/>
          </a:xfrm>
          <a:custGeom>
            <a:avLst/>
            <a:gdLst/>
            <a:ahLst/>
            <a:cxnLst/>
            <a:rect r="r" b="b" t="t" l="l"/>
            <a:pathLst>
              <a:path h="10039470" w="12544863">
                <a:moveTo>
                  <a:pt x="0" y="0"/>
                </a:moveTo>
                <a:lnTo>
                  <a:pt x="12544863" y="0"/>
                </a:lnTo>
                <a:lnTo>
                  <a:pt x="12544863" y="10039469"/>
                </a:lnTo>
                <a:lnTo>
                  <a:pt x="0" y="10039469"/>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DAHRKgVaMkY</dc:identifier>
  <dcterms:modified xsi:type="dcterms:W3CDTF">2011-08-01T06:04:30Z</dcterms:modified>
  <cp:revision>1</cp:revision>
  <dc:title>DSU DevHack 3.0 Idea submission Template.ppt</dc:title>
</cp:coreProperties>
</file>
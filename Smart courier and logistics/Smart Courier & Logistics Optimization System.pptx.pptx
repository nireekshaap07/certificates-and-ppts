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Arimo" charset="1" panose="020B0604020202020204"/>
      <p:regular r:id="rId23"/>
    </p:embeddedFont>
    <p:embeddedFont>
      <p:font typeface="Arimo Bold" charset="1" panose="020B0704020202020204"/>
      <p:regular r:id="rId24"/>
    </p:embeddedFont>
    <p:embeddedFont>
      <p:font typeface="Noto Sans Bold" charset="1" panose="020B0802040504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svg" Type="http://schemas.openxmlformats.org/officeDocument/2006/relationships/image"/><Relationship Id="rId12" Target="../media/image30.png" Type="http://schemas.openxmlformats.org/officeDocument/2006/relationships/image"/><Relationship Id="rId13" Target="../media/image31.svg" Type="http://schemas.openxmlformats.org/officeDocument/2006/relationships/image"/><Relationship Id="rId14" Target="../media/image32.png" Type="http://schemas.openxmlformats.org/officeDocument/2006/relationships/image"/><Relationship Id="rId15" Target="../media/image33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svg" Type="http://schemas.openxmlformats.org/officeDocument/2006/relationships/image"/><Relationship Id="rId8" Target="../media/image26.png" Type="http://schemas.openxmlformats.org/officeDocument/2006/relationships/image"/><Relationship Id="rId9" Target="../media/image2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svg" Type="http://schemas.openxmlformats.org/officeDocument/2006/relationships/image"/><Relationship Id="rId12" Target="../media/image42.png" Type="http://schemas.openxmlformats.org/officeDocument/2006/relationships/image"/><Relationship Id="rId13" Target="../media/image43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16" Target="../media/image46.png" Type="http://schemas.openxmlformats.org/officeDocument/2006/relationships/image"/><Relationship Id="rId17" Target="../media/image47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Relationship Id="rId8" Target="../media/image38.png" Type="http://schemas.openxmlformats.org/officeDocument/2006/relationships/image"/><Relationship Id="rId9" Target="../media/image3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56.png" Type="http://schemas.openxmlformats.org/officeDocument/2006/relationships/image"/><Relationship Id="rId13" Target="../media/image57.svg" Type="http://schemas.openxmlformats.org/officeDocument/2006/relationships/image"/><Relationship Id="rId14" Target="../media/image58.png" Type="http://schemas.openxmlformats.org/officeDocument/2006/relationships/image"/><Relationship Id="rId15" Target="../media/image59.svg" Type="http://schemas.openxmlformats.org/officeDocument/2006/relationships/image"/><Relationship Id="rId16" Target="../media/image60.png" Type="http://schemas.openxmlformats.org/officeDocument/2006/relationships/image"/><Relationship Id="rId17" Target="../media/image61.svg" Type="http://schemas.openxmlformats.org/officeDocument/2006/relationships/image"/><Relationship Id="rId18" Target="../media/image62.png" Type="http://schemas.openxmlformats.org/officeDocument/2006/relationships/image"/><Relationship Id="rId19" Target="../media/image63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71.svg" Type="http://schemas.openxmlformats.org/officeDocument/2006/relationships/image"/><Relationship Id="rId12" Target="../media/image72.png" Type="http://schemas.openxmlformats.org/officeDocument/2006/relationships/image"/><Relationship Id="rId13" Target="../media/image73.svg" Type="http://schemas.openxmlformats.org/officeDocument/2006/relationships/image"/><Relationship Id="rId14" Target="../media/image74.png" Type="http://schemas.openxmlformats.org/officeDocument/2006/relationships/image"/><Relationship Id="rId15" Target="../media/image75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64.png" Type="http://schemas.openxmlformats.org/officeDocument/2006/relationships/image"/><Relationship Id="rId5" Target="../media/image65.svg" Type="http://schemas.openxmlformats.org/officeDocument/2006/relationships/image"/><Relationship Id="rId6" Target="../media/image66.png" Type="http://schemas.openxmlformats.org/officeDocument/2006/relationships/image"/><Relationship Id="rId7" Target="../media/image67.svg" Type="http://schemas.openxmlformats.org/officeDocument/2006/relationships/image"/><Relationship Id="rId8" Target="../media/image68.png" Type="http://schemas.openxmlformats.org/officeDocument/2006/relationships/image"/><Relationship Id="rId9" Target="../media/image69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svg" Type="http://schemas.openxmlformats.org/officeDocument/2006/relationships/image"/><Relationship Id="rId12" Target="../media/image84.png" Type="http://schemas.openxmlformats.org/officeDocument/2006/relationships/image"/><Relationship Id="rId13" Target="../media/image85.svg" Type="http://schemas.openxmlformats.org/officeDocument/2006/relationships/image"/><Relationship Id="rId14" Target="../media/image86.png" Type="http://schemas.openxmlformats.org/officeDocument/2006/relationships/image"/><Relationship Id="rId15" Target="../media/image87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76.png" Type="http://schemas.openxmlformats.org/officeDocument/2006/relationships/image"/><Relationship Id="rId5" Target="../media/image77.svg" Type="http://schemas.openxmlformats.org/officeDocument/2006/relationships/image"/><Relationship Id="rId6" Target="../media/image78.png" Type="http://schemas.openxmlformats.org/officeDocument/2006/relationships/image"/><Relationship Id="rId7" Target="../media/image79.sv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png" Type="http://schemas.openxmlformats.org/officeDocument/2006/relationships/image"/><Relationship Id="rId11" Target="../media/image95.svg" Type="http://schemas.openxmlformats.org/officeDocument/2006/relationships/image"/><Relationship Id="rId12" Target="../media/image96.png" Type="http://schemas.openxmlformats.org/officeDocument/2006/relationships/image"/><Relationship Id="rId13" Target="../media/image97.svg" Type="http://schemas.openxmlformats.org/officeDocument/2006/relationships/image"/><Relationship Id="rId14" Target="../media/image98.png" Type="http://schemas.openxmlformats.org/officeDocument/2006/relationships/image"/><Relationship Id="rId15" Target="../media/image99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88.png" Type="http://schemas.openxmlformats.org/officeDocument/2006/relationships/image"/><Relationship Id="rId5" Target="../media/image89.svg" Type="http://schemas.openxmlformats.org/officeDocument/2006/relationships/image"/><Relationship Id="rId6" Target="../media/image90.png" Type="http://schemas.openxmlformats.org/officeDocument/2006/relationships/image"/><Relationship Id="rId7" Target="../media/image91.svg" Type="http://schemas.openxmlformats.org/officeDocument/2006/relationships/image"/><Relationship Id="rId8" Target="../media/image92.png" Type="http://schemas.openxmlformats.org/officeDocument/2006/relationships/image"/><Relationship Id="rId9" Target="../media/image9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svg" Type="http://schemas.openxmlformats.org/officeDocument/2006/relationships/image"/><Relationship Id="rId12" Target="../media/image109.png" Type="http://schemas.openxmlformats.org/officeDocument/2006/relationships/image"/><Relationship Id="rId13" Target="../media/image110.sv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101.png" Type="http://schemas.openxmlformats.org/officeDocument/2006/relationships/image"/><Relationship Id="rId5" Target="../media/image102.svg" Type="http://schemas.openxmlformats.org/officeDocument/2006/relationships/image"/><Relationship Id="rId6" Target="../media/image103.png" Type="http://schemas.openxmlformats.org/officeDocument/2006/relationships/image"/><Relationship Id="rId7" Target="../media/image104.svg" Type="http://schemas.openxmlformats.org/officeDocument/2006/relationships/image"/><Relationship Id="rId8" Target="../media/image105.png" Type="http://schemas.openxmlformats.org/officeDocument/2006/relationships/image"/><Relationship Id="rId9" Target="../media/image10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svg" Type="http://schemas.openxmlformats.org/officeDocument/2006/relationships/image"/><Relationship Id="rId12" Target="../media/image119.png" Type="http://schemas.openxmlformats.org/officeDocument/2006/relationships/image"/><Relationship Id="rId13" Target="../media/image120.svg" Type="http://schemas.openxmlformats.org/officeDocument/2006/relationships/image"/><Relationship Id="rId14" Target="../media/image121.png" Type="http://schemas.openxmlformats.org/officeDocument/2006/relationships/image"/><Relationship Id="rId15" Target="../media/image122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111.png" Type="http://schemas.openxmlformats.org/officeDocument/2006/relationships/image"/><Relationship Id="rId5" Target="../media/image112.svg" Type="http://schemas.openxmlformats.org/officeDocument/2006/relationships/image"/><Relationship Id="rId6" Target="../media/image113.png" Type="http://schemas.openxmlformats.org/officeDocument/2006/relationships/image"/><Relationship Id="rId7" Target="../media/image114.svg" Type="http://schemas.openxmlformats.org/officeDocument/2006/relationships/image"/><Relationship Id="rId8" Target="../media/image115.png" Type="http://schemas.openxmlformats.org/officeDocument/2006/relationships/image"/><Relationship Id="rId9" Target="../media/image11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9.png" Type="http://schemas.openxmlformats.org/officeDocument/2006/relationships/image"/><Relationship Id="rId11" Target="../media/image130.svg" Type="http://schemas.openxmlformats.org/officeDocument/2006/relationships/image"/><Relationship Id="rId12" Target="../media/image131.png" Type="http://schemas.openxmlformats.org/officeDocument/2006/relationships/image"/><Relationship Id="rId13" Target="../media/image132.svg" Type="http://schemas.openxmlformats.org/officeDocument/2006/relationships/image"/><Relationship Id="rId14" Target="../media/image133.png" Type="http://schemas.openxmlformats.org/officeDocument/2006/relationships/image"/><Relationship Id="rId15" Target="../media/image134.svg" Type="http://schemas.openxmlformats.org/officeDocument/2006/relationships/image"/><Relationship Id="rId16" Target="../media/image135.png" Type="http://schemas.openxmlformats.org/officeDocument/2006/relationships/image"/><Relationship Id="rId17" Target="../media/image136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123.png" Type="http://schemas.openxmlformats.org/officeDocument/2006/relationships/image"/><Relationship Id="rId5" Target="../media/image124.svg" Type="http://schemas.openxmlformats.org/officeDocument/2006/relationships/image"/><Relationship Id="rId6" Target="../media/image125.png" Type="http://schemas.openxmlformats.org/officeDocument/2006/relationships/image"/><Relationship Id="rId7" Target="../media/image126.svg" Type="http://schemas.openxmlformats.org/officeDocument/2006/relationships/image"/><Relationship Id="rId8" Target="../media/image127.png" Type="http://schemas.openxmlformats.org/officeDocument/2006/relationships/image"/><Relationship Id="rId9" Target="../media/image12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3.png" Type="http://schemas.openxmlformats.org/officeDocument/2006/relationships/image"/><Relationship Id="rId11" Target="../media/image144.svg" Type="http://schemas.openxmlformats.org/officeDocument/2006/relationships/image"/><Relationship Id="rId12" Target="../media/image145.png" Type="http://schemas.openxmlformats.org/officeDocument/2006/relationships/image"/><Relationship Id="rId13" Target="../media/image146.svg" Type="http://schemas.openxmlformats.org/officeDocument/2006/relationships/image"/><Relationship Id="rId14" Target="../media/image147.png" Type="http://schemas.openxmlformats.org/officeDocument/2006/relationships/image"/><Relationship Id="rId15" Target="../media/image148.svg" Type="http://schemas.openxmlformats.org/officeDocument/2006/relationships/image"/><Relationship Id="rId16" Target="../media/image149.png" Type="http://schemas.openxmlformats.org/officeDocument/2006/relationships/image"/><Relationship Id="rId17" Target="../media/image150.svg" Type="http://schemas.openxmlformats.org/officeDocument/2006/relationships/image"/><Relationship Id="rId18" Target="../media/image151.png" Type="http://schemas.openxmlformats.org/officeDocument/2006/relationships/image"/><Relationship Id="rId19" Target="../media/image152.svg" Type="http://schemas.openxmlformats.org/officeDocument/2006/relationships/image"/><Relationship Id="rId2" Target="../notesSlides/notesSlide13.xml" Type="http://schemas.openxmlformats.org/officeDocument/2006/relationships/notesSlide"/><Relationship Id="rId20" Target="../media/image153.png" Type="http://schemas.openxmlformats.org/officeDocument/2006/relationships/image"/><Relationship Id="rId21" Target="../media/image154.svg" Type="http://schemas.openxmlformats.org/officeDocument/2006/relationships/image"/><Relationship Id="rId22" Target="../media/image155.png" Type="http://schemas.openxmlformats.org/officeDocument/2006/relationships/image"/><Relationship Id="rId23" Target="../media/image156.svg" Type="http://schemas.openxmlformats.org/officeDocument/2006/relationships/image"/><Relationship Id="rId24" Target="../media/image157.png" Type="http://schemas.openxmlformats.org/officeDocument/2006/relationships/image"/><Relationship Id="rId25" Target="../media/image158.svg" Type="http://schemas.openxmlformats.org/officeDocument/2006/relationships/image"/><Relationship Id="rId26" Target="../media/image159.png" Type="http://schemas.openxmlformats.org/officeDocument/2006/relationships/image"/><Relationship Id="rId27" Target="../media/image160.svg" Type="http://schemas.openxmlformats.org/officeDocument/2006/relationships/image"/><Relationship Id="rId28" Target="../media/image161.png" Type="http://schemas.openxmlformats.org/officeDocument/2006/relationships/image"/><Relationship Id="rId29" Target="../media/image162.svg" Type="http://schemas.openxmlformats.org/officeDocument/2006/relationships/image"/><Relationship Id="rId3" Target="../media/image1.jpeg" Type="http://schemas.openxmlformats.org/officeDocument/2006/relationships/image"/><Relationship Id="rId4" Target="../media/image137.png" Type="http://schemas.openxmlformats.org/officeDocument/2006/relationships/image"/><Relationship Id="rId5" Target="../media/image138.svg" Type="http://schemas.openxmlformats.org/officeDocument/2006/relationships/image"/><Relationship Id="rId6" Target="../media/image139.png" Type="http://schemas.openxmlformats.org/officeDocument/2006/relationships/image"/><Relationship Id="rId7" Target="../media/image140.svg" Type="http://schemas.openxmlformats.org/officeDocument/2006/relationships/image"/><Relationship Id="rId8" Target="../media/image141.png" Type="http://schemas.openxmlformats.org/officeDocument/2006/relationships/image"/><Relationship Id="rId9" Target="../media/image1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423356" y="-578644"/>
            <a:ext cx="1728788" cy="1728788"/>
            <a:chOff x="0" y="0"/>
            <a:chExt cx="2305050" cy="230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2228850" cy="2228850"/>
            </a:xfrm>
            <a:custGeom>
              <a:avLst/>
              <a:gdLst/>
              <a:ahLst/>
              <a:cxnLst/>
              <a:rect r="r" b="b" t="t" l="l"/>
              <a:pathLst>
                <a:path h="2228850" w="2228850">
                  <a:moveTo>
                    <a:pt x="0" y="1114425"/>
                  </a:moveTo>
                  <a:cubicBezTo>
                    <a:pt x="0" y="498983"/>
                    <a:pt x="498983" y="0"/>
                    <a:pt x="1114425" y="0"/>
                  </a:cubicBezTo>
                  <a:cubicBezTo>
                    <a:pt x="1729867" y="0"/>
                    <a:pt x="2228850" y="498983"/>
                    <a:pt x="2228850" y="1114425"/>
                  </a:cubicBezTo>
                  <a:cubicBezTo>
                    <a:pt x="2228850" y="1729867"/>
                    <a:pt x="1729867" y="2228850"/>
                    <a:pt x="1114425" y="2228850"/>
                  </a:cubicBezTo>
                  <a:cubicBezTo>
                    <a:pt x="498983" y="2228850"/>
                    <a:pt x="0" y="1729867"/>
                    <a:pt x="0" y="1114425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5050" cy="2305050"/>
            </a:xfrm>
            <a:custGeom>
              <a:avLst/>
              <a:gdLst/>
              <a:ahLst/>
              <a:cxnLst/>
              <a:rect r="r" b="b" t="t" l="l"/>
              <a:pathLst>
                <a:path h="2305050" w="2305050">
                  <a:moveTo>
                    <a:pt x="0" y="1152525"/>
                  </a:moveTo>
                  <a:cubicBezTo>
                    <a:pt x="0" y="516001"/>
                    <a:pt x="516001" y="0"/>
                    <a:pt x="1152525" y="0"/>
                  </a:cubicBezTo>
                  <a:cubicBezTo>
                    <a:pt x="1164082" y="0"/>
                    <a:pt x="1175004" y="5207"/>
                    <a:pt x="1182243" y="14351"/>
                  </a:cubicBezTo>
                  <a:lnTo>
                    <a:pt x="1152525" y="38100"/>
                  </a:lnTo>
                  <a:lnTo>
                    <a:pt x="1152525" y="0"/>
                  </a:lnTo>
                  <a:lnTo>
                    <a:pt x="1152525" y="38100"/>
                  </a:lnTo>
                  <a:lnTo>
                    <a:pt x="1152525" y="0"/>
                  </a:lnTo>
                  <a:cubicBezTo>
                    <a:pt x="1789049" y="0"/>
                    <a:pt x="2305050" y="516001"/>
                    <a:pt x="2305050" y="1152525"/>
                  </a:cubicBezTo>
                  <a:cubicBezTo>
                    <a:pt x="2305050" y="1167003"/>
                    <a:pt x="2296922" y="1180211"/>
                    <a:pt x="2283968" y="1186561"/>
                  </a:cubicBezTo>
                  <a:lnTo>
                    <a:pt x="2266950" y="1152525"/>
                  </a:lnTo>
                  <a:lnTo>
                    <a:pt x="2305050" y="1152525"/>
                  </a:lnTo>
                  <a:cubicBezTo>
                    <a:pt x="2305050" y="1789049"/>
                    <a:pt x="1789049" y="2305050"/>
                    <a:pt x="1152525" y="2305050"/>
                  </a:cubicBezTo>
                  <a:lnTo>
                    <a:pt x="1152525" y="2266950"/>
                  </a:lnTo>
                  <a:lnTo>
                    <a:pt x="1152525" y="2305050"/>
                  </a:lnTo>
                  <a:cubicBezTo>
                    <a:pt x="516001" y="2305050"/>
                    <a:pt x="0" y="1789049"/>
                    <a:pt x="0" y="1152525"/>
                  </a:cubicBezTo>
                  <a:lnTo>
                    <a:pt x="38100" y="1152525"/>
                  </a:lnTo>
                  <a:lnTo>
                    <a:pt x="0" y="1152525"/>
                  </a:lnTo>
                  <a:moveTo>
                    <a:pt x="76200" y="1152525"/>
                  </a:moveTo>
                  <a:lnTo>
                    <a:pt x="38100" y="1152525"/>
                  </a:lnTo>
                  <a:lnTo>
                    <a:pt x="76200" y="1152525"/>
                  </a:lnTo>
                  <a:cubicBezTo>
                    <a:pt x="76200" y="1747012"/>
                    <a:pt x="558038" y="2228850"/>
                    <a:pt x="1152525" y="2228850"/>
                  </a:cubicBezTo>
                  <a:cubicBezTo>
                    <a:pt x="1747012" y="2228850"/>
                    <a:pt x="2228850" y="1747012"/>
                    <a:pt x="2228850" y="1152525"/>
                  </a:cubicBezTo>
                  <a:cubicBezTo>
                    <a:pt x="2228850" y="1138047"/>
                    <a:pt x="2236978" y="1124839"/>
                    <a:pt x="2249932" y="1118489"/>
                  </a:cubicBezTo>
                  <a:lnTo>
                    <a:pt x="2266950" y="1152525"/>
                  </a:lnTo>
                  <a:lnTo>
                    <a:pt x="2228850" y="1152525"/>
                  </a:lnTo>
                  <a:cubicBezTo>
                    <a:pt x="2228850" y="558038"/>
                    <a:pt x="1747012" y="76200"/>
                    <a:pt x="1152525" y="76200"/>
                  </a:cubicBezTo>
                  <a:cubicBezTo>
                    <a:pt x="1140968" y="76200"/>
                    <a:pt x="1130046" y="70993"/>
                    <a:pt x="1122807" y="61849"/>
                  </a:cubicBezTo>
                  <a:lnTo>
                    <a:pt x="1152525" y="38100"/>
                  </a:lnTo>
                  <a:lnTo>
                    <a:pt x="1152525" y="76200"/>
                  </a:lnTo>
                  <a:cubicBezTo>
                    <a:pt x="558038" y="76200"/>
                    <a:pt x="76200" y="558038"/>
                    <a:pt x="76200" y="1152525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900000">
            <a:off x="-421338" y="8151162"/>
            <a:ext cx="1157288" cy="1157288"/>
            <a:chOff x="0" y="0"/>
            <a:chExt cx="1543050" cy="1543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4668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466850">
                  <a:moveTo>
                    <a:pt x="0" y="0"/>
                  </a:moveTo>
                  <a:lnTo>
                    <a:pt x="1466850" y="0"/>
                  </a:lnTo>
                  <a:lnTo>
                    <a:pt x="1466850" y="1466850"/>
                  </a:lnTo>
                  <a:lnTo>
                    <a:pt x="0" y="146685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00" y="0"/>
              <a:ext cx="15049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04950">
                  <a:moveTo>
                    <a:pt x="0" y="0"/>
                  </a:moveTo>
                  <a:lnTo>
                    <a:pt x="1466850" y="0"/>
                  </a:lnTo>
                  <a:cubicBezTo>
                    <a:pt x="1487932" y="0"/>
                    <a:pt x="1504950" y="17018"/>
                    <a:pt x="1504950" y="38100"/>
                  </a:cubicBezTo>
                  <a:lnTo>
                    <a:pt x="1504950" y="1504950"/>
                  </a:lnTo>
                  <a:cubicBezTo>
                    <a:pt x="1504950" y="1526032"/>
                    <a:pt x="1487932" y="1543050"/>
                    <a:pt x="1466850" y="1543050"/>
                  </a:cubicBezTo>
                  <a:lnTo>
                    <a:pt x="0" y="1543050"/>
                  </a:lnTo>
                  <a:lnTo>
                    <a:pt x="0" y="1466850"/>
                  </a:lnTo>
                  <a:lnTo>
                    <a:pt x="1466850" y="1466850"/>
                  </a:lnTo>
                  <a:lnTo>
                    <a:pt x="1466850" y="1504950"/>
                  </a:lnTo>
                  <a:lnTo>
                    <a:pt x="1428750" y="1504950"/>
                  </a:lnTo>
                  <a:lnTo>
                    <a:pt x="1428750" y="38100"/>
                  </a:lnTo>
                  <a:lnTo>
                    <a:pt x="1466850" y="38100"/>
                  </a:lnTo>
                  <a:lnTo>
                    <a:pt x="14668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21606" y="1707356"/>
            <a:ext cx="871538" cy="871538"/>
            <a:chOff x="0" y="0"/>
            <a:chExt cx="1162050" cy="11620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0" y="542925"/>
                  </a:moveTo>
                  <a:cubicBezTo>
                    <a:pt x="0" y="243078"/>
                    <a:pt x="243078" y="0"/>
                    <a:pt x="542925" y="0"/>
                  </a:cubicBezTo>
                  <a:cubicBezTo>
                    <a:pt x="842772" y="0"/>
                    <a:pt x="1085850" y="243078"/>
                    <a:pt x="1085850" y="542925"/>
                  </a:cubicBezTo>
                  <a:cubicBezTo>
                    <a:pt x="1085850" y="842772"/>
                    <a:pt x="842772" y="1085850"/>
                    <a:pt x="542925" y="1085850"/>
                  </a:cubicBezTo>
                  <a:cubicBezTo>
                    <a:pt x="243078" y="1085850"/>
                    <a:pt x="0" y="842772"/>
                    <a:pt x="0" y="542925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620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1162050">
                  <a:moveTo>
                    <a:pt x="0" y="581025"/>
                  </a:moveTo>
                  <a:cubicBezTo>
                    <a:pt x="0" y="260096"/>
                    <a:pt x="260096" y="0"/>
                    <a:pt x="581025" y="0"/>
                  </a:cubicBezTo>
                  <a:cubicBezTo>
                    <a:pt x="592201" y="0"/>
                    <a:pt x="602869" y="4953"/>
                    <a:pt x="610108" y="13589"/>
                  </a:cubicBezTo>
                  <a:lnTo>
                    <a:pt x="581025" y="38100"/>
                  </a:lnTo>
                  <a:lnTo>
                    <a:pt x="581025" y="0"/>
                  </a:lnTo>
                  <a:lnTo>
                    <a:pt x="581025" y="38100"/>
                  </a:lnTo>
                  <a:lnTo>
                    <a:pt x="581025" y="0"/>
                  </a:lnTo>
                  <a:cubicBezTo>
                    <a:pt x="901954" y="0"/>
                    <a:pt x="1162050" y="260096"/>
                    <a:pt x="1162050" y="581025"/>
                  </a:cubicBezTo>
                  <a:cubicBezTo>
                    <a:pt x="1162050" y="598551"/>
                    <a:pt x="1150112" y="613791"/>
                    <a:pt x="1133221" y="617982"/>
                  </a:cubicBezTo>
                  <a:lnTo>
                    <a:pt x="1123950" y="581025"/>
                  </a:lnTo>
                  <a:lnTo>
                    <a:pt x="1162050" y="581025"/>
                  </a:lnTo>
                  <a:cubicBezTo>
                    <a:pt x="1162050" y="901954"/>
                    <a:pt x="901954" y="1162050"/>
                    <a:pt x="581025" y="1162050"/>
                  </a:cubicBezTo>
                  <a:lnTo>
                    <a:pt x="581025" y="1123950"/>
                  </a:lnTo>
                  <a:lnTo>
                    <a:pt x="581025" y="1162050"/>
                  </a:lnTo>
                  <a:cubicBezTo>
                    <a:pt x="260096" y="1162050"/>
                    <a:pt x="0" y="901954"/>
                    <a:pt x="0" y="581025"/>
                  </a:cubicBezTo>
                  <a:lnTo>
                    <a:pt x="38100" y="581025"/>
                  </a:lnTo>
                  <a:lnTo>
                    <a:pt x="0" y="581025"/>
                  </a:lnTo>
                  <a:moveTo>
                    <a:pt x="76200" y="581025"/>
                  </a:moveTo>
                  <a:lnTo>
                    <a:pt x="38100" y="581025"/>
                  </a:lnTo>
                  <a:lnTo>
                    <a:pt x="76200" y="581025"/>
                  </a:lnTo>
                  <a:cubicBezTo>
                    <a:pt x="76200" y="859790"/>
                    <a:pt x="302260" y="1085850"/>
                    <a:pt x="581025" y="1085850"/>
                  </a:cubicBezTo>
                  <a:cubicBezTo>
                    <a:pt x="859790" y="1085850"/>
                    <a:pt x="1085850" y="859790"/>
                    <a:pt x="1085850" y="581025"/>
                  </a:cubicBezTo>
                  <a:cubicBezTo>
                    <a:pt x="1085850" y="563499"/>
                    <a:pt x="1097788" y="548259"/>
                    <a:pt x="1114679" y="544068"/>
                  </a:cubicBezTo>
                  <a:lnTo>
                    <a:pt x="1123950" y="581025"/>
                  </a:lnTo>
                  <a:lnTo>
                    <a:pt x="1085850" y="581025"/>
                  </a:lnTo>
                  <a:cubicBezTo>
                    <a:pt x="1085850" y="302260"/>
                    <a:pt x="859790" y="76200"/>
                    <a:pt x="581025" y="76200"/>
                  </a:cubicBezTo>
                  <a:cubicBezTo>
                    <a:pt x="569849" y="76200"/>
                    <a:pt x="559181" y="71247"/>
                    <a:pt x="551942" y="62611"/>
                  </a:cubicBezTo>
                  <a:lnTo>
                    <a:pt x="581025" y="38100"/>
                  </a:lnTo>
                  <a:lnTo>
                    <a:pt x="581025" y="76200"/>
                  </a:lnTo>
                  <a:cubicBezTo>
                    <a:pt x="302260" y="76200"/>
                    <a:pt x="76200" y="302260"/>
                    <a:pt x="76200" y="581025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2700000">
            <a:off x="15447874" y="2731999"/>
            <a:ext cx="585788" cy="585788"/>
            <a:chOff x="0" y="0"/>
            <a:chExt cx="781050" cy="7810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8100" y="38100"/>
              <a:ext cx="704850" cy="704850"/>
            </a:xfrm>
            <a:custGeom>
              <a:avLst/>
              <a:gdLst/>
              <a:ahLst/>
              <a:cxnLst/>
              <a:rect r="r" b="b" t="t" l="l"/>
              <a:pathLst>
                <a:path h="704850" w="704850">
                  <a:moveTo>
                    <a:pt x="0" y="0"/>
                  </a:moveTo>
                  <a:lnTo>
                    <a:pt x="704850" y="0"/>
                  </a:lnTo>
                  <a:lnTo>
                    <a:pt x="704850" y="704850"/>
                  </a:lnTo>
                  <a:lnTo>
                    <a:pt x="0" y="70485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8100" y="0"/>
              <a:ext cx="742950" cy="781050"/>
            </a:xfrm>
            <a:custGeom>
              <a:avLst/>
              <a:gdLst/>
              <a:ahLst/>
              <a:cxnLst/>
              <a:rect r="r" b="b" t="t" l="l"/>
              <a:pathLst>
                <a:path h="781050" w="742950">
                  <a:moveTo>
                    <a:pt x="0" y="0"/>
                  </a:moveTo>
                  <a:lnTo>
                    <a:pt x="704850" y="0"/>
                  </a:lnTo>
                  <a:cubicBezTo>
                    <a:pt x="725932" y="0"/>
                    <a:pt x="742950" y="17018"/>
                    <a:pt x="742950" y="38100"/>
                  </a:cubicBezTo>
                  <a:lnTo>
                    <a:pt x="742950" y="742950"/>
                  </a:lnTo>
                  <a:cubicBezTo>
                    <a:pt x="742950" y="764032"/>
                    <a:pt x="725932" y="781050"/>
                    <a:pt x="704850" y="781050"/>
                  </a:cubicBezTo>
                  <a:lnTo>
                    <a:pt x="0" y="781050"/>
                  </a:lnTo>
                  <a:lnTo>
                    <a:pt x="0" y="704850"/>
                  </a:lnTo>
                  <a:lnTo>
                    <a:pt x="704850" y="704850"/>
                  </a:lnTo>
                  <a:lnTo>
                    <a:pt x="704850" y="742950"/>
                  </a:lnTo>
                  <a:lnTo>
                    <a:pt x="666750" y="742950"/>
                  </a:lnTo>
                  <a:lnTo>
                    <a:pt x="666750" y="38100"/>
                  </a:lnTo>
                  <a:lnTo>
                    <a:pt x="704850" y="38100"/>
                  </a:lnTo>
                  <a:lnTo>
                    <a:pt x="7048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994856" y="7422356"/>
            <a:ext cx="1443038" cy="1443038"/>
            <a:chOff x="0" y="0"/>
            <a:chExt cx="1924050" cy="19240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8100" y="38100"/>
              <a:ext cx="184785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847850">
                  <a:moveTo>
                    <a:pt x="0" y="923925"/>
                  </a:moveTo>
                  <a:cubicBezTo>
                    <a:pt x="0" y="413639"/>
                    <a:pt x="413639" y="0"/>
                    <a:pt x="923925" y="0"/>
                  </a:cubicBezTo>
                  <a:cubicBezTo>
                    <a:pt x="1434211" y="0"/>
                    <a:pt x="1847850" y="413639"/>
                    <a:pt x="1847850" y="923925"/>
                  </a:cubicBezTo>
                  <a:cubicBezTo>
                    <a:pt x="1847850" y="1434211"/>
                    <a:pt x="1434211" y="1847850"/>
                    <a:pt x="923925" y="1847850"/>
                  </a:cubicBezTo>
                  <a:cubicBezTo>
                    <a:pt x="413639" y="1847850"/>
                    <a:pt x="0" y="1434211"/>
                    <a:pt x="0" y="923925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4050" cy="1924050"/>
            </a:xfrm>
            <a:custGeom>
              <a:avLst/>
              <a:gdLst/>
              <a:ahLst/>
              <a:cxnLst/>
              <a:rect r="r" b="b" t="t" l="l"/>
              <a:pathLst>
                <a:path h="1924050" w="1924050">
                  <a:moveTo>
                    <a:pt x="0" y="962025"/>
                  </a:moveTo>
                  <a:cubicBezTo>
                    <a:pt x="0" y="430657"/>
                    <a:pt x="430657" y="0"/>
                    <a:pt x="962025" y="0"/>
                  </a:cubicBezTo>
                  <a:cubicBezTo>
                    <a:pt x="969137" y="0"/>
                    <a:pt x="976122" y="2032"/>
                    <a:pt x="982218" y="5842"/>
                  </a:cubicBezTo>
                  <a:lnTo>
                    <a:pt x="962025" y="38100"/>
                  </a:lnTo>
                  <a:lnTo>
                    <a:pt x="962025" y="0"/>
                  </a:lnTo>
                  <a:lnTo>
                    <a:pt x="962025" y="38100"/>
                  </a:lnTo>
                  <a:lnTo>
                    <a:pt x="962025" y="0"/>
                  </a:lnTo>
                  <a:cubicBezTo>
                    <a:pt x="1493393" y="0"/>
                    <a:pt x="1924050" y="430657"/>
                    <a:pt x="1924050" y="962025"/>
                  </a:cubicBezTo>
                  <a:cubicBezTo>
                    <a:pt x="1924050" y="976503"/>
                    <a:pt x="1915922" y="989711"/>
                    <a:pt x="1902968" y="996061"/>
                  </a:cubicBezTo>
                  <a:lnTo>
                    <a:pt x="1885950" y="962025"/>
                  </a:lnTo>
                  <a:lnTo>
                    <a:pt x="1924050" y="962025"/>
                  </a:lnTo>
                  <a:cubicBezTo>
                    <a:pt x="1924050" y="1493393"/>
                    <a:pt x="1493393" y="1924050"/>
                    <a:pt x="962025" y="1924050"/>
                  </a:cubicBezTo>
                  <a:lnTo>
                    <a:pt x="962025" y="1885950"/>
                  </a:lnTo>
                  <a:lnTo>
                    <a:pt x="962025" y="1924050"/>
                  </a:lnTo>
                  <a:lnTo>
                    <a:pt x="962025" y="1885950"/>
                  </a:lnTo>
                  <a:lnTo>
                    <a:pt x="962025" y="1924050"/>
                  </a:lnTo>
                  <a:cubicBezTo>
                    <a:pt x="430657" y="1924050"/>
                    <a:pt x="0" y="1493393"/>
                    <a:pt x="0" y="962025"/>
                  </a:cubicBezTo>
                  <a:cubicBezTo>
                    <a:pt x="0" y="954913"/>
                    <a:pt x="2032" y="947928"/>
                    <a:pt x="5842" y="941832"/>
                  </a:cubicBezTo>
                  <a:lnTo>
                    <a:pt x="38100" y="962025"/>
                  </a:lnTo>
                  <a:lnTo>
                    <a:pt x="0" y="962025"/>
                  </a:lnTo>
                  <a:moveTo>
                    <a:pt x="76200" y="962025"/>
                  </a:moveTo>
                  <a:cubicBezTo>
                    <a:pt x="76200" y="969137"/>
                    <a:pt x="74168" y="976122"/>
                    <a:pt x="70358" y="982218"/>
                  </a:cubicBezTo>
                  <a:lnTo>
                    <a:pt x="38100" y="962025"/>
                  </a:lnTo>
                  <a:lnTo>
                    <a:pt x="76200" y="962025"/>
                  </a:lnTo>
                  <a:cubicBezTo>
                    <a:pt x="76200" y="1451229"/>
                    <a:pt x="472821" y="1847850"/>
                    <a:pt x="962025" y="1847850"/>
                  </a:cubicBezTo>
                  <a:cubicBezTo>
                    <a:pt x="1451229" y="1847850"/>
                    <a:pt x="1847850" y="1451229"/>
                    <a:pt x="1847850" y="962025"/>
                  </a:cubicBezTo>
                  <a:cubicBezTo>
                    <a:pt x="1847850" y="947547"/>
                    <a:pt x="1855978" y="934339"/>
                    <a:pt x="1868932" y="927989"/>
                  </a:cubicBezTo>
                  <a:lnTo>
                    <a:pt x="1885950" y="962025"/>
                  </a:lnTo>
                  <a:lnTo>
                    <a:pt x="1847850" y="962025"/>
                  </a:lnTo>
                  <a:cubicBezTo>
                    <a:pt x="1847850" y="472821"/>
                    <a:pt x="1451229" y="76200"/>
                    <a:pt x="962025" y="76200"/>
                  </a:cubicBezTo>
                  <a:cubicBezTo>
                    <a:pt x="954913" y="76200"/>
                    <a:pt x="947928" y="74168"/>
                    <a:pt x="941832" y="70358"/>
                  </a:cubicBezTo>
                  <a:lnTo>
                    <a:pt x="962025" y="38100"/>
                  </a:lnTo>
                  <a:lnTo>
                    <a:pt x="962025" y="76200"/>
                  </a:lnTo>
                  <a:cubicBezTo>
                    <a:pt x="472821" y="76200"/>
                    <a:pt x="76200" y="472821"/>
                    <a:pt x="76200" y="962025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1800000">
            <a:off x="14578241" y="8863241"/>
            <a:ext cx="728662" cy="728662"/>
            <a:chOff x="0" y="0"/>
            <a:chExt cx="971550" cy="9715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8100" y="38100"/>
              <a:ext cx="895350" cy="895350"/>
            </a:xfrm>
            <a:custGeom>
              <a:avLst/>
              <a:gdLst/>
              <a:ahLst/>
              <a:cxnLst/>
              <a:rect r="r" b="b" t="t" l="l"/>
              <a:pathLst>
                <a:path h="895350" w="895350">
                  <a:moveTo>
                    <a:pt x="0" y="0"/>
                  </a:moveTo>
                  <a:lnTo>
                    <a:pt x="895350" y="0"/>
                  </a:lnTo>
                  <a:lnTo>
                    <a:pt x="895350" y="895350"/>
                  </a:lnTo>
                  <a:lnTo>
                    <a:pt x="0" y="89535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8100" y="0"/>
              <a:ext cx="933450" cy="971550"/>
            </a:xfrm>
            <a:custGeom>
              <a:avLst/>
              <a:gdLst/>
              <a:ahLst/>
              <a:cxnLst/>
              <a:rect r="r" b="b" t="t" l="l"/>
              <a:pathLst>
                <a:path h="971550" w="933450">
                  <a:moveTo>
                    <a:pt x="0" y="0"/>
                  </a:moveTo>
                  <a:lnTo>
                    <a:pt x="895350" y="0"/>
                  </a:lnTo>
                  <a:cubicBezTo>
                    <a:pt x="916432" y="0"/>
                    <a:pt x="933450" y="17018"/>
                    <a:pt x="933450" y="38100"/>
                  </a:cubicBezTo>
                  <a:lnTo>
                    <a:pt x="933450" y="933450"/>
                  </a:lnTo>
                  <a:cubicBezTo>
                    <a:pt x="933450" y="954532"/>
                    <a:pt x="916432" y="971550"/>
                    <a:pt x="895350" y="971550"/>
                  </a:cubicBezTo>
                  <a:lnTo>
                    <a:pt x="0" y="971550"/>
                  </a:lnTo>
                  <a:lnTo>
                    <a:pt x="0" y="895350"/>
                  </a:lnTo>
                  <a:lnTo>
                    <a:pt x="895350" y="895350"/>
                  </a:lnTo>
                  <a:lnTo>
                    <a:pt x="895350" y="933450"/>
                  </a:lnTo>
                  <a:lnTo>
                    <a:pt x="857250" y="933450"/>
                  </a:lnTo>
                  <a:lnTo>
                    <a:pt x="857250" y="38100"/>
                  </a:lnTo>
                  <a:lnTo>
                    <a:pt x="895350" y="38100"/>
                  </a:lnTo>
                  <a:lnTo>
                    <a:pt x="8953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539409" y="433388"/>
            <a:ext cx="3205162" cy="762000"/>
            <a:chOff x="0" y="0"/>
            <a:chExt cx="4273550" cy="101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4171950" cy="914400"/>
            </a:xfrm>
            <a:custGeom>
              <a:avLst/>
              <a:gdLst/>
              <a:ahLst/>
              <a:cxnLst/>
              <a:rect r="r" b="b" t="t" l="l"/>
              <a:pathLst>
                <a:path h="914400" w="4171950">
                  <a:moveTo>
                    <a:pt x="0" y="0"/>
                  </a:moveTo>
                  <a:lnTo>
                    <a:pt x="4171950" y="0"/>
                  </a:lnTo>
                  <a:lnTo>
                    <a:pt x="4171950" y="914400"/>
                  </a:lnTo>
                  <a:lnTo>
                    <a:pt x="0" y="9144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4222750" cy="1016000"/>
            </a:xfrm>
            <a:custGeom>
              <a:avLst/>
              <a:gdLst/>
              <a:ahLst/>
              <a:cxnLst/>
              <a:rect r="r" b="b" t="t" l="l"/>
              <a:pathLst>
                <a:path h="1016000" w="4222750">
                  <a:moveTo>
                    <a:pt x="0" y="0"/>
                  </a:moveTo>
                  <a:lnTo>
                    <a:pt x="4171950" y="0"/>
                  </a:lnTo>
                  <a:cubicBezTo>
                    <a:pt x="4200017" y="0"/>
                    <a:pt x="4222750" y="22733"/>
                    <a:pt x="4222750" y="50800"/>
                  </a:cubicBezTo>
                  <a:lnTo>
                    <a:pt x="4222750" y="965200"/>
                  </a:lnTo>
                  <a:cubicBezTo>
                    <a:pt x="4222750" y="993267"/>
                    <a:pt x="4200017" y="1016000"/>
                    <a:pt x="4171950" y="1016000"/>
                  </a:cubicBezTo>
                  <a:lnTo>
                    <a:pt x="0" y="1016000"/>
                  </a:lnTo>
                  <a:lnTo>
                    <a:pt x="0" y="914400"/>
                  </a:lnTo>
                  <a:lnTo>
                    <a:pt x="4171950" y="914400"/>
                  </a:lnTo>
                  <a:lnTo>
                    <a:pt x="4171950" y="965200"/>
                  </a:lnTo>
                  <a:lnTo>
                    <a:pt x="4121150" y="965200"/>
                  </a:lnTo>
                  <a:lnTo>
                    <a:pt x="4121150" y="50800"/>
                  </a:lnTo>
                  <a:lnTo>
                    <a:pt x="4171950" y="50800"/>
                  </a:lnTo>
                  <a:lnTo>
                    <a:pt x="41719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484640" y="442912"/>
            <a:ext cx="3218259" cy="817409"/>
            <a:chOff x="0" y="0"/>
            <a:chExt cx="4267200" cy="10838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67200" cy="1083831"/>
            </a:xfrm>
            <a:custGeom>
              <a:avLst/>
              <a:gdLst/>
              <a:ahLst/>
              <a:cxnLst/>
              <a:rect r="r" b="b" t="t" l="l"/>
              <a:pathLst>
                <a:path h="1083831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1083831"/>
                  </a:lnTo>
                  <a:lnTo>
                    <a:pt x="0" y="1083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047" r="0" b="-1538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4267200" cy="11600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59"/>
                </a:lnSpc>
              </a:pPr>
              <a:r>
                <a:rPr lang="en-US" sz="2025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SAPTHAGIRI NPS UNIVERSITY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796903" y="1985962"/>
            <a:ext cx="11529650" cy="4161772"/>
            <a:chOff x="0" y="0"/>
            <a:chExt cx="14249400" cy="51435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249400" cy="5143500"/>
            </a:xfrm>
            <a:custGeom>
              <a:avLst/>
              <a:gdLst/>
              <a:ahLst/>
              <a:cxnLst/>
              <a:rect r="r" b="b" t="t" l="l"/>
              <a:pathLst>
                <a:path h="5143500" w="14249400">
                  <a:moveTo>
                    <a:pt x="0" y="0"/>
                  </a:moveTo>
                  <a:lnTo>
                    <a:pt x="14249400" y="0"/>
                  </a:lnTo>
                  <a:lnTo>
                    <a:pt x="14249400" y="5143500"/>
                  </a:lnTo>
                  <a:lnTo>
                    <a:pt x="0" y="5143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0" r="0" b="-39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4249400" cy="5172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Smart Courier &amp;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Logistics Optimization</a:t>
              </a:r>
            </a:p>
            <a:p>
              <a:pPr algn="ctr">
                <a:lnSpc>
                  <a:spcPts val="9720"/>
                </a:lnSpc>
              </a:pPr>
              <a:r>
                <a:rPr lang="en-US" sz="81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062711" y="6186488"/>
            <a:ext cx="4157662" cy="514350"/>
            <a:chOff x="0" y="0"/>
            <a:chExt cx="5543550" cy="685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543550" cy="685800"/>
            </a:xfrm>
            <a:custGeom>
              <a:avLst/>
              <a:gdLst/>
              <a:ahLst/>
              <a:cxnLst/>
              <a:rect r="r" b="b" t="t" l="l"/>
              <a:pathLst>
                <a:path h="685800" w="5543550">
                  <a:moveTo>
                    <a:pt x="0" y="0"/>
                  </a:moveTo>
                  <a:lnTo>
                    <a:pt x="5543550" y="0"/>
                  </a:lnTo>
                  <a:lnTo>
                    <a:pt x="5543550" y="685800"/>
                  </a:lnTo>
                  <a:lnTo>
                    <a:pt x="0" y="685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504" r="0" b="-10750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554355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50"/>
                </a:lnSpc>
              </a:pPr>
              <a:r>
                <a:rPr lang="en-US" sz="3375" b="true">
                  <a:solidFill>
                    <a:srgbClr val="4ECDC4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Using DAA Concepts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55968" y="7496175"/>
            <a:ext cx="180975" cy="180975"/>
            <a:chOff x="0" y="0"/>
            <a:chExt cx="241300" cy="2413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5400" y="2540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5400" y="0"/>
              <a:ext cx="215900" cy="241300"/>
            </a:xfrm>
            <a:custGeom>
              <a:avLst/>
              <a:gdLst/>
              <a:ahLst/>
              <a:cxnLst/>
              <a:rect r="r" b="b" t="t" l="l"/>
              <a:pathLst>
                <a:path h="241300" w="215900">
                  <a:moveTo>
                    <a:pt x="0" y="0"/>
                  </a:moveTo>
                  <a:lnTo>
                    <a:pt x="190500" y="0"/>
                  </a:lnTo>
                  <a:cubicBezTo>
                    <a:pt x="204470" y="0"/>
                    <a:pt x="215900" y="11430"/>
                    <a:pt x="215900" y="25400"/>
                  </a:cubicBezTo>
                  <a:lnTo>
                    <a:pt x="215900" y="215900"/>
                  </a:lnTo>
                  <a:cubicBezTo>
                    <a:pt x="215900" y="229870"/>
                    <a:pt x="204470" y="241300"/>
                    <a:pt x="190500" y="241300"/>
                  </a:cubicBezTo>
                  <a:lnTo>
                    <a:pt x="0" y="241300"/>
                  </a:lnTo>
                  <a:lnTo>
                    <a:pt x="0" y="190500"/>
                  </a:lnTo>
                  <a:lnTo>
                    <a:pt x="190500" y="190500"/>
                  </a:lnTo>
                  <a:lnTo>
                    <a:pt x="190500" y="215900"/>
                  </a:lnTo>
                  <a:lnTo>
                    <a:pt x="165100" y="215900"/>
                  </a:lnTo>
                  <a:lnTo>
                    <a:pt x="165100" y="25400"/>
                  </a:lnTo>
                  <a:lnTo>
                    <a:pt x="190500" y="25400"/>
                  </a:lnTo>
                  <a:lnTo>
                    <a:pt x="190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636943" y="7386638"/>
            <a:ext cx="3351347" cy="444728"/>
            <a:chOff x="0" y="0"/>
            <a:chExt cx="4019550" cy="533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019550" cy="533400"/>
            </a:xfrm>
            <a:custGeom>
              <a:avLst/>
              <a:gdLst/>
              <a:ahLst/>
              <a:cxnLst/>
              <a:rect r="r" b="b" t="t" l="l"/>
              <a:pathLst>
                <a:path h="533400" w="4019550">
                  <a:moveTo>
                    <a:pt x="0" y="0"/>
                  </a:moveTo>
                  <a:lnTo>
                    <a:pt x="4019550" y="0"/>
                  </a:lnTo>
                  <a:lnTo>
                    <a:pt x="40195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833" r="0" b="-9683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40195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Team Member 1 — SRN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596438" y="7496175"/>
            <a:ext cx="180975" cy="180975"/>
            <a:chOff x="0" y="0"/>
            <a:chExt cx="241300" cy="2413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2540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400" y="0"/>
              <a:ext cx="215900" cy="241300"/>
            </a:xfrm>
            <a:custGeom>
              <a:avLst/>
              <a:gdLst/>
              <a:ahLst/>
              <a:cxnLst/>
              <a:rect r="r" b="b" t="t" l="l"/>
              <a:pathLst>
                <a:path h="241300" w="215900">
                  <a:moveTo>
                    <a:pt x="0" y="0"/>
                  </a:moveTo>
                  <a:lnTo>
                    <a:pt x="190500" y="0"/>
                  </a:lnTo>
                  <a:cubicBezTo>
                    <a:pt x="204470" y="0"/>
                    <a:pt x="215900" y="11430"/>
                    <a:pt x="215900" y="25400"/>
                  </a:cubicBezTo>
                  <a:lnTo>
                    <a:pt x="215900" y="215900"/>
                  </a:lnTo>
                  <a:cubicBezTo>
                    <a:pt x="215900" y="229870"/>
                    <a:pt x="204470" y="241300"/>
                    <a:pt x="190500" y="241300"/>
                  </a:cubicBezTo>
                  <a:lnTo>
                    <a:pt x="0" y="241300"/>
                  </a:lnTo>
                  <a:lnTo>
                    <a:pt x="0" y="190500"/>
                  </a:lnTo>
                  <a:lnTo>
                    <a:pt x="190500" y="190500"/>
                  </a:lnTo>
                  <a:lnTo>
                    <a:pt x="190500" y="215900"/>
                  </a:lnTo>
                  <a:lnTo>
                    <a:pt x="165100" y="215900"/>
                  </a:lnTo>
                  <a:lnTo>
                    <a:pt x="165100" y="25400"/>
                  </a:lnTo>
                  <a:lnTo>
                    <a:pt x="190500" y="25400"/>
                  </a:lnTo>
                  <a:lnTo>
                    <a:pt x="190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815512" y="7386638"/>
            <a:ext cx="3560153" cy="461501"/>
            <a:chOff x="0" y="0"/>
            <a:chExt cx="4114800" cy="533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148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41148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Team Member 2 — SRN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455968" y="8067675"/>
            <a:ext cx="180975" cy="180975"/>
            <a:chOff x="0" y="0"/>
            <a:chExt cx="241300" cy="2413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25400" y="2540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5400" y="0"/>
              <a:ext cx="215900" cy="241300"/>
            </a:xfrm>
            <a:custGeom>
              <a:avLst/>
              <a:gdLst/>
              <a:ahLst/>
              <a:cxnLst/>
              <a:rect r="r" b="b" t="t" l="l"/>
              <a:pathLst>
                <a:path h="241300" w="215900">
                  <a:moveTo>
                    <a:pt x="0" y="0"/>
                  </a:moveTo>
                  <a:lnTo>
                    <a:pt x="190500" y="0"/>
                  </a:lnTo>
                  <a:cubicBezTo>
                    <a:pt x="204470" y="0"/>
                    <a:pt x="215900" y="11430"/>
                    <a:pt x="215900" y="25400"/>
                  </a:cubicBezTo>
                  <a:lnTo>
                    <a:pt x="215900" y="215900"/>
                  </a:lnTo>
                  <a:cubicBezTo>
                    <a:pt x="215900" y="229870"/>
                    <a:pt x="204470" y="241300"/>
                    <a:pt x="190500" y="241300"/>
                  </a:cubicBezTo>
                  <a:lnTo>
                    <a:pt x="0" y="241300"/>
                  </a:lnTo>
                  <a:lnTo>
                    <a:pt x="0" y="190500"/>
                  </a:lnTo>
                  <a:lnTo>
                    <a:pt x="190500" y="190500"/>
                  </a:lnTo>
                  <a:lnTo>
                    <a:pt x="190500" y="215900"/>
                  </a:lnTo>
                  <a:lnTo>
                    <a:pt x="165100" y="215900"/>
                  </a:lnTo>
                  <a:lnTo>
                    <a:pt x="165100" y="25400"/>
                  </a:lnTo>
                  <a:lnTo>
                    <a:pt x="190500" y="25400"/>
                  </a:lnTo>
                  <a:lnTo>
                    <a:pt x="190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5675043" y="7958138"/>
            <a:ext cx="3409798" cy="442011"/>
            <a:chOff x="0" y="0"/>
            <a:chExt cx="4114800" cy="533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14800" cy="533400"/>
            </a:xfrm>
            <a:custGeom>
              <a:avLst/>
              <a:gdLst/>
              <a:ahLst/>
              <a:cxnLst/>
              <a:rect r="r" b="b" t="t" l="l"/>
              <a:pathLst>
                <a:path h="53340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41148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Team Member 3 — SRN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596438" y="8067675"/>
            <a:ext cx="180975" cy="180975"/>
            <a:chOff x="0" y="0"/>
            <a:chExt cx="241300" cy="2413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25400" y="25400"/>
              <a:ext cx="190500" cy="190500"/>
            </a:xfrm>
            <a:custGeom>
              <a:avLst/>
              <a:gdLst/>
              <a:ahLst/>
              <a:cxnLst/>
              <a:rect r="r" b="b" t="t" l="l"/>
              <a:pathLst>
                <a:path h="1905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190500"/>
                  </a:lnTo>
                  <a:lnTo>
                    <a:pt x="0" y="1905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25400" y="0"/>
              <a:ext cx="215900" cy="241300"/>
            </a:xfrm>
            <a:custGeom>
              <a:avLst/>
              <a:gdLst/>
              <a:ahLst/>
              <a:cxnLst/>
              <a:rect r="r" b="b" t="t" l="l"/>
              <a:pathLst>
                <a:path h="241300" w="215900">
                  <a:moveTo>
                    <a:pt x="0" y="0"/>
                  </a:moveTo>
                  <a:lnTo>
                    <a:pt x="190500" y="0"/>
                  </a:lnTo>
                  <a:cubicBezTo>
                    <a:pt x="204470" y="0"/>
                    <a:pt x="215900" y="11430"/>
                    <a:pt x="215900" y="25400"/>
                  </a:cubicBezTo>
                  <a:lnTo>
                    <a:pt x="215900" y="215900"/>
                  </a:lnTo>
                  <a:cubicBezTo>
                    <a:pt x="215900" y="229870"/>
                    <a:pt x="204470" y="241300"/>
                    <a:pt x="190500" y="241300"/>
                  </a:cubicBezTo>
                  <a:lnTo>
                    <a:pt x="0" y="241300"/>
                  </a:lnTo>
                  <a:lnTo>
                    <a:pt x="0" y="190500"/>
                  </a:lnTo>
                  <a:lnTo>
                    <a:pt x="190500" y="190500"/>
                  </a:lnTo>
                  <a:lnTo>
                    <a:pt x="190500" y="215900"/>
                  </a:lnTo>
                  <a:lnTo>
                    <a:pt x="165100" y="215900"/>
                  </a:lnTo>
                  <a:lnTo>
                    <a:pt x="165100" y="25400"/>
                  </a:lnTo>
                  <a:lnTo>
                    <a:pt x="190500" y="25400"/>
                  </a:lnTo>
                  <a:lnTo>
                    <a:pt x="1905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815512" y="7958138"/>
            <a:ext cx="1700212" cy="400050"/>
            <a:chOff x="0" y="0"/>
            <a:chExt cx="2266950" cy="533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66950" cy="533400"/>
            </a:xfrm>
            <a:custGeom>
              <a:avLst/>
              <a:gdLst/>
              <a:ahLst/>
              <a:cxnLst/>
              <a:rect r="r" b="b" t="t" l="l"/>
              <a:pathLst>
                <a:path h="533400" w="2266950">
                  <a:moveTo>
                    <a:pt x="0" y="0"/>
                  </a:moveTo>
                  <a:lnTo>
                    <a:pt x="2266950" y="0"/>
                  </a:lnTo>
                  <a:lnTo>
                    <a:pt x="2266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22669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Guide Name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50125" y="8920162"/>
            <a:ext cx="3190875" cy="933450"/>
            <a:chOff x="0" y="0"/>
            <a:chExt cx="4254500" cy="1244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50800" y="50800"/>
              <a:ext cx="41529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4152900">
                  <a:moveTo>
                    <a:pt x="0" y="0"/>
                  </a:moveTo>
                  <a:lnTo>
                    <a:pt x="4152900" y="0"/>
                  </a:lnTo>
                  <a:lnTo>
                    <a:pt x="4152900" y="1143000"/>
                  </a:lnTo>
                  <a:lnTo>
                    <a:pt x="0" y="11430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50800" y="0"/>
              <a:ext cx="42037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4203700">
                  <a:moveTo>
                    <a:pt x="0" y="0"/>
                  </a:moveTo>
                  <a:lnTo>
                    <a:pt x="4152900" y="0"/>
                  </a:lnTo>
                  <a:cubicBezTo>
                    <a:pt x="4180967" y="0"/>
                    <a:pt x="4203700" y="22733"/>
                    <a:pt x="4203700" y="50800"/>
                  </a:cubicBezTo>
                  <a:lnTo>
                    <a:pt x="4203700" y="1193800"/>
                  </a:lnTo>
                  <a:cubicBezTo>
                    <a:pt x="4203700" y="1221867"/>
                    <a:pt x="4180967" y="1244600"/>
                    <a:pt x="4152900" y="1244600"/>
                  </a:cubicBezTo>
                  <a:lnTo>
                    <a:pt x="0" y="1244600"/>
                  </a:lnTo>
                  <a:lnTo>
                    <a:pt x="0" y="1143000"/>
                  </a:lnTo>
                  <a:lnTo>
                    <a:pt x="4152900" y="1143000"/>
                  </a:lnTo>
                  <a:lnTo>
                    <a:pt x="4152900" y="1193800"/>
                  </a:lnTo>
                  <a:lnTo>
                    <a:pt x="4102100" y="1193800"/>
                  </a:lnTo>
                  <a:lnTo>
                    <a:pt x="4102100" y="50800"/>
                  </a:lnTo>
                  <a:lnTo>
                    <a:pt x="4152900" y="50800"/>
                  </a:lnTo>
                  <a:lnTo>
                    <a:pt x="41529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500000">
            <a:off x="16425367" y="280492"/>
            <a:ext cx="871538" cy="871538"/>
            <a:chOff x="0" y="0"/>
            <a:chExt cx="1162050" cy="1162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0" y="0"/>
                  </a:moveTo>
                  <a:lnTo>
                    <a:pt x="1085850" y="0"/>
                  </a:lnTo>
                  <a:lnTo>
                    <a:pt x="1085850" y="1085850"/>
                  </a:lnTo>
                  <a:lnTo>
                    <a:pt x="0" y="108585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8100" y="0"/>
              <a:ext cx="11239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1123950">
                  <a:moveTo>
                    <a:pt x="0" y="0"/>
                  </a:moveTo>
                  <a:lnTo>
                    <a:pt x="1085850" y="0"/>
                  </a:lnTo>
                  <a:cubicBezTo>
                    <a:pt x="1106932" y="0"/>
                    <a:pt x="1123950" y="17018"/>
                    <a:pt x="1123950" y="38100"/>
                  </a:cubicBezTo>
                  <a:lnTo>
                    <a:pt x="1123950" y="1123950"/>
                  </a:lnTo>
                  <a:cubicBezTo>
                    <a:pt x="1123950" y="1145032"/>
                    <a:pt x="1106932" y="1162050"/>
                    <a:pt x="1085850" y="1162050"/>
                  </a:cubicBezTo>
                  <a:lnTo>
                    <a:pt x="0" y="1162050"/>
                  </a:lnTo>
                  <a:lnTo>
                    <a:pt x="0" y="1085850"/>
                  </a:lnTo>
                  <a:lnTo>
                    <a:pt x="1085850" y="1085850"/>
                  </a:lnTo>
                  <a:lnTo>
                    <a:pt x="1085850" y="1123950"/>
                  </a:lnTo>
                  <a:lnTo>
                    <a:pt x="1047750" y="1123950"/>
                  </a:lnTo>
                  <a:lnTo>
                    <a:pt x="1047750" y="38100"/>
                  </a:lnTo>
                  <a:lnTo>
                    <a:pt x="1085850" y="38100"/>
                  </a:lnTo>
                  <a:lnTo>
                    <a:pt x="10858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64356" y="8565356"/>
            <a:ext cx="1157288" cy="1157288"/>
            <a:chOff x="0" y="0"/>
            <a:chExt cx="1543050" cy="1543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4668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466850">
                  <a:moveTo>
                    <a:pt x="0" y="733425"/>
                  </a:moveTo>
                  <a:cubicBezTo>
                    <a:pt x="0" y="328422"/>
                    <a:pt x="328422" y="0"/>
                    <a:pt x="733425" y="0"/>
                  </a:cubicBezTo>
                  <a:cubicBezTo>
                    <a:pt x="1138428" y="0"/>
                    <a:pt x="1466850" y="328422"/>
                    <a:pt x="1466850" y="733425"/>
                  </a:cubicBezTo>
                  <a:cubicBezTo>
                    <a:pt x="1466850" y="1138428"/>
                    <a:pt x="1138428" y="1466850"/>
                    <a:pt x="733425" y="1466850"/>
                  </a:cubicBezTo>
                  <a:cubicBezTo>
                    <a:pt x="328422" y="1466850"/>
                    <a:pt x="0" y="1138428"/>
                    <a:pt x="0" y="733425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430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43050">
                  <a:moveTo>
                    <a:pt x="0" y="771525"/>
                  </a:moveTo>
                  <a:cubicBezTo>
                    <a:pt x="0" y="345440"/>
                    <a:pt x="345440" y="0"/>
                    <a:pt x="771525" y="0"/>
                  </a:cubicBezTo>
                  <a:cubicBezTo>
                    <a:pt x="783082" y="0"/>
                    <a:pt x="794004" y="5207"/>
                    <a:pt x="801243" y="14351"/>
                  </a:cubicBezTo>
                  <a:lnTo>
                    <a:pt x="771525" y="38100"/>
                  </a:lnTo>
                  <a:lnTo>
                    <a:pt x="771525" y="0"/>
                  </a:lnTo>
                  <a:lnTo>
                    <a:pt x="771525" y="38100"/>
                  </a:lnTo>
                  <a:lnTo>
                    <a:pt x="771525" y="0"/>
                  </a:lnTo>
                  <a:cubicBezTo>
                    <a:pt x="1197610" y="0"/>
                    <a:pt x="1543050" y="345440"/>
                    <a:pt x="1543050" y="771525"/>
                  </a:cubicBezTo>
                  <a:cubicBezTo>
                    <a:pt x="1543050" y="783463"/>
                    <a:pt x="1537462" y="794766"/>
                    <a:pt x="1527810" y="802005"/>
                  </a:cubicBezTo>
                  <a:lnTo>
                    <a:pt x="1504950" y="771525"/>
                  </a:lnTo>
                  <a:lnTo>
                    <a:pt x="1543050" y="771525"/>
                  </a:lnTo>
                  <a:cubicBezTo>
                    <a:pt x="1543050" y="1197610"/>
                    <a:pt x="1197610" y="1543050"/>
                    <a:pt x="771525" y="1543050"/>
                  </a:cubicBezTo>
                  <a:lnTo>
                    <a:pt x="771525" y="1504950"/>
                  </a:lnTo>
                  <a:lnTo>
                    <a:pt x="771525" y="1543050"/>
                  </a:lnTo>
                  <a:cubicBezTo>
                    <a:pt x="345440" y="1543050"/>
                    <a:pt x="0" y="1197610"/>
                    <a:pt x="0" y="771525"/>
                  </a:cubicBezTo>
                  <a:lnTo>
                    <a:pt x="38100" y="771525"/>
                  </a:lnTo>
                  <a:lnTo>
                    <a:pt x="0" y="771525"/>
                  </a:lnTo>
                  <a:moveTo>
                    <a:pt x="76200" y="771525"/>
                  </a:moveTo>
                  <a:lnTo>
                    <a:pt x="38100" y="771525"/>
                  </a:lnTo>
                  <a:lnTo>
                    <a:pt x="76200" y="771525"/>
                  </a:lnTo>
                  <a:cubicBezTo>
                    <a:pt x="76200" y="1155573"/>
                    <a:pt x="387477" y="1466850"/>
                    <a:pt x="771525" y="1466850"/>
                  </a:cubicBezTo>
                  <a:cubicBezTo>
                    <a:pt x="1155573" y="1466850"/>
                    <a:pt x="1466850" y="1155573"/>
                    <a:pt x="1466850" y="771525"/>
                  </a:cubicBezTo>
                  <a:cubicBezTo>
                    <a:pt x="1466850" y="759587"/>
                    <a:pt x="1472438" y="748284"/>
                    <a:pt x="1482090" y="741045"/>
                  </a:cubicBezTo>
                  <a:lnTo>
                    <a:pt x="1504950" y="771525"/>
                  </a:lnTo>
                  <a:lnTo>
                    <a:pt x="1466850" y="771525"/>
                  </a:lnTo>
                  <a:cubicBezTo>
                    <a:pt x="1466850" y="387477"/>
                    <a:pt x="1155573" y="76200"/>
                    <a:pt x="771525" y="76200"/>
                  </a:cubicBezTo>
                  <a:cubicBezTo>
                    <a:pt x="759968" y="76200"/>
                    <a:pt x="749046" y="70993"/>
                    <a:pt x="741807" y="61849"/>
                  </a:cubicBezTo>
                  <a:lnTo>
                    <a:pt x="771525" y="38100"/>
                  </a:lnTo>
                  <a:lnTo>
                    <a:pt x="771525" y="76200"/>
                  </a:lnTo>
                  <a:cubicBezTo>
                    <a:pt x="387477" y="76200"/>
                    <a:pt x="76200" y="387477"/>
                    <a:pt x="76200" y="771525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900000">
            <a:off x="-301733" y="2055705"/>
            <a:ext cx="728662" cy="728662"/>
            <a:chOff x="0" y="0"/>
            <a:chExt cx="971550" cy="971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895350" cy="895350"/>
            </a:xfrm>
            <a:custGeom>
              <a:avLst/>
              <a:gdLst/>
              <a:ahLst/>
              <a:cxnLst/>
              <a:rect r="r" b="b" t="t" l="l"/>
              <a:pathLst>
                <a:path h="895350" w="895350">
                  <a:moveTo>
                    <a:pt x="0" y="0"/>
                  </a:moveTo>
                  <a:lnTo>
                    <a:pt x="895350" y="0"/>
                  </a:lnTo>
                  <a:lnTo>
                    <a:pt x="895350" y="895350"/>
                  </a:lnTo>
                  <a:lnTo>
                    <a:pt x="0" y="89535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933450" cy="971550"/>
            </a:xfrm>
            <a:custGeom>
              <a:avLst/>
              <a:gdLst/>
              <a:ahLst/>
              <a:cxnLst/>
              <a:rect r="r" b="b" t="t" l="l"/>
              <a:pathLst>
                <a:path h="971550" w="933450">
                  <a:moveTo>
                    <a:pt x="0" y="0"/>
                  </a:moveTo>
                  <a:lnTo>
                    <a:pt x="895350" y="0"/>
                  </a:lnTo>
                  <a:cubicBezTo>
                    <a:pt x="916432" y="0"/>
                    <a:pt x="933450" y="17018"/>
                    <a:pt x="933450" y="38100"/>
                  </a:cubicBezTo>
                  <a:lnTo>
                    <a:pt x="933450" y="933450"/>
                  </a:lnTo>
                  <a:cubicBezTo>
                    <a:pt x="933450" y="954532"/>
                    <a:pt x="916432" y="971550"/>
                    <a:pt x="895350" y="971550"/>
                  </a:cubicBezTo>
                  <a:lnTo>
                    <a:pt x="0" y="971550"/>
                  </a:lnTo>
                  <a:lnTo>
                    <a:pt x="0" y="895350"/>
                  </a:lnTo>
                  <a:lnTo>
                    <a:pt x="895350" y="895350"/>
                  </a:lnTo>
                  <a:lnTo>
                    <a:pt x="895350" y="933450"/>
                  </a:lnTo>
                  <a:lnTo>
                    <a:pt x="857250" y="933450"/>
                  </a:lnTo>
                  <a:lnTo>
                    <a:pt x="857250" y="38100"/>
                  </a:lnTo>
                  <a:lnTo>
                    <a:pt x="895350" y="38100"/>
                  </a:lnTo>
                  <a:lnTo>
                    <a:pt x="8953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1975" y="561975"/>
            <a:ext cx="2747962" cy="704850"/>
            <a:chOff x="0" y="0"/>
            <a:chExt cx="3663950" cy="93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562350" cy="838200"/>
            </a:xfrm>
            <a:custGeom>
              <a:avLst/>
              <a:gdLst/>
              <a:ahLst/>
              <a:cxnLst/>
              <a:rect r="r" b="b" t="t" l="l"/>
              <a:pathLst>
                <a:path h="838200" w="3562350">
                  <a:moveTo>
                    <a:pt x="0" y="0"/>
                  </a:moveTo>
                  <a:lnTo>
                    <a:pt x="3562350" y="0"/>
                  </a:lnTo>
                  <a:lnTo>
                    <a:pt x="3562350" y="838200"/>
                  </a:lnTo>
                  <a:lnTo>
                    <a:pt x="0" y="8382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613150" cy="939800"/>
            </a:xfrm>
            <a:custGeom>
              <a:avLst/>
              <a:gdLst/>
              <a:ahLst/>
              <a:cxnLst/>
              <a:rect r="r" b="b" t="t" l="l"/>
              <a:pathLst>
                <a:path h="939800" w="3613150">
                  <a:moveTo>
                    <a:pt x="0" y="0"/>
                  </a:moveTo>
                  <a:lnTo>
                    <a:pt x="3562350" y="0"/>
                  </a:lnTo>
                  <a:cubicBezTo>
                    <a:pt x="3590417" y="0"/>
                    <a:pt x="3613150" y="22733"/>
                    <a:pt x="3613150" y="50800"/>
                  </a:cubicBezTo>
                  <a:lnTo>
                    <a:pt x="3613150" y="889000"/>
                  </a:lnTo>
                  <a:cubicBezTo>
                    <a:pt x="3613150" y="917067"/>
                    <a:pt x="3590417" y="939800"/>
                    <a:pt x="3562350" y="939800"/>
                  </a:cubicBezTo>
                  <a:lnTo>
                    <a:pt x="0" y="939800"/>
                  </a:lnTo>
                  <a:lnTo>
                    <a:pt x="0" y="838200"/>
                  </a:lnTo>
                  <a:lnTo>
                    <a:pt x="3562350" y="838200"/>
                  </a:lnTo>
                  <a:lnTo>
                    <a:pt x="3562350" y="889000"/>
                  </a:lnTo>
                  <a:lnTo>
                    <a:pt x="3511550" y="889000"/>
                  </a:lnTo>
                  <a:lnTo>
                    <a:pt x="3511550" y="50800"/>
                  </a:lnTo>
                  <a:lnTo>
                    <a:pt x="3562350" y="50800"/>
                  </a:lnTo>
                  <a:lnTo>
                    <a:pt x="35623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1500" y="571500"/>
            <a:ext cx="2728912" cy="571500"/>
            <a:chOff x="0" y="0"/>
            <a:chExt cx="363855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38550" cy="762000"/>
            </a:xfrm>
            <a:custGeom>
              <a:avLst/>
              <a:gdLst/>
              <a:ahLst/>
              <a:cxnLst/>
              <a:rect r="r" b="b" t="t" l="l"/>
              <a:pathLst>
                <a:path h="762000" w="3638550">
                  <a:moveTo>
                    <a:pt x="0" y="0"/>
                  </a:moveTo>
                  <a:lnTo>
                    <a:pt x="3638550" y="0"/>
                  </a:lnTo>
                  <a:lnTo>
                    <a:pt x="36385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041" r="0" b="-4304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63855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OVERVIEW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1500" y="1485900"/>
            <a:ext cx="17487900" cy="685800"/>
            <a:chOff x="0" y="0"/>
            <a:chExt cx="23317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1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0"/>
              <a:ext cx="233172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Abstract / Synopsis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1975" y="2505075"/>
            <a:ext cx="8420100" cy="2990850"/>
            <a:chOff x="0" y="0"/>
            <a:chExt cx="11226800" cy="3987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11125200" cy="3886200"/>
            </a:xfrm>
            <a:custGeom>
              <a:avLst/>
              <a:gdLst/>
              <a:ahLst/>
              <a:cxnLst/>
              <a:rect r="r" b="b" t="t" l="l"/>
              <a:pathLst>
                <a:path h="38862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3886200"/>
                  </a:lnTo>
                  <a:lnTo>
                    <a:pt x="0" y="38862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11176000" cy="3987800"/>
            </a:xfrm>
            <a:custGeom>
              <a:avLst/>
              <a:gdLst/>
              <a:ahLst/>
              <a:cxnLst/>
              <a:rect r="r" b="b" t="t" l="l"/>
              <a:pathLst>
                <a:path h="3987800" w="11176000">
                  <a:moveTo>
                    <a:pt x="0" y="0"/>
                  </a:moveTo>
                  <a:lnTo>
                    <a:pt x="11125200" y="0"/>
                  </a:lnTo>
                  <a:cubicBezTo>
                    <a:pt x="11153267" y="0"/>
                    <a:pt x="11176000" y="22733"/>
                    <a:pt x="11176000" y="50800"/>
                  </a:cubicBezTo>
                  <a:lnTo>
                    <a:pt x="11176000" y="3937000"/>
                  </a:lnTo>
                  <a:cubicBezTo>
                    <a:pt x="11176000" y="3965067"/>
                    <a:pt x="11153267" y="3987800"/>
                    <a:pt x="11125200" y="3987800"/>
                  </a:cubicBezTo>
                  <a:lnTo>
                    <a:pt x="0" y="3987800"/>
                  </a:lnTo>
                  <a:lnTo>
                    <a:pt x="0" y="3886200"/>
                  </a:lnTo>
                  <a:lnTo>
                    <a:pt x="11125200" y="3886200"/>
                  </a:lnTo>
                  <a:lnTo>
                    <a:pt x="11125200" y="3937000"/>
                  </a:lnTo>
                  <a:lnTo>
                    <a:pt x="11074400" y="3937000"/>
                  </a:lnTo>
                  <a:lnTo>
                    <a:pt x="11074400" y="50800"/>
                  </a:lnTo>
                  <a:lnTo>
                    <a:pt x="11125200" y="50800"/>
                  </a:lnTo>
                  <a:lnTo>
                    <a:pt x="111252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04875" y="2847975"/>
            <a:ext cx="819150" cy="819150"/>
            <a:chOff x="0" y="0"/>
            <a:chExt cx="1092200" cy="1092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0414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1041400">
                  <a:moveTo>
                    <a:pt x="0" y="0"/>
                  </a:moveTo>
                  <a:lnTo>
                    <a:pt x="990600" y="0"/>
                  </a:lnTo>
                  <a:cubicBezTo>
                    <a:pt x="1018667" y="0"/>
                    <a:pt x="1041400" y="22733"/>
                    <a:pt x="1041400" y="50800"/>
                  </a:cubicBezTo>
                  <a:lnTo>
                    <a:pt x="1041400" y="1041400"/>
                  </a:lnTo>
                  <a:cubicBezTo>
                    <a:pt x="1041400" y="1069467"/>
                    <a:pt x="1018667" y="1092200"/>
                    <a:pt x="990600" y="1092200"/>
                  </a:cubicBezTo>
                  <a:lnTo>
                    <a:pt x="0" y="1092200"/>
                  </a:lnTo>
                  <a:lnTo>
                    <a:pt x="0" y="990600"/>
                  </a:lnTo>
                  <a:lnTo>
                    <a:pt x="990600" y="990600"/>
                  </a:lnTo>
                  <a:lnTo>
                    <a:pt x="990600" y="1041400"/>
                  </a:lnTo>
                  <a:lnTo>
                    <a:pt x="939800" y="1041400"/>
                  </a:lnTo>
                  <a:lnTo>
                    <a:pt x="939800" y="50800"/>
                  </a:lnTo>
                  <a:lnTo>
                    <a:pt x="990600" y="50800"/>
                  </a:lnTo>
                  <a:lnTo>
                    <a:pt x="990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43000" y="308610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885950" y="2956312"/>
            <a:ext cx="3874441" cy="529838"/>
            <a:chOff x="0" y="0"/>
            <a:chExt cx="445770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457700" cy="609600"/>
            </a:xfrm>
            <a:custGeom>
              <a:avLst/>
              <a:gdLst/>
              <a:ahLst/>
              <a:cxnLst/>
              <a:rect r="r" b="b" t="t" l="l"/>
              <a:pathLst>
                <a:path h="609600" w="4457700">
                  <a:moveTo>
                    <a:pt x="0" y="0"/>
                  </a:moveTo>
                  <a:lnTo>
                    <a:pt x="4457700" y="0"/>
                  </a:lnTo>
                  <a:lnTo>
                    <a:pt x="44577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484" r="0" b="-9248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44577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Web-Based Platform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3886200"/>
            <a:ext cx="7843838" cy="1257300"/>
            <a:chOff x="0" y="0"/>
            <a:chExt cx="10458450" cy="1676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584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0" r="0" b="-7156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0458450" cy="178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A comprehensive </a:t>
              </a:r>
              <a:r>
                <a:rPr lang="en-US" sz="202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logistics management system</a:t>
              </a:r>
              <a:r>
                <a:rPr lang="en-US" sz="202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built as a web application, providing centralized control over all delivery operations through an intuitive dashboard interface.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05925" y="2505075"/>
            <a:ext cx="8420100" cy="2990850"/>
            <a:chOff x="0" y="0"/>
            <a:chExt cx="11226800" cy="3987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0800" y="50800"/>
              <a:ext cx="11125200" cy="3886200"/>
            </a:xfrm>
            <a:custGeom>
              <a:avLst/>
              <a:gdLst/>
              <a:ahLst/>
              <a:cxnLst/>
              <a:rect r="r" b="b" t="t" l="l"/>
              <a:pathLst>
                <a:path h="38862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3886200"/>
                  </a:lnTo>
                  <a:lnTo>
                    <a:pt x="0" y="38862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0800" y="0"/>
              <a:ext cx="11176000" cy="3987800"/>
            </a:xfrm>
            <a:custGeom>
              <a:avLst/>
              <a:gdLst/>
              <a:ahLst/>
              <a:cxnLst/>
              <a:rect r="r" b="b" t="t" l="l"/>
              <a:pathLst>
                <a:path h="3987800" w="11176000">
                  <a:moveTo>
                    <a:pt x="0" y="0"/>
                  </a:moveTo>
                  <a:lnTo>
                    <a:pt x="11125200" y="0"/>
                  </a:lnTo>
                  <a:cubicBezTo>
                    <a:pt x="11153267" y="0"/>
                    <a:pt x="11176000" y="22733"/>
                    <a:pt x="11176000" y="50800"/>
                  </a:cubicBezTo>
                  <a:lnTo>
                    <a:pt x="11176000" y="3937000"/>
                  </a:lnTo>
                  <a:cubicBezTo>
                    <a:pt x="11176000" y="3965067"/>
                    <a:pt x="11153267" y="3987800"/>
                    <a:pt x="11125200" y="3987800"/>
                  </a:cubicBezTo>
                  <a:lnTo>
                    <a:pt x="0" y="3987800"/>
                  </a:lnTo>
                  <a:lnTo>
                    <a:pt x="0" y="3886200"/>
                  </a:lnTo>
                  <a:lnTo>
                    <a:pt x="11125200" y="3886200"/>
                  </a:lnTo>
                  <a:lnTo>
                    <a:pt x="11125200" y="3937000"/>
                  </a:lnTo>
                  <a:lnTo>
                    <a:pt x="11074400" y="3937000"/>
                  </a:lnTo>
                  <a:lnTo>
                    <a:pt x="11074400" y="50800"/>
                  </a:lnTo>
                  <a:lnTo>
                    <a:pt x="11125200" y="50800"/>
                  </a:lnTo>
                  <a:lnTo>
                    <a:pt x="111252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48825" y="2847975"/>
            <a:ext cx="819150" cy="819150"/>
            <a:chOff x="0" y="0"/>
            <a:chExt cx="1092200" cy="1092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50800" y="5080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50800" y="0"/>
              <a:ext cx="10414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1041400">
                  <a:moveTo>
                    <a:pt x="0" y="0"/>
                  </a:moveTo>
                  <a:lnTo>
                    <a:pt x="990600" y="0"/>
                  </a:lnTo>
                  <a:cubicBezTo>
                    <a:pt x="1018667" y="0"/>
                    <a:pt x="1041400" y="22733"/>
                    <a:pt x="1041400" y="50800"/>
                  </a:cubicBezTo>
                  <a:lnTo>
                    <a:pt x="1041400" y="1041400"/>
                  </a:lnTo>
                  <a:cubicBezTo>
                    <a:pt x="1041400" y="1069467"/>
                    <a:pt x="1018667" y="1092200"/>
                    <a:pt x="990600" y="1092200"/>
                  </a:cubicBezTo>
                  <a:lnTo>
                    <a:pt x="0" y="1092200"/>
                  </a:lnTo>
                  <a:lnTo>
                    <a:pt x="0" y="990600"/>
                  </a:lnTo>
                  <a:lnTo>
                    <a:pt x="990600" y="990600"/>
                  </a:lnTo>
                  <a:lnTo>
                    <a:pt x="990600" y="1041400"/>
                  </a:lnTo>
                  <a:lnTo>
                    <a:pt x="939800" y="1041400"/>
                  </a:lnTo>
                  <a:lnTo>
                    <a:pt x="939800" y="50800"/>
                  </a:lnTo>
                  <a:lnTo>
                    <a:pt x="990600" y="50800"/>
                  </a:lnTo>
                  <a:lnTo>
                    <a:pt x="990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9886950" y="3086100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0629900" y="2956312"/>
            <a:ext cx="3592965" cy="529838"/>
            <a:chOff x="0" y="0"/>
            <a:chExt cx="4133850" cy="6096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33850" cy="609600"/>
            </a:xfrm>
            <a:custGeom>
              <a:avLst/>
              <a:gdLst/>
              <a:ahLst/>
              <a:cxnLst/>
              <a:rect r="r" b="b" t="t" l="l"/>
              <a:pathLst>
                <a:path h="609600" w="4133850">
                  <a:moveTo>
                    <a:pt x="0" y="0"/>
                  </a:moveTo>
                  <a:lnTo>
                    <a:pt x="4133850" y="0"/>
                  </a:lnTo>
                  <a:lnTo>
                    <a:pt x="41338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132" r="0" b="-8213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41338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Route Optimization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658350" y="3886200"/>
            <a:ext cx="7843838" cy="1257300"/>
            <a:chOff x="0" y="0"/>
            <a:chExt cx="10458450" cy="1676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584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0" r="0" b="-7156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04775"/>
              <a:ext cx="10458450" cy="178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Utilizes </a:t>
              </a:r>
              <a:r>
                <a:rPr lang="en-US" sz="202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Dijkstra's Algorithm</a:t>
              </a:r>
              <a:r>
                <a:rPr lang="en-US" sz="202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to calculate the most efficient delivery routes, minimizing travel distance and time while maximizing delivery capacity.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61975" y="5816203"/>
            <a:ext cx="8420100" cy="2990850"/>
            <a:chOff x="0" y="0"/>
            <a:chExt cx="11226800" cy="3987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50800" y="50800"/>
              <a:ext cx="11125200" cy="3886200"/>
            </a:xfrm>
            <a:custGeom>
              <a:avLst/>
              <a:gdLst/>
              <a:ahLst/>
              <a:cxnLst/>
              <a:rect r="r" b="b" t="t" l="l"/>
              <a:pathLst>
                <a:path h="38862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3886200"/>
                  </a:lnTo>
                  <a:lnTo>
                    <a:pt x="0" y="38862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0800" y="0"/>
              <a:ext cx="11176000" cy="3987800"/>
            </a:xfrm>
            <a:custGeom>
              <a:avLst/>
              <a:gdLst/>
              <a:ahLst/>
              <a:cxnLst/>
              <a:rect r="r" b="b" t="t" l="l"/>
              <a:pathLst>
                <a:path h="3987800" w="11176000">
                  <a:moveTo>
                    <a:pt x="0" y="0"/>
                  </a:moveTo>
                  <a:lnTo>
                    <a:pt x="11125200" y="0"/>
                  </a:lnTo>
                  <a:cubicBezTo>
                    <a:pt x="11153267" y="0"/>
                    <a:pt x="11176000" y="22733"/>
                    <a:pt x="11176000" y="50800"/>
                  </a:cubicBezTo>
                  <a:lnTo>
                    <a:pt x="11176000" y="3937000"/>
                  </a:lnTo>
                  <a:cubicBezTo>
                    <a:pt x="11176000" y="3965067"/>
                    <a:pt x="11153267" y="3987800"/>
                    <a:pt x="11125200" y="3987800"/>
                  </a:cubicBezTo>
                  <a:lnTo>
                    <a:pt x="0" y="3987800"/>
                  </a:lnTo>
                  <a:lnTo>
                    <a:pt x="0" y="3886200"/>
                  </a:lnTo>
                  <a:lnTo>
                    <a:pt x="11125200" y="3886200"/>
                  </a:lnTo>
                  <a:lnTo>
                    <a:pt x="11125200" y="3937000"/>
                  </a:lnTo>
                  <a:lnTo>
                    <a:pt x="11074400" y="3937000"/>
                  </a:lnTo>
                  <a:lnTo>
                    <a:pt x="11074400" y="50800"/>
                  </a:lnTo>
                  <a:lnTo>
                    <a:pt x="11125200" y="50800"/>
                  </a:lnTo>
                  <a:lnTo>
                    <a:pt x="111252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04875" y="6159103"/>
            <a:ext cx="819150" cy="819150"/>
            <a:chOff x="0" y="0"/>
            <a:chExt cx="1092200" cy="10922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0800" y="5080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50800" y="0"/>
              <a:ext cx="10414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1041400">
                  <a:moveTo>
                    <a:pt x="0" y="0"/>
                  </a:moveTo>
                  <a:lnTo>
                    <a:pt x="990600" y="0"/>
                  </a:lnTo>
                  <a:cubicBezTo>
                    <a:pt x="1018667" y="0"/>
                    <a:pt x="1041400" y="22733"/>
                    <a:pt x="1041400" y="50800"/>
                  </a:cubicBezTo>
                  <a:lnTo>
                    <a:pt x="1041400" y="1041400"/>
                  </a:lnTo>
                  <a:cubicBezTo>
                    <a:pt x="1041400" y="1069467"/>
                    <a:pt x="1018667" y="1092200"/>
                    <a:pt x="990600" y="1092200"/>
                  </a:cubicBezTo>
                  <a:lnTo>
                    <a:pt x="0" y="1092200"/>
                  </a:lnTo>
                  <a:lnTo>
                    <a:pt x="0" y="990600"/>
                  </a:lnTo>
                  <a:lnTo>
                    <a:pt x="990600" y="990600"/>
                  </a:lnTo>
                  <a:lnTo>
                    <a:pt x="990600" y="1041400"/>
                  </a:lnTo>
                  <a:lnTo>
                    <a:pt x="939800" y="1041400"/>
                  </a:lnTo>
                  <a:lnTo>
                    <a:pt x="939800" y="50800"/>
                  </a:lnTo>
                  <a:lnTo>
                    <a:pt x="990600" y="50800"/>
                  </a:lnTo>
                  <a:lnTo>
                    <a:pt x="990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1121569" y="6397228"/>
            <a:ext cx="385762" cy="342900"/>
          </a:xfrm>
          <a:custGeom>
            <a:avLst/>
            <a:gdLst/>
            <a:ahLst/>
            <a:cxnLst/>
            <a:rect r="r" b="b" t="t" l="l"/>
            <a:pathLst>
              <a:path h="342900" w="385762">
                <a:moveTo>
                  <a:pt x="0" y="0"/>
                </a:moveTo>
                <a:lnTo>
                  <a:pt x="385762" y="0"/>
                </a:lnTo>
                <a:lnTo>
                  <a:pt x="385762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1885950" y="6340078"/>
            <a:ext cx="3014662" cy="457200"/>
            <a:chOff x="0" y="0"/>
            <a:chExt cx="4019550" cy="6096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19550" cy="609600"/>
            </a:xfrm>
            <a:custGeom>
              <a:avLst/>
              <a:gdLst/>
              <a:ahLst/>
              <a:cxnLst/>
              <a:rect r="r" b="b" t="t" l="l"/>
              <a:pathLst>
                <a:path h="609600" w="4019550">
                  <a:moveTo>
                    <a:pt x="0" y="0"/>
                  </a:moveTo>
                  <a:lnTo>
                    <a:pt x="4019550" y="0"/>
                  </a:lnTo>
                  <a:lnTo>
                    <a:pt x="40195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479" r="0" b="-7847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40195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Fleet Management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14400" y="7197328"/>
            <a:ext cx="7843838" cy="1257300"/>
            <a:chOff x="0" y="0"/>
            <a:chExt cx="10458450" cy="1676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4584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0" r="0" b="-7156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10458450" cy="178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Complete management of </a:t>
              </a:r>
              <a:r>
                <a:rPr lang="en-US" sz="202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deliveries, trucks, and agents</a:t>
              </a:r>
              <a:r>
                <a:rPr lang="en-US" sz="202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real-time tracking capabilities and comprehensive operational oversight.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305925" y="5816203"/>
            <a:ext cx="8420100" cy="2990850"/>
            <a:chOff x="0" y="0"/>
            <a:chExt cx="11226800" cy="39878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50800" y="50800"/>
              <a:ext cx="11125200" cy="3886200"/>
            </a:xfrm>
            <a:custGeom>
              <a:avLst/>
              <a:gdLst/>
              <a:ahLst/>
              <a:cxnLst/>
              <a:rect r="r" b="b" t="t" l="l"/>
              <a:pathLst>
                <a:path h="3886200" w="11125200">
                  <a:moveTo>
                    <a:pt x="0" y="0"/>
                  </a:moveTo>
                  <a:lnTo>
                    <a:pt x="11125200" y="0"/>
                  </a:lnTo>
                  <a:lnTo>
                    <a:pt x="11125200" y="3886200"/>
                  </a:lnTo>
                  <a:lnTo>
                    <a:pt x="0" y="38862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50800" y="0"/>
              <a:ext cx="11176000" cy="3987800"/>
            </a:xfrm>
            <a:custGeom>
              <a:avLst/>
              <a:gdLst/>
              <a:ahLst/>
              <a:cxnLst/>
              <a:rect r="r" b="b" t="t" l="l"/>
              <a:pathLst>
                <a:path h="3987800" w="11176000">
                  <a:moveTo>
                    <a:pt x="0" y="0"/>
                  </a:moveTo>
                  <a:lnTo>
                    <a:pt x="11125200" y="0"/>
                  </a:lnTo>
                  <a:cubicBezTo>
                    <a:pt x="11153267" y="0"/>
                    <a:pt x="11176000" y="22733"/>
                    <a:pt x="11176000" y="50800"/>
                  </a:cubicBezTo>
                  <a:lnTo>
                    <a:pt x="11176000" y="3937000"/>
                  </a:lnTo>
                  <a:cubicBezTo>
                    <a:pt x="11176000" y="3965067"/>
                    <a:pt x="11153267" y="3987800"/>
                    <a:pt x="11125200" y="3987800"/>
                  </a:cubicBezTo>
                  <a:lnTo>
                    <a:pt x="0" y="3987800"/>
                  </a:lnTo>
                  <a:lnTo>
                    <a:pt x="0" y="3886200"/>
                  </a:lnTo>
                  <a:lnTo>
                    <a:pt x="11125200" y="3886200"/>
                  </a:lnTo>
                  <a:lnTo>
                    <a:pt x="11125200" y="3937000"/>
                  </a:lnTo>
                  <a:lnTo>
                    <a:pt x="11074400" y="3937000"/>
                  </a:lnTo>
                  <a:lnTo>
                    <a:pt x="11074400" y="50800"/>
                  </a:lnTo>
                  <a:lnTo>
                    <a:pt x="11125200" y="50800"/>
                  </a:lnTo>
                  <a:lnTo>
                    <a:pt x="111252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648825" y="6159103"/>
            <a:ext cx="819150" cy="819150"/>
            <a:chOff x="0" y="0"/>
            <a:chExt cx="1092200" cy="1092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800" y="50800"/>
              <a:ext cx="990600" cy="990600"/>
            </a:xfrm>
            <a:custGeom>
              <a:avLst/>
              <a:gdLst/>
              <a:ahLst/>
              <a:cxnLst/>
              <a:rect r="r" b="b" t="t" l="l"/>
              <a:pathLst>
                <a:path h="990600" w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50800" y="0"/>
              <a:ext cx="10414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1041400">
                  <a:moveTo>
                    <a:pt x="0" y="0"/>
                  </a:moveTo>
                  <a:lnTo>
                    <a:pt x="990600" y="0"/>
                  </a:lnTo>
                  <a:cubicBezTo>
                    <a:pt x="1018667" y="0"/>
                    <a:pt x="1041400" y="22733"/>
                    <a:pt x="1041400" y="50800"/>
                  </a:cubicBezTo>
                  <a:lnTo>
                    <a:pt x="1041400" y="1041400"/>
                  </a:lnTo>
                  <a:cubicBezTo>
                    <a:pt x="1041400" y="1069467"/>
                    <a:pt x="1018667" y="1092200"/>
                    <a:pt x="990600" y="1092200"/>
                  </a:cubicBezTo>
                  <a:lnTo>
                    <a:pt x="0" y="1092200"/>
                  </a:lnTo>
                  <a:lnTo>
                    <a:pt x="0" y="990600"/>
                  </a:lnTo>
                  <a:lnTo>
                    <a:pt x="990600" y="990600"/>
                  </a:lnTo>
                  <a:lnTo>
                    <a:pt x="990600" y="1041400"/>
                  </a:lnTo>
                  <a:lnTo>
                    <a:pt x="939800" y="1041400"/>
                  </a:lnTo>
                  <a:lnTo>
                    <a:pt x="939800" y="50800"/>
                  </a:lnTo>
                  <a:lnTo>
                    <a:pt x="990600" y="50800"/>
                  </a:lnTo>
                  <a:lnTo>
                    <a:pt x="990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5" id="65"/>
          <p:cNvSpPr/>
          <p:nvPr/>
        </p:nvSpPr>
        <p:spPr>
          <a:xfrm flipH="false" flipV="false" rot="0">
            <a:off x="9886950" y="6397228"/>
            <a:ext cx="342900" cy="342900"/>
          </a:xfrm>
          <a:custGeom>
            <a:avLst/>
            <a:gdLst/>
            <a:ahLst/>
            <a:cxnLst/>
            <a:rect r="r" b="b" t="t" l="l"/>
            <a:pathLst>
              <a:path h="342900" w="342900">
                <a:moveTo>
                  <a:pt x="0" y="0"/>
                </a:moveTo>
                <a:lnTo>
                  <a:pt x="342900" y="0"/>
                </a:lnTo>
                <a:lnTo>
                  <a:pt x="34290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6" id="66"/>
          <p:cNvGrpSpPr/>
          <p:nvPr/>
        </p:nvGrpSpPr>
        <p:grpSpPr>
          <a:xfrm rot="0">
            <a:off x="10629900" y="6276975"/>
            <a:ext cx="3658381" cy="520303"/>
            <a:chOff x="0" y="0"/>
            <a:chExt cx="4286250" cy="609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86250" cy="609600"/>
            </a:xfrm>
            <a:custGeom>
              <a:avLst/>
              <a:gdLst/>
              <a:ahLst/>
              <a:cxnLst/>
              <a:rect r="r" b="b" t="t" l="l"/>
              <a:pathLst>
                <a:path h="609600" w="4286250">
                  <a:moveTo>
                    <a:pt x="0" y="0"/>
                  </a:moveTo>
                  <a:lnTo>
                    <a:pt x="4286250" y="0"/>
                  </a:lnTo>
                  <a:lnTo>
                    <a:pt x="428625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004" r="0" b="-87004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428625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64"/>
                </a:lnSpc>
              </a:pPr>
              <a:r>
                <a:rPr lang="en-US" sz="27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Real-Time Analytics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658350" y="7197328"/>
            <a:ext cx="7843838" cy="1257300"/>
            <a:chOff x="0" y="0"/>
            <a:chExt cx="10458450" cy="1676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458450" cy="1676400"/>
            </a:xfrm>
            <a:custGeom>
              <a:avLst/>
              <a:gdLst/>
              <a:ahLst/>
              <a:cxnLst/>
              <a:rect r="r" b="b" t="t" l="l"/>
              <a:pathLst>
                <a:path h="1676400" w="10458450">
                  <a:moveTo>
                    <a:pt x="0" y="0"/>
                  </a:moveTo>
                  <a:lnTo>
                    <a:pt x="10458450" y="0"/>
                  </a:lnTo>
                  <a:lnTo>
                    <a:pt x="10458450" y="1676400"/>
                  </a:lnTo>
                  <a:lnTo>
                    <a:pt x="0" y="1676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560" r="0" b="-7156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04775"/>
              <a:ext cx="10458450" cy="1781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01"/>
                </a:lnSpc>
              </a:pPr>
              <a:r>
                <a:rPr lang="en-US" sz="202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Provides </a:t>
              </a:r>
              <a:r>
                <a:rPr lang="en-US" sz="202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real-time tracking and analytics</a:t>
              </a:r>
              <a:r>
                <a:rPr lang="en-US" sz="202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dashboard with data visualization, enabling data-driven decision making and operational insights.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561975" y="9070181"/>
            <a:ext cx="17164050" cy="990600"/>
            <a:chOff x="0" y="0"/>
            <a:chExt cx="22885400" cy="1320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50800" y="50800"/>
              <a:ext cx="22783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783800">
                  <a:moveTo>
                    <a:pt x="0" y="0"/>
                  </a:moveTo>
                  <a:lnTo>
                    <a:pt x="22783800" y="0"/>
                  </a:lnTo>
                  <a:lnTo>
                    <a:pt x="22783800" y="1219200"/>
                  </a:lnTo>
                  <a:lnTo>
                    <a:pt x="0" y="12192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50800" y="0"/>
              <a:ext cx="228346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2834600">
                  <a:moveTo>
                    <a:pt x="0" y="0"/>
                  </a:moveTo>
                  <a:lnTo>
                    <a:pt x="22783800" y="0"/>
                  </a:lnTo>
                  <a:cubicBezTo>
                    <a:pt x="22811867" y="0"/>
                    <a:pt x="22834600" y="22733"/>
                    <a:pt x="22834600" y="50800"/>
                  </a:cubicBezTo>
                  <a:lnTo>
                    <a:pt x="22834600" y="1270000"/>
                  </a:lnTo>
                  <a:cubicBezTo>
                    <a:pt x="22834600" y="1298067"/>
                    <a:pt x="22811867" y="1320800"/>
                    <a:pt x="22783800" y="1320800"/>
                  </a:cubicBezTo>
                  <a:lnTo>
                    <a:pt x="0" y="1320800"/>
                  </a:lnTo>
                  <a:lnTo>
                    <a:pt x="0" y="1219200"/>
                  </a:lnTo>
                  <a:lnTo>
                    <a:pt x="22783800" y="1219200"/>
                  </a:lnTo>
                  <a:lnTo>
                    <a:pt x="22783800" y="1270000"/>
                  </a:lnTo>
                  <a:lnTo>
                    <a:pt x="22733000" y="1270000"/>
                  </a:lnTo>
                  <a:lnTo>
                    <a:pt x="22733000" y="50800"/>
                  </a:lnTo>
                  <a:lnTo>
                    <a:pt x="22783800" y="50800"/>
                  </a:lnTo>
                  <a:lnTo>
                    <a:pt x="22783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75" id="75"/>
          <p:cNvSpPr/>
          <p:nvPr/>
        </p:nvSpPr>
        <p:spPr>
          <a:xfrm flipH="false" flipV="false" rot="0">
            <a:off x="2364581" y="9408319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885950" y="9408319"/>
            <a:ext cx="16273462" cy="400050"/>
            <a:chOff x="0" y="0"/>
            <a:chExt cx="21697950" cy="533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697950" cy="533400"/>
            </a:xfrm>
            <a:custGeom>
              <a:avLst/>
              <a:gdLst/>
              <a:ahLst/>
              <a:cxnLst/>
              <a:rect r="r" b="b" t="t" l="l"/>
              <a:pathLst>
                <a:path h="533400" w="21697950">
                  <a:moveTo>
                    <a:pt x="0" y="0"/>
                  </a:moveTo>
                  <a:lnTo>
                    <a:pt x="21697950" y="0"/>
                  </a:lnTo>
                  <a:lnTo>
                    <a:pt x="21697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2623" r="0" b="-74262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66675"/>
              <a:ext cx="216979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Primary Goal: Reduce fuel consumption and delivery delays through intelligent algorithmic optimization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79934" y="-384343"/>
            <a:ext cx="1268025" cy="1268025"/>
            <a:chOff x="0" y="0"/>
            <a:chExt cx="1690700" cy="1690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614424" cy="1614424"/>
            </a:xfrm>
            <a:custGeom>
              <a:avLst/>
              <a:gdLst/>
              <a:ahLst/>
              <a:cxnLst/>
              <a:rect r="r" b="b" t="t" l="l"/>
              <a:pathLst>
                <a:path h="1614424" w="1614424">
                  <a:moveTo>
                    <a:pt x="0" y="807212"/>
                  </a:moveTo>
                  <a:cubicBezTo>
                    <a:pt x="0" y="361442"/>
                    <a:pt x="361442" y="0"/>
                    <a:pt x="807212" y="0"/>
                  </a:cubicBezTo>
                  <a:cubicBezTo>
                    <a:pt x="1252982" y="0"/>
                    <a:pt x="1614424" y="361442"/>
                    <a:pt x="1614424" y="807212"/>
                  </a:cubicBezTo>
                  <a:cubicBezTo>
                    <a:pt x="1614424" y="1252982"/>
                    <a:pt x="1252982" y="1614424"/>
                    <a:pt x="807212" y="1614424"/>
                  </a:cubicBezTo>
                  <a:cubicBezTo>
                    <a:pt x="361442" y="1614424"/>
                    <a:pt x="0" y="1253109"/>
                    <a:pt x="0" y="807212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90624" cy="1690624"/>
            </a:xfrm>
            <a:custGeom>
              <a:avLst/>
              <a:gdLst/>
              <a:ahLst/>
              <a:cxnLst/>
              <a:rect r="r" b="b" t="t" l="l"/>
              <a:pathLst>
                <a:path h="1690624" w="1690624">
                  <a:moveTo>
                    <a:pt x="0" y="845312"/>
                  </a:moveTo>
                  <a:cubicBezTo>
                    <a:pt x="0" y="378460"/>
                    <a:pt x="378460" y="0"/>
                    <a:pt x="845312" y="0"/>
                  </a:cubicBezTo>
                  <a:cubicBezTo>
                    <a:pt x="852424" y="0"/>
                    <a:pt x="859409" y="2032"/>
                    <a:pt x="865505" y="5842"/>
                  </a:cubicBezTo>
                  <a:lnTo>
                    <a:pt x="845312" y="38100"/>
                  </a:lnTo>
                  <a:lnTo>
                    <a:pt x="845312" y="0"/>
                  </a:lnTo>
                  <a:lnTo>
                    <a:pt x="845312" y="38100"/>
                  </a:lnTo>
                  <a:lnTo>
                    <a:pt x="845312" y="0"/>
                  </a:lnTo>
                  <a:cubicBezTo>
                    <a:pt x="1312164" y="0"/>
                    <a:pt x="1690624" y="378460"/>
                    <a:pt x="1690624" y="845312"/>
                  </a:cubicBezTo>
                  <a:cubicBezTo>
                    <a:pt x="1690624" y="859790"/>
                    <a:pt x="1682496" y="872998"/>
                    <a:pt x="1669542" y="879348"/>
                  </a:cubicBezTo>
                  <a:lnTo>
                    <a:pt x="1652524" y="845312"/>
                  </a:lnTo>
                  <a:lnTo>
                    <a:pt x="1690624" y="845312"/>
                  </a:lnTo>
                  <a:cubicBezTo>
                    <a:pt x="1690624" y="1312164"/>
                    <a:pt x="1312164" y="1690624"/>
                    <a:pt x="845312" y="1690624"/>
                  </a:cubicBezTo>
                  <a:lnTo>
                    <a:pt x="845312" y="1652524"/>
                  </a:lnTo>
                  <a:lnTo>
                    <a:pt x="845312" y="1690624"/>
                  </a:lnTo>
                  <a:cubicBezTo>
                    <a:pt x="378460" y="1690751"/>
                    <a:pt x="0" y="1312164"/>
                    <a:pt x="0" y="845312"/>
                  </a:cubicBezTo>
                  <a:lnTo>
                    <a:pt x="38100" y="845312"/>
                  </a:lnTo>
                  <a:lnTo>
                    <a:pt x="0" y="845312"/>
                  </a:lnTo>
                  <a:moveTo>
                    <a:pt x="76200" y="845312"/>
                  </a:moveTo>
                  <a:lnTo>
                    <a:pt x="38100" y="845312"/>
                  </a:lnTo>
                  <a:lnTo>
                    <a:pt x="76200" y="845312"/>
                  </a:lnTo>
                  <a:cubicBezTo>
                    <a:pt x="76200" y="1270127"/>
                    <a:pt x="420624" y="1614424"/>
                    <a:pt x="845312" y="1614424"/>
                  </a:cubicBezTo>
                  <a:cubicBezTo>
                    <a:pt x="1270000" y="1614424"/>
                    <a:pt x="1614424" y="1270000"/>
                    <a:pt x="1614424" y="845312"/>
                  </a:cubicBezTo>
                  <a:cubicBezTo>
                    <a:pt x="1614424" y="830834"/>
                    <a:pt x="1622552" y="817626"/>
                    <a:pt x="1635506" y="811276"/>
                  </a:cubicBezTo>
                  <a:lnTo>
                    <a:pt x="1652524" y="845312"/>
                  </a:lnTo>
                  <a:lnTo>
                    <a:pt x="1614424" y="845312"/>
                  </a:lnTo>
                  <a:cubicBezTo>
                    <a:pt x="1614551" y="420624"/>
                    <a:pt x="1270127" y="76200"/>
                    <a:pt x="845312" y="76200"/>
                  </a:cubicBezTo>
                  <a:cubicBezTo>
                    <a:pt x="838200" y="76200"/>
                    <a:pt x="831215" y="74168"/>
                    <a:pt x="825119" y="70358"/>
                  </a:cubicBezTo>
                  <a:lnTo>
                    <a:pt x="845312" y="38100"/>
                  </a:lnTo>
                  <a:lnTo>
                    <a:pt x="845312" y="76200"/>
                  </a:lnTo>
                  <a:cubicBezTo>
                    <a:pt x="420624" y="76200"/>
                    <a:pt x="76200" y="420624"/>
                    <a:pt x="76200" y="845312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2100000">
            <a:off x="16731844" y="8481955"/>
            <a:ext cx="893531" cy="893531"/>
            <a:chOff x="0" y="0"/>
            <a:chExt cx="1191374" cy="11913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115187" cy="1115187"/>
            </a:xfrm>
            <a:custGeom>
              <a:avLst/>
              <a:gdLst/>
              <a:ahLst/>
              <a:cxnLst/>
              <a:rect r="r" b="b" t="t" l="l"/>
              <a:pathLst>
                <a:path h="1115187" w="1115187">
                  <a:moveTo>
                    <a:pt x="0" y="0"/>
                  </a:moveTo>
                  <a:lnTo>
                    <a:pt x="1115187" y="0"/>
                  </a:lnTo>
                  <a:lnTo>
                    <a:pt x="1115187" y="1115187"/>
                  </a:lnTo>
                  <a:lnTo>
                    <a:pt x="0" y="1115187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00" y="0"/>
              <a:ext cx="1153287" cy="1191387"/>
            </a:xfrm>
            <a:custGeom>
              <a:avLst/>
              <a:gdLst/>
              <a:ahLst/>
              <a:cxnLst/>
              <a:rect r="r" b="b" t="t" l="l"/>
              <a:pathLst>
                <a:path h="1191387" w="1153287">
                  <a:moveTo>
                    <a:pt x="0" y="0"/>
                  </a:moveTo>
                  <a:lnTo>
                    <a:pt x="1115187" y="0"/>
                  </a:lnTo>
                  <a:cubicBezTo>
                    <a:pt x="1136269" y="0"/>
                    <a:pt x="1153287" y="17018"/>
                    <a:pt x="1153287" y="38100"/>
                  </a:cubicBezTo>
                  <a:lnTo>
                    <a:pt x="1153287" y="1153287"/>
                  </a:lnTo>
                  <a:cubicBezTo>
                    <a:pt x="1153287" y="1174369"/>
                    <a:pt x="1136269" y="1191387"/>
                    <a:pt x="1115187" y="1191387"/>
                  </a:cubicBezTo>
                  <a:lnTo>
                    <a:pt x="0" y="1191387"/>
                  </a:lnTo>
                  <a:lnTo>
                    <a:pt x="0" y="1115187"/>
                  </a:lnTo>
                  <a:lnTo>
                    <a:pt x="1115187" y="1115187"/>
                  </a:lnTo>
                  <a:lnTo>
                    <a:pt x="1115187" y="1153287"/>
                  </a:lnTo>
                  <a:lnTo>
                    <a:pt x="1077087" y="1153287"/>
                  </a:lnTo>
                  <a:lnTo>
                    <a:pt x="1077087" y="38100"/>
                  </a:lnTo>
                  <a:lnTo>
                    <a:pt x="1115187" y="38100"/>
                  </a:lnTo>
                  <a:lnTo>
                    <a:pt x="111518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1200000">
            <a:off x="-222599" y="2398890"/>
            <a:ext cx="643861" cy="643861"/>
            <a:chOff x="0" y="0"/>
            <a:chExt cx="858482" cy="8584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782320" cy="782320"/>
            </a:xfrm>
            <a:custGeom>
              <a:avLst/>
              <a:gdLst/>
              <a:ahLst/>
              <a:cxnLst/>
              <a:rect r="r" b="b" t="t" l="l"/>
              <a:pathLst>
                <a:path h="782320" w="782320">
                  <a:moveTo>
                    <a:pt x="0" y="0"/>
                  </a:moveTo>
                  <a:lnTo>
                    <a:pt x="782320" y="0"/>
                  </a:lnTo>
                  <a:lnTo>
                    <a:pt x="782320" y="782320"/>
                  </a:lnTo>
                  <a:lnTo>
                    <a:pt x="0" y="78232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820420" cy="858520"/>
            </a:xfrm>
            <a:custGeom>
              <a:avLst/>
              <a:gdLst/>
              <a:ahLst/>
              <a:cxnLst/>
              <a:rect r="r" b="b" t="t" l="l"/>
              <a:pathLst>
                <a:path h="858520" w="820420">
                  <a:moveTo>
                    <a:pt x="0" y="0"/>
                  </a:moveTo>
                  <a:lnTo>
                    <a:pt x="782320" y="0"/>
                  </a:lnTo>
                  <a:cubicBezTo>
                    <a:pt x="803402" y="0"/>
                    <a:pt x="820420" y="17018"/>
                    <a:pt x="820420" y="38100"/>
                  </a:cubicBezTo>
                  <a:lnTo>
                    <a:pt x="820420" y="820420"/>
                  </a:lnTo>
                  <a:cubicBezTo>
                    <a:pt x="820420" y="841502"/>
                    <a:pt x="803402" y="858520"/>
                    <a:pt x="782320" y="858520"/>
                  </a:cubicBezTo>
                  <a:lnTo>
                    <a:pt x="0" y="858520"/>
                  </a:lnTo>
                  <a:lnTo>
                    <a:pt x="0" y="782320"/>
                  </a:lnTo>
                  <a:lnTo>
                    <a:pt x="782320" y="782320"/>
                  </a:lnTo>
                  <a:lnTo>
                    <a:pt x="782320" y="820420"/>
                  </a:lnTo>
                  <a:lnTo>
                    <a:pt x="744220" y="820420"/>
                  </a:lnTo>
                  <a:lnTo>
                    <a:pt x="744220" y="38100"/>
                  </a:lnTo>
                  <a:lnTo>
                    <a:pt x="782320" y="38100"/>
                  </a:lnTo>
                  <a:lnTo>
                    <a:pt x="78232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86194" y="486194"/>
            <a:ext cx="3084671" cy="625469"/>
            <a:chOff x="0" y="0"/>
            <a:chExt cx="4112895" cy="8339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4011295" cy="732409"/>
            </a:xfrm>
            <a:custGeom>
              <a:avLst/>
              <a:gdLst/>
              <a:ahLst/>
              <a:cxnLst/>
              <a:rect r="r" b="b" t="t" l="l"/>
              <a:pathLst>
                <a:path h="732409" w="4011295">
                  <a:moveTo>
                    <a:pt x="0" y="0"/>
                  </a:moveTo>
                  <a:lnTo>
                    <a:pt x="4011295" y="0"/>
                  </a:lnTo>
                  <a:lnTo>
                    <a:pt x="4011295" y="732409"/>
                  </a:lnTo>
                  <a:lnTo>
                    <a:pt x="0" y="732409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4062095" cy="834009"/>
            </a:xfrm>
            <a:custGeom>
              <a:avLst/>
              <a:gdLst/>
              <a:ahLst/>
              <a:cxnLst/>
              <a:rect r="r" b="b" t="t" l="l"/>
              <a:pathLst>
                <a:path h="834009" w="4062095">
                  <a:moveTo>
                    <a:pt x="0" y="0"/>
                  </a:moveTo>
                  <a:lnTo>
                    <a:pt x="4011295" y="0"/>
                  </a:lnTo>
                  <a:cubicBezTo>
                    <a:pt x="4039362" y="0"/>
                    <a:pt x="4062095" y="22733"/>
                    <a:pt x="4062095" y="50800"/>
                  </a:cubicBezTo>
                  <a:lnTo>
                    <a:pt x="4062095" y="783209"/>
                  </a:lnTo>
                  <a:cubicBezTo>
                    <a:pt x="4062095" y="811276"/>
                    <a:pt x="4039362" y="834009"/>
                    <a:pt x="4011295" y="834009"/>
                  </a:cubicBezTo>
                  <a:lnTo>
                    <a:pt x="0" y="834009"/>
                  </a:lnTo>
                  <a:lnTo>
                    <a:pt x="0" y="732409"/>
                  </a:lnTo>
                  <a:lnTo>
                    <a:pt x="4011295" y="732409"/>
                  </a:lnTo>
                  <a:lnTo>
                    <a:pt x="4011295" y="783209"/>
                  </a:lnTo>
                  <a:lnTo>
                    <a:pt x="3960495" y="783209"/>
                  </a:lnTo>
                  <a:lnTo>
                    <a:pt x="3960495" y="50800"/>
                  </a:lnTo>
                  <a:lnTo>
                    <a:pt x="4011295" y="50800"/>
                  </a:lnTo>
                  <a:lnTo>
                    <a:pt x="4011295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99329" y="499329"/>
            <a:ext cx="3058401" cy="499329"/>
            <a:chOff x="0" y="0"/>
            <a:chExt cx="4077868" cy="6657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77870" cy="665774"/>
            </a:xfrm>
            <a:custGeom>
              <a:avLst/>
              <a:gdLst/>
              <a:ahLst/>
              <a:cxnLst/>
              <a:rect r="r" b="b" t="t" l="l"/>
              <a:pathLst>
                <a:path h="665774" w="4077870">
                  <a:moveTo>
                    <a:pt x="0" y="0"/>
                  </a:moveTo>
                  <a:lnTo>
                    <a:pt x="4077870" y="0"/>
                  </a:lnTo>
                  <a:lnTo>
                    <a:pt x="4077870" y="665774"/>
                  </a:lnTo>
                  <a:lnTo>
                    <a:pt x="0" y="6657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6" r="0" b="-6934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4077868" cy="7324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2"/>
                </a:lnSpc>
              </a:pPr>
              <a:r>
                <a:rPr lang="en-US" sz="1572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CHALLENGES &amp; SOLUTIONS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9329" y="1248327"/>
            <a:ext cx="17588941" cy="599199"/>
            <a:chOff x="0" y="0"/>
            <a:chExt cx="23451922" cy="79893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51916" cy="798930"/>
            </a:xfrm>
            <a:custGeom>
              <a:avLst/>
              <a:gdLst/>
              <a:ahLst/>
              <a:cxnLst/>
              <a:rect r="r" b="b" t="t" l="l"/>
              <a:pathLst>
                <a:path h="798930" w="23451916">
                  <a:moveTo>
                    <a:pt x="0" y="0"/>
                  </a:moveTo>
                  <a:lnTo>
                    <a:pt x="23451916" y="0"/>
                  </a:lnTo>
                  <a:lnTo>
                    <a:pt x="23451916" y="798930"/>
                  </a:lnTo>
                  <a:lnTo>
                    <a:pt x="0" y="798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966" r="0" b="-52196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76200"/>
              <a:ext cx="23451922" cy="722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28"/>
                </a:lnSpc>
              </a:pPr>
              <a:r>
                <a:rPr lang="en-US" sz="4717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 Statement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86194" y="2034121"/>
            <a:ext cx="8514893" cy="8265233"/>
            <a:chOff x="0" y="0"/>
            <a:chExt cx="11353190" cy="110203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11251565" cy="10918698"/>
            </a:xfrm>
            <a:custGeom>
              <a:avLst/>
              <a:gdLst/>
              <a:ahLst/>
              <a:cxnLst/>
              <a:rect r="r" b="b" t="t" l="l"/>
              <a:pathLst>
                <a:path h="10918698" w="11251565">
                  <a:moveTo>
                    <a:pt x="0" y="0"/>
                  </a:moveTo>
                  <a:lnTo>
                    <a:pt x="11251565" y="0"/>
                  </a:lnTo>
                  <a:lnTo>
                    <a:pt x="11251565" y="10918698"/>
                  </a:lnTo>
                  <a:lnTo>
                    <a:pt x="0" y="10918698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11302365" cy="11020298"/>
            </a:xfrm>
            <a:custGeom>
              <a:avLst/>
              <a:gdLst/>
              <a:ahLst/>
              <a:cxnLst/>
              <a:rect r="r" b="b" t="t" l="l"/>
              <a:pathLst>
                <a:path h="11020298" w="11302365">
                  <a:moveTo>
                    <a:pt x="0" y="0"/>
                  </a:moveTo>
                  <a:lnTo>
                    <a:pt x="11251565" y="0"/>
                  </a:lnTo>
                  <a:cubicBezTo>
                    <a:pt x="11279632" y="0"/>
                    <a:pt x="11302365" y="22733"/>
                    <a:pt x="11302365" y="50800"/>
                  </a:cubicBezTo>
                  <a:lnTo>
                    <a:pt x="11302365" y="10969498"/>
                  </a:lnTo>
                  <a:cubicBezTo>
                    <a:pt x="11302365" y="10997565"/>
                    <a:pt x="11279632" y="11020298"/>
                    <a:pt x="11251565" y="11020298"/>
                  </a:cubicBezTo>
                  <a:lnTo>
                    <a:pt x="0" y="11020298"/>
                  </a:lnTo>
                  <a:lnTo>
                    <a:pt x="0" y="10918698"/>
                  </a:lnTo>
                  <a:lnTo>
                    <a:pt x="11251565" y="10918698"/>
                  </a:lnTo>
                  <a:lnTo>
                    <a:pt x="11251565" y="10969498"/>
                  </a:lnTo>
                  <a:lnTo>
                    <a:pt x="11200765" y="10969498"/>
                  </a:lnTo>
                  <a:lnTo>
                    <a:pt x="11200765" y="50800"/>
                  </a:lnTo>
                  <a:lnTo>
                    <a:pt x="11251565" y="50800"/>
                  </a:lnTo>
                  <a:lnTo>
                    <a:pt x="11251565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48868" y="2396785"/>
            <a:ext cx="798928" cy="798928"/>
            <a:chOff x="0" y="0"/>
            <a:chExt cx="1065238" cy="106523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65276" cy="1065276"/>
            </a:xfrm>
            <a:custGeom>
              <a:avLst/>
              <a:gdLst/>
              <a:ahLst/>
              <a:cxnLst/>
              <a:rect r="r" b="b" t="t" l="l"/>
              <a:pathLst>
                <a:path h="1065276" w="1065276">
                  <a:moveTo>
                    <a:pt x="0" y="0"/>
                  </a:moveTo>
                  <a:lnTo>
                    <a:pt x="1065276" y="0"/>
                  </a:lnTo>
                  <a:lnTo>
                    <a:pt x="1065276" y="1065276"/>
                  </a:lnTo>
                  <a:lnTo>
                    <a:pt x="0" y="1065276"/>
                  </a:lnTo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064200" y="2609002"/>
            <a:ext cx="374494" cy="374494"/>
          </a:xfrm>
          <a:custGeom>
            <a:avLst/>
            <a:gdLst/>
            <a:ahLst/>
            <a:cxnLst/>
            <a:rect r="r" b="b" t="t" l="l"/>
            <a:pathLst>
              <a:path h="374494" w="374494">
                <a:moveTo>
                  <a:pt x="0" y="0"/>
                </a:moveTo>
                <a:lnTo>
                  <a:pt x="374494" y="0"/>
                </a:lnTo>
                <a:lnTo>
                  <a:pt x="374494" y="374495"/>
                </a:lnTo>
                <a:lnTo>
                  <a:pt x="0" y="37449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797596" y="2571560"/>
            <a:ext cx="1797596" cy="449399"/>
            <a:chOff x="0" y="0"/>
            <a:chExt cx="2396795" cy="59919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96790" cy="599198"/>
            </a:xfrm>
            <a:custGeom>
              <a:avLst/>
              <a:gdLst/>
              <a:ahLst/>
              <a:cxnLst/>
              <a:rect r="r" b="b" t="t" l="l"/>
              <a:pathLst>
                <a:path h="599198" w="2396790">
                  <a:moveTo>
                    <a:pt x="0" y="0"/>
                  </a:moveTo>
                  <a:lnTo>
                    <a:pt x="2396790" y="0"/>
                  </a:lnTo>
                  <a:lnTo>
                    <a:pt x="2396790" y="599198"/>
                  </a:lnTo>
                  <a:lnTo>
                    <a:pt x="0" y="599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940" r="0" b="-279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2396795" cy="618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8"/>
                </a:lnSpc>
              </a:pPr>
              <a:r>
                <a:rPr lang="en-US" sz="2949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39010" y="3435534"/>
            <a:ext cx="7809262" cy="1492729"/>
            <a:chOff x="0" y="0"/>
            <a:chExt cx="10412349" cy="199030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38100" y="38100"/>
              <a:ext cx="10336149" cy="1914144"/>
            </a:xfrm>
            <a:custGeom>
              <a:avLst/>
              <a:gdLst/>
              <a:ahLst/>
              <a:cxnLst/>
              <a:rect r="r" b="b" t="t" l="l"/>
              <a:pathLst>
                <a:path h="1914144" w="10336149">
                  <a:moveTo>
                    <a:pt x="0" y="0"/>
                  </a:moveTo>
                  <a:lnTo>
                    <a:pt x="10336149" y="0"/>
                  </a:lnTo>
                  <a:lnTo>
                    <a:pt x="10336149" y="1914144"/>
                  </a:lnTo>
                  <a:lnTo>
                    <a:pt x="0" y="1914144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8100" y="0"/>
              <a:ext cx="10374249" cy="1990344"/>
            </a:xfrm>
            <a:custGeom>
              <a:avLst/>
              <a:gdLst/>
              <a:ahLst/>
              <a:cxnLst/>
              <a:rect r="r" b="b" t="t" l="l"/>
              <a:pathLst>
                <a:path h="1990344" w="10374249">
                  <a:moveTo>
                    <a:pt x="0" y="0"/>
                  </a:moveTo>
                  <a:lnTo>
                    <a:pt x="10336149" y="0"/>
                  </a:lnTo>
                  <a:cubicBezTo>
                    <a:pt x="10357231" y="0"/>
                    <a:pt x="10374249" y="17018"/>
                    <a:pt x="10374249" y="38100"/>
                  </a:cubicBezTo>
                  <a:lnTo>
                    <a:pt x="10374249" y="1952244"/>
                  </a:lnTo>
                  <a:cubicBezTo>
                    <a:pt x="10374249" y="1973326"/>
                    <a:pt x="10357231" y="1990344"/>
                    <a:pt x="10336149" y="1990344"/>
                  </a:cubicBezTo>
                  <a:lnTo>
                    <a:pt x="0" y="1990344"/>
                  </a:lnTo>
                  <a:lnTo>
                    <a:pt x="0" y="1914144"/>
                  </a:lnTo>
                  <a:lnTo>
                    <a:pt x="10336149" y="1914144"/>
                  </a:lnTo>
                  <a:lnTo>
                    <a:pt x="10336149" y="1952244"/>
                  </a:lnTo>
                  <a:lnTo>
                    <a:pt x="10298049" y="1952244"/>
                  </a:lnTo>
                  <a:lnTo>
                    <a:pt x="10298049" y="38100"/>
                  </a:lnTo>
                  <a:lnTo>
                    <a:pt x="10336149" y="38100"/>
                  </a:lnTo>
                  <a:lnTo>
                    <a:pt x="1033614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76192" y="3722646"/>
            <a:ext cx="519027" cy="519027"/>
            <a:chOff x="0" y="0"/>
            <a:chExt cx="692036" cy="69203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38100" y="38100"/>
              <a:ext cx="615823" cy="615823"/>
            </a:xfrm>
            <a:custGeom>
              <a:avLst/>
              <a:gdLst/>
              <a:ahLst/>
              <a:cxnLst/>
              <a:rect r="r" b="b" t="t" l="l"/>
              <a:pathLst>
                <a:path h="615823" w="615823">
                  <a:moveTo>
                    <a:pt x="0" y="0"/>
                  </a:moveTo>
                  <a:lnTo>
                    <a:pt x="615823" y="0"/>
                  </a:lnTo>
                  <a:lnTo>
                    <a:pt x="615823" y="615823"/>
                  </a:lnTo>
                  <a:lnTo>
                    <a:pt x="0" y="615823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8100" y="0"/>
              <a:ext cx="653923" cy="692023"/>
            </a:xfrm>
            <a:custGeom>
              <a:avLst/>
              <a:gdLst/>
              <a:ahLst/>
              <a:cxnLst/>
              <a:rect r="r" b="b" t="t" l="l"/>
              <a:pathLst>
                <a:path h="692023" w="653923">
                  <a:moveTo>
                    <a:pt x="0" y="0"/>
                  </a:moveTo>
                  <a:lnTo>
                    <a:pt x="615823" y="0"/>
                  </a:lnTo>
                  <a:cubicBezTo>
                    <a:pt x="636905" y="0"/>
                    <a:pt x="653923" y="17018"/>
                    <a:pt x="653923" y="38100"/>
                  </a:cubicBezTo>
                  <a:lnTo>
                    <a:pt x="653923" y="653923"/>
                  </a:lnTo>
                  <a:cubicBezTo>
                    <a:pt x="653923" y="675005"/>
                    <a:pt x="636905" y="692023"/>
                    <a:pt x="615823" y="692023"/>
                  </a:cubicBezTo>
                  <a:lnTo>
                    <a:pt x="0" y="692023"/>
                  </a:lnTo>
                  <a:lnTo>
                    <a:pt x="0" y="615823"/>
                  </a:lnTo>
                  <a:lnTo>
                    <a:pt x="615823" y="615823"/>
                  </a:lnTo>
                  <a:lnTo>
                    <a:pt x="615823" y="653923"/>
                  </a:lnTo>
                  <a:lnTo>
                    <a:pt x="577723" y="653923"/>
                  </a:lnTo>
                  <a:lnTo>
                    <a:pt x="577723" y="38100"/>
                  </a:lnTo>
                  <a:lnTo>
                    <a:pt x="615823" y="38100"/>
                  </a:lnTo>
                  <a:lnTo>
                    <a:pt x="6158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03525" y="3807400"/>
            <a:ext cx="174765" cy="349529"/>
            <a:chOff x="0" y="0"/>
            <a:chExt cx="233020" cy="4660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3022" cy="466042"/>
            </a:xfrm>
            <a:custGeom>
              <a:avLst/>
              <a:gdLst/>
              <a:ahLst/>
              <a:cxnLst/>
              <a:rect r="r" b="b" t="t" l="l"/>
              <a:pathLst>
                <a:path h="466042" w="233022">
                  <a:moveTo>
                    <a:pt x="0" y="0"/>
                  </a:moveTo>
                  <a:lnTo>
                    <a:pt x="233022" y="0"/>
                  </a:lnTo>
                  <a:lnTo>
                    <a:pt x="233022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6605" t="0" r="-2066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233020" cy="5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77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735179" y="3682565"/>
            <a:ext cx="6790906" cy="349529"/>
            <a:chOff x="0" y="0"/>
            <a:chExt cx="9054541" cy="46603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054536" cy="466042"/>
            </a:xfrm>
            <a:custGeom>
              <a:avLst/>
              <a:gdLst/>
              <a:ahLst/>
              <a:cxnLst/>
              <a:rect r="r" b="b" t="t" l="l"/>
              <a:pathLst>
                <a:path h="466042" w="9054536">
                  <a:moveTo>
                    <a:pt x="0" y="0"/>
                  </a:moveTo>
                  <a:lnTo>
                    <a:pt x="9054536" y="0"/>
                  </a:lnTo>
                  <a:lnTo>
                    <a:pt x="9054536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567" r="0" b="-32856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9054541" cy="53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966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Inefficient Delivery Routes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735179" y="4082034"/>
            <a:ext cx="6765931" cy="599199"/>
            <a:chOff x="0" y="0"/>
            <a:chExt cx="9021242" cy="7989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21248" cy="798930"/>
            </a:xfrm>
            <a:custGeom>
              <a:avLst/>
              <a:gdLst/>
              <a:ahLst/>
              <a:cxnLst/>
              <a:rect r="r" b="b" t="t" l="l"/>
              <a:pathLst>
                <a:path h="798930" w="9021248">
                  <a:moveTo>
                    <a:pt x="0" y="0"/>
                  </a:moveTo>
                  <a:lnTo>
                    <a:pt x="9021248" y="0"/>
                  </a:lnTo>
                  <a:lnTo>
                    <a:pt x="9021248" y="798930"/>
                  </a:lnTo>
                  <a:lnTo>
                    <a:pt x="0" y="798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018" r="0" b="-17001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9021242" cy="865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2"/>
                </a:lnSpc>
              </a:pPr>
              <a:r>
                <a:rPr lang="en-US" sz="1572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Manual planning leads to suboptimal paths, increasing travel time and operational costs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39010" y="5108296"/>
            <a:ext cx="7809262" cy="1492729"/>
            <a:chOff x="0" y="0"/>
            <a:chExt cx="10412349" cy="199030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38100" y="38100"/>
              <a:ext cx="10336149" cy="1914144"/>
            </a:xfrm>
            <a:custGeom>
              <a:avLst/>
              <a:gdLst/>
              <a:ahLst/>
              <a:cxnLst/>
              <a:rect r="r" b="b" t="t" l="l"/>
              <a:pathLst>
                <a:path h="1914144" w="10336149">
                  <a:moveTo>
                    <a:pt x="0" y="0"/>
                  </a:moveTo>
                  <a:lnTo>
                    <a:pt x="10336149" y="0"/>
                  </a:lnTo>
                  <a:lnTo>
                    <a:pt x="10336149" y="1914144"/>
                  </a:lnTo>
                  <a:lnTo>
                    <a:pt x="0" y="1914144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8100" y="0"/>
              <a:ext cx="10374249" cy="1990344"/>
            </a:xfrm>
            <a:custGeom>
              <a:avLst/>
              <a:gdLst/>
              <a:ahLst/>
              <a:cxnLst/>
              <a:rect r="r" b="b" t="t" l="l"/>
              <a:pathLst>
                <a:path h="1990344" w="10374249">
                  <a:moveTo>
                    <a:pt x="0" y="0"/>
                  </a:moveTo>
                  <a:lnTo>
                    <a:pt x="10336149" y="0"/>
                  </a:lnTo>
                  <a:cubicBezTo>
                    <a:pt x="10357231" y="0"/>
                    <a:pt x="10374249" y="17018"/>
                    <a:pt x="10374249" y="38100"/>
                  </a:cubicBezTo>
                  <a:lnTo>
                    <a:pt x="10374249" y="1952244"/>
                  </a:lnTo>
                  <a:cubicBezTo>
                    <a:pt x="10374249" y="1973326"/>
                    <a:pt x="10357231" y="1990344"/>
                    <a:pt x="10336149" y="1990344"/>
                  </a:cubicBezTo>
                  <a:lnTo>
                    <a:pt x="0" y="1990344"/>
                  </a:lnTo>
                  <a:lnTo>
                    <a:pt x="0" y="1914144"/>
                  </a:lnTo>
                  <a:lnTo>
                    <a:pt x="10336149" y="1914144"/>
                  </a:lnTo>
                  <a:lnTo>
                    <a:pt x="10336149" y="1952244"/>
                  </a:lnTo>
                  <a:lnTo>
                    <a:pt x="10298049" y="1952244"/>
                  </a:lnTo>
                  <a:lnTo>
                    <a:pt x="10298049" y="38100"/>
                  </a:lnTo>
                  <a:lnTo>
                    <a:pt x="10336149" y="38100"/>
                  </a:lnTo>
                  <a:lnTo>
                    <a:pt x="1033614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76192" y="5395408"/>
            <a:ext cx="519027" cy="519027"/>
            <a:chOff x="0" y="0"/>
            <a:chExt cx="692036" cy="6920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38100" y="38100"/>
              <a:ext cx="615823" cy="615823"/>
            </a:xfrm>
            <a:custGeom>
              <a:avLst/>
              <a:gdLst/>
              <a:ahLst/>
              <a:cxnLst/>
              <a:rect r="r" b="b" t="t" l="l"/>
              <a:pathLst>
                <a:path h="615823" w="615823">
                  <a:moveTo>
                    <a:pt x="0" y="0"/>
                  </a:moveTo>
                  <a:lnTo>
                    <a:pt x="615823" y="0"/>
                  </a:lnTo>
                  <a:lnTo>
                    <a:pt x="615823" y="615823"/>
                  </a:lnTo>
                  <a:lnTo>
                    <a:pt x="0" y="615823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38100" y="0"/>
              <a:ext cx="653923" cy="692023"/>
            </a:xfrm>
            <a:custGeom>
              <a:avLst/>
              <a:gdLst/>
              <a:ahLst/>
              <a:cxnLst/>
              <a:rect r="r" b="b" t="t" l="l"/>
              <a:pathLst>
                <a:path h="692023" w="653923">
                  <a:moveTo>
                    <a:pt x="0" y="0"/>
                  </a:moveTo>
                  <a:lnTo>
                    <a:pt x="615823" y="0"/>
                  </a:lnTo>
                  <a:cubicBezTo>
                    <a:pt x="636905" y="0"/>
                    <a:pt x="653923" y="17018"/>
                    <a:pt x="653923" y="38100"/>
                  </a:cubicBezTo>
                  <a:lnTo>
                    <a:pt x="653923" y="653923"/>
                  </a:lnTo>
                  <a:cubicBezTo>
                    <a:pt x="653923" y="675005"/>
                    <a:pt x="636905" y="692023"/>
                    <a:pt x="615823" y="692023"/>
                  </a:cubicBezTo>
                  <a:lnTo>
                    <a:pt x="0" y="692023"/>
                  </a:lnTo>
                  <a:lnTo>
                    <a:pt x="0" y="615823"/>
                  </a:lnTo>
                  <a:lnTo>
                    <a:pt x="615823" y="615823"/>
                  </a:lnTo>
                  <a:lnTo>
                    <a:pt x="615823" y="653923"/>
                  </a:lnTo>
                  <a:lnTo>
                    <a:pt x="577723" y="653923"/>
                  </a:lnTo>
                  <a:lnTo>
                    <a:pt x="577723" y="38100"/>
                  </a:lnTo>
                  <a:lnTo>
                    <a:pt x="615823" y="38100"/>
                  </a:lnTo>
                  <a:lnTo>
                    <a:pt x="6158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75636" y="5480161"/>
            <a:ext cx="237182" cy="349529"/>
            <a:chOff x="0" y="0"/>
            <a:chExt cx="316243" cy="46603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6244" cy="466042"/>
            </a:xfrm>
            <a:custGeom>
              <a:avLst/>
              <a:gdLst/>
              <a:ahLst/>
              <a:cxnLst/>
              <a:rect r="r" b="b" t="t" l="l"/>
              <a:pathLst>
                <a:path h="466042" w="316244">
                  <a:moveTo>
                    <a:pt x="0" y="0"/>
                  </a:moveTo>
                  <a:lnTo>
                    <a:pt x="316244" y="0"/>
                  </a:lnTo>
                  <a:lnTo>
                    <a:pt x="316244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077" t="0" r="-139076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76200"/>
              <a:ext cx="316243" cy="5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77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35179" y="5355326"/>
            <a:ext cx="6790906" cy="349529"/>
            <a:chOff x="0" y="0"/>
            <a:chExt cx="9054541" cy="4660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054536" cy="466042"/>
            </a:xfrm>
            <a:custGeom>
              <a:avLst/>
              <a:gdLst/>
              <a:ahLst/>
              <a:cxnLst/>
              <a:rect r="r" b="b" t="t" l="l"/>
              <a:pathLst>
                <a:path h="466042" w="9054536">
                  <a:moveTo>
                    <a:pt x="0" y="0"/>
                  </a:moveTo>
                  <a:lnTo>
                    <a:pt x="9054536" y="0"/>
                  </a:lnTo>
                  <a:lnTo>
                    <a:pt x="9054536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567" r="0" b="-32856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9054541" cy="53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966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High Fuel Costs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35179" y="5754786"/>
            <a:ext cx="6765931" cy="599199"/>
            <a:chOff x="0" y="0"/>
            <a:chExt cx="9021242" cy="7989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021248" cy="798930"/>
            </a:xfrm>
            <a:custGeom>
              <a:avLst/>
              <a:gdLst/>
              <a:ahLst/>
              <a:cxnLst/>
              <a:rect r="r" b="b" t="t" l="l"/>
              <a:pathLst>
                <a:path h="798930" w="9021248">
                  <a:moveTo>
                    <a:pt x="0" y="0"/>
                  </a:moveTo>
                  <a:lnTo>
                    <a:pt x="9021248" y="0"/>
                  </a:lnTo>
                  <a:lnTo>
                    <a:pt x="9021248" y="798930"/>
                  </a:lnTo>
                  <a:lnTo>
                    <a:pt x="0" y="798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018" r="0" b="-17001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9021242" cy="865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2"/>
                </a:lnSpc>
              </a:pPr>
              <a:r>
                <a:rPr lang="en-US" sz="1572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Poorly optimized routes result in excessive fuel consumption and increased expenses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39010" y="6781057"/>
            <a:ext cx="7809262" cy="1492729"/>
            <a:chOff x="0" y="0"/>
            <a:chExt cx="10412349" cy="199030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38100" y="38100"/>
              <a:ext cx="10336149" cy="1914144"/>
            </a:xfrm>
            <a:custGeom>
              <a:avLst/>
              <a:gdLst/>
              <a:ahLst/>
              <a:cxnLst/>
              <a:rect r="r" b="b" t="t" l="l"/>
              <a:pathLst>
                <a:path h="1914144" w="10336149">
                  <a:moveTo>
                    <a:pt x="0" y="0"/>
                  </a:moveTo>
                  <a:lnTo>
                    <a:pt x="10336149" y="0"/>
                  </a:lnTo>
                  <a:lnTo>
                    <a:pt x="10336149" y="1914144"/>
                  </a:lnTo>
                  <a:lnTo>
                    <a:pt x="0" y="1914144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38100" y="0"/>
              <a:ext cx="10374249" cy="1990344"/>
            </a:xfrm>
            <a:custGeom>
              <a:avLst/>
              <a:gdLst/>
              <a:ahLst/>
              <a:cxnLst/>
              <a:rect r="r" b="b" t="t" l="l"/>
              <a:pathLst>
                <a:path h="1990344" w="10374249">
                  <a:moveTo>
                    <a:pt x="0" y="0"/>
                  </a:moveTo>
                  <a:lnTo>
                    <a:pt x="10336149" y="0"/>
                  </a:lnTo>
                  <a:cubicBezTo>
                    <a:pt x="10357231" y="0"/>
                    <a:pt x="10374249" y="17018"/>
                    <a:pt x="10374249" y="38100"/>
                  </a:cubicBezTo>
                  <a:lnTo>
                    <a:pt x="10374249" y="1952244"/>
                  </a:lnTo>
                  <a:cubicBezTo>
                    <a:pt x="10374249" y="1973326"/>
                    <a:pt x="10357231" y="1990344"/>
                    <a:pt x="10336149" y="1990344"/>
                  </a:cubicBezTo>
                  <a:lnTo>
                    <a:pt x="0" y="1990344"/>
                  </a:lnTo>
                  <a:lnTo>
                    <a:pt x="0" y="1914144"/>
                  </a:lnTo>
                  <a:lnTo>
                    <a:pt x="10336149" y="1914144"/>
                  </a:lnTo>
                  <a:lnTo>
                    <a:pt x="10336149" y="1952244"/>
                  </a:lnTo>
                  <a:lnTo>
                    <a:pt x="10298049" y="1952244"/>
                  </a:lnTo>
                  <a:lnTo>
                    <a:pt x="10298049" y="38100"/>
                  </a:lnTo>
                  <a:lnTo>
                    <a:pt x="10336149" y="38100"/>
                  </a:lnTo>
                  <a:lnTo>
                    <a:pt x="1033614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76192" y="7068169"/>
            <a:ext cx="519027" cy="519027"/>
            <a:chOff x="0" y="0"/>
            <a:chExt cx="692036" cy="6920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38100" y="38100"/>
              <a:ext cx="615823" cy="615823"/>
            </a:xfrm>
            <a:custGeom>
              <a:avLst/>
              <a:gdLst/>
              <a:ahLst/>
              <a:cxnLst/>
              <a:rect r="r" b="b" t="t" l="l"/>
              <a:pathLst>
                <a:path h="615823" w="615823">
                  <a:moveTo>
                    <a:pt x="0" y="0"/>
                  </a:moveTo>
                  <a:lnTo>
                    <a:pt x="615823" y="0"/>
                  </a:lnTo>
                  <a:lnTo>
                    <a:pt x="615823" y="615823"/>
                  </a:lnTo>
                  <a:lnTo>
                    <a:pt x="0" y="615823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38100" y="0"/>
              <a:ext cx="653923" cy="692023"/>
            </a:xfrm>
            <a:custGeom>
              <a:avLst/>
              <a:gdLst/>
              <a:ahLst/>
              <a:cxnLst/>
              <a:rect r="r" b="b" t="t" l="l"/>
              <a:pathLst>
                <a:path h="692023" w="653923">
                  <a:moveTo>
                    <a:pt x="0" y="0"/>
                  </a:moveTo>
                  <a:lnTo>
                    <a:pt x="615823" y="0"/>
                  </a:lnTo>
                  <a:cubicBezTo>
                    <a:pt x="636905" y="0"/>
                    <a:pt x="653923" y="17018"/>
                    <a:pt x="653923" y="38100"/>
                  </a:cubicBezTo>
                  <a:lnTo>
                    <a:pt x="653923" y="653923"/>
                  </a:lnTo>
                  <a:cubicBezTo>
                    <a:pt x="653923" y="675005"/>
                    <a:pt x="636905" y="692023"/>
                    <a:pt x="615823" y="692023"/>
                  </a:cubicBezTo>
                  <a:lnTo>
                    <a:pt x="0" y="692023"/>
                  </a:lnTo>
                  <a:lnTo>
                    <a:pt x="0" y="615823"/>
                  </a:lnTo>
                  <a:lnTo>
                    <a:pt x="615823" y="615823"/>
                  </a:lnTo>
                  <a:lnTo>
                    <a:pt x="615823" y="653923"/>
                  </a:lnTo>
                  <a:lnTo>
                    <a:pt x="577723" y="653923"/>
                  </a:lnTo>
                  <a:lnTo>
                    <a:pt x="577723" y="38100"/>
                  </a:lnTo>
                  <a:lnTo>
                    <a:pt x="615823" y="38100"/>
                  </a:lnTo>
                  <a:lnTo>
                    <a:pt x="6158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73883" y="7152923"/>
            <a:ext cx="237182" cy="349529"/>
            <a:chOff x="0" y="0"/>
            <a:chExt cx="316243" cy="46603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16244" cy="466042"/>
            </a:xfrm>
            <a:custGeom>
              <a:avLst/>
              <a:gdLst/>
              <a:ahLst/>
              <a:cxnLst/>
              <a:rect r="r" b="b" t="t" l="l"/>
              <a:pathLst>
                <a:path h="466042" w="316244">
                  <a:moveTo>
                    <a:pt x="0" y="0"/>
                  </a:moveTo>
                  <a:lnTo>
                    <a:pt x="316244" y="0"/>
                  </a:lnTo>
                  <a:lnTo>
                    <a:pt x="316244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9077" t="0" r="-139076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316243" cy="5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77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735179" y="7028088"/>
            <a:ext cx="6790906" cy="349529"/>
            <a:chOff x="0" y="0"/>
            <a:chExt cx="9054541" cy="4660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054536" cy="466042"/>
            </a:xfrm>
            <a:custGeom>
              <a:avLst/>
              <a:gdLst/>
              <a:ahLst/>
              <a:cxnLst/>
              <a:rect r="r" b="b" t="t" l="l"/>
              <a:pathLst>
                <a:path h="466042" w="9054536">
                  <a:moveTo>
                    <a:pt x="0" y="0"/>
                  </a:moveTo>
                  <a:lnTo>
                    <a:pt x="9054536" y="0"/>
                  </a:lnTo>
                  <a:lnTo>
                    <a:pt x="9054536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567" r="0" b="-32856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66675"/>
              <a:ext cx="9054541" cy="53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966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Delayed Shipments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35179" y="7427547"/>
            <a:ext cx="6765931" cy="599199"/>
            <a:chOff x="0" y="0"/>
            <a:chExt cx="9021242" cy="79893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021248" cy="798930"/>
            </a:xfrm>
            <a:custGeom>
              <a:avLst/>
              <a:gdLst/>
              <a:ahLst/>
              <a:cxnLst/>
              <a:rect r="r" b="b" t="t" l="l"/>
              <a:pathLst>
                <a:path h="798930" w="9021248">
                  <a:moveTo>
                    <a:pt x="0" y="0"/>
                  </a:moveTo>
                  <a:lnTo>
                    <a:pt x="9021248" y="0"/>
                  </a:lnTo>
                  <a:lnTo>
                    <a:pt x="9021248" y="798930"/>
                  </a:lnTo>
                  <a:lnTo>
                    <a:pt x="0" y="798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018" r="0" b="-17001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66675"/>
              <a:ext cx="9021242" cy="865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2"/>
                </a:lnSpc>
              </a:pPr>
              <a:r>
                <a:rPr lang="en-US" sz="1572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Lack of real-time optimization causes missed delivery windows and customer dissatisfaction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39010" y="8453809"/>
            <a:ext cx="7809262" cy="1492729"/>
            <a:chOff x="0" y="0"/>
            <a:chExt cx="10412349" cy="199030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38100" y="38100"/>
              <a:ext cx="10336149" cy="1914144"/>
            </a:xfrm>
            <a:custGeom>
              <a:avLst/>
              <a:gdLst/>
              <a:ahLst/>
              <a:cxnLst/>
              <a:rect r="r" b="b" t="t" l="l"/>
              <a:pathLst>
                <a:path h="1914144" w="10336149">
                  <a:moveTo>
                    <a:pt x="0" y="0"/>
                  </a:moveTo>
                  <a:lnTo>
                    <a:pt x="10336149" y="0"/>
                  </a:lnTo>
                  <a:lnTo>
                    <a:pt x="10336149" y="1914144"/>
                  </a:lnTo>
                  <a:lnTo>
                    <a:pt x="0" y="1914144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38100" y="0"/>
              <a:ext cx="10374249" cy="1990344"/>
            </a:xfrm>
            <a:custGeom>
              <a:avLst/>
              <a:gdLst/>
              <a:ahLst/>
              <a:cxnLst/>
              <a:rect r="r" b="b" t="t" l="l"/>
              <a:pathLst>
                <a:path h="1990344" w="10374249">
                  <a:moveTo>
                    <a:pt x="0" y="0"/>
                  </a:moveTo>
                  <a:lnTo>
                    <a:pt x="10336149" y="0"/>
                  </a:lnTo>
                  <a:cubicBezTo>
                    <a:pt x="10357231" y="0"/>
                    <a:pt x="10374249" y="17018"/>
                    <a:pt x="10374249" y="38100"/>
                  </a:cubicBezTo>
                  <a:lnTo>
                    <a:pt x="10374249" y="1952244"/>
                  </a:lnTo>
                  <a:cubicBezTo>
                    <a:pt x="10374249" y="1973326"/>
                    <a:pt x="10357231" y="1990344"/>
                    <a:pt x="10336149" y="1990344"/>
                  </a:cubicBezTo>
                  <a:lnTo>
                    <a:pt x="0" y="1990344"/>
                  </a:lnTo>
                  <a:lnTo>
                    <a:pt x="0" y="1914144"/>
                  </a:lnTo>
                  <a:lnTo>
                    <a:pt x="10336149" y="1914144"/>
                  </a:lnTo>
                  <a:lnTo>
                    <a:pt x="10336149" y="1952244"/>
                  </a:lnTo>
                  <a:lnTo>
                    <a:pt x="10298049" y="1952244"/>
                  </a:lnTo>
                  <a:lnTo>
                    <a:pt x="10298049" y="38100"/>
                  </a:lnTo>
                  <a:lnTo>
                    <a:pt x="10336149" y="38100"/>
                  </a:lnTo>
                  <a:lnTo>
                    <a:pt x="1033614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76192" y="8740931"/>
            <a:ext cx="519027" cy="519027"/>
            <a:chOff x="0" y="0"/>
            <a:chExt cx="692036" cy="6920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38100" y="38100"/>
              <a:ext cx="615823" cy="615823"/>
            </a:xfrm>
            <a:custGeom>
              <a:avLst/>
              <a:gdLst/>
              <a:ahLst/>
              <a:cxnLst/>
              <a:rect r="r" b="b" t="t" l="l"/>
              <a:pathLst>
                <a:path h="615823" w="615823">
                  <a:moveTo>
                    <a:pt x="0" y="0"/>
                  </a:moveTo>
                  <a:lnTo>
                    <a:pt x="615823" y="0"/>
                  </a:lnTo>
                  <a:lnTo>
                    <a:pt x="615823" y="615823"/>
                  </a:lnTo>
                  <a:lnTo>
                    <a:pt x="0" y="615823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38100" y="0"/>
              <a:ext cx="653923" cy="692023"/>
            </a:xfrm>
            <a:custGeom>
              <a:avLst/>
              <a:gdLst/>
              <a:ahLst/>
              <a:cxnLst/>
              <a:rect r="r" b="b" t="t" l="l"/>
              <a:pathLst>
                <a:path h="692023" w="653923">
                  <a:moveTo>
                    <a:pt x="0" y="0"/>
                  </a:moveTo>
                  <a:lnTo>
                    <a:pt x="615823" y="0"/>
                  </a:lnTo>
                  <a:cubicBezTo>
                    <a:pt x="636905" y="0"/>
                    <a:pt x="653923" y="17018"/>
                    <a:pt x="653923" y="38100"/>
                  </a:cubicBezTo>
                  <a:lnTo>
                    <a:pt x="653923" y="653923"/>
                  </a:lnTo>
                  <a:cubicBezTo>
                    <a:pt x="653923" y="675005"/>
                    <a:pt x="636905" y="692023"/>
                    <a:pt x="615823" y="692023"/>
                  </a:cubicBezTo>
                  <a:lnTo>
                    <a:pt x="0" y="692023"/>
                  </a:lnTo>
                  <a:lnTo>
                    <a:pt x="0" y="615823"/>
                  </a:lnTo>
                  <a:lnTo>
                    <a:pt x="615823" y="615823"/>
                  </a:lnTo>
                  <a:lnTo>
                    <a:pt x="615823" y="653923"/>
                  </a:lnTo>
                  <a:lnTo>
                    <a:pt x="577723" y="653923"/>
                  </a:lnTo>
                  <a:lnTo>
                    <a:pt x="577723" y="38100"/>
                  </a:lnTo>
                  <a:lnTo>
                    <a:pt x="615823" y="38100"/>
                  </a:lnTo>
                  <a:lnTo>
                    <a:pt x="6158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77388" y="8825674"/>
            <a:ext cx="224695" cy="349529"/>
            <a:chOff x="0" y="0"/>
            <a:chExt cx="299593" cy="46603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99598" cy="466042"/>
            </a:xfrm>
            <a:custGeom>
              <a:avLst/>
              <a:gdLst/>
              <a:ahLst/>
              <a:cxnLst/>
              <a:rect r="r" b="b" t="t" l="l"/>
              <a:pathLst>
                <a:path h="466042" w="299598">
                  <a:moveTo>
                    <a:pt x="0" y="0"/>
                  </a:moveTo>
                  <a:lnTo>
                    <a:pt x="299598" y="0"/>
                  </a:lnTo>
                  <a:lnTo>
                    <a:pt x="299598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9583" t="0" r="-149581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76200"/>
              <a:ext cx="299593" cy="542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77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35179" y="8700840"/>
            <a:ext cx="6790906" cy="349529"/>
            <a:chOff x="0" y="0"/>
            <a:chExt cx="9054541" cy="46603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054536" cy="466042"/>
            </a:xfrm>
            <a:custGeom>
              <a:avLst/>
              <a:gdLst/>
              <a:ahLst/>
              <a:cxnLst/>
              <a:rect r="r" b="b" t="t" l="l"/>
              <a:pathLst>
                <a:path h="466042" w="9054536">
                  <a:moveTo>
                    <a:pt x="0" y="0"/>
                  </a:moveTo>
                  <a:lnTo>
                    <a:pt x="9054536" y="0"/>
                  </a:lnTo>
                  <a:lnTo>
                    <a:pt x="9054536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567" r="0" b="-328566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66675"/>
              <a:ext cx="9054541" cy="53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966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Manual Logistics Management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735179" y="9100309"/>
            <a:ext cx="6765931" cy="599199"/>
            <a:chOff x="0" y="0"/>
            <a:chExt cx="9021242" cy="79893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021248" cy="798930"/>
            </a:xfrm>
            <a:custGeom>
              <a:avLst/>
              <a:gdLst/>
              <a:ahLst/>
              <a:cxnLst/>
              <a:rect r="r" b="b" t="t" l="l"/>
              <a:pathLst>
                <a:path h="798930" w="9021248">
                  <a:moveTo>
                    <a:pt x="0" y="0"/>
                  </a:moveTo>
                  <a:lnTo>
                    <a:pt x="9021248" y="0"/>
                  </a:lnTo>
                  <a:lnTo>
                    <a:pt x="9021248" y="798930"/>
                  </a:lnTo>
                  <a:lnTo>
                    <a:pt x="0" y="798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018" r="0" b="-17001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66675"/>
              <a:ext cx="9021242" cy="865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2"/>
                </a:lnSpc>
              </a:pPr>
              <a:r>
                <a:rPr lang="en-US" sz="1572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Traditional methods lack automation, optimization, and data-driven decision making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279884" y="2034121"/>
            <a:ext cx="8514893" cy="8265233"/>
            <a:chOff x="0" y="0"/>
            <a:chExt cx="11353190" cy="1102031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50800" y="50800"/>
              <a:ext cx="11251565" cy="10918698"/>
            </a:xfrm>
            <a:custGeom>
              <a:avLst/>
              <a:gdLst/>
              <a:ahLst/>
              <a:cxnLst/>
              <a:rect r="r" b="b" t="t" l="l"/>
              <a:pathLst>
                <a:path h="10918698" w="11251565">
                  <a:moveTo>
                    <a:pt x="0" y="0"/>
                  </a:moveTo>
                  <a:lnTo>
                    <a:pt x="11251565" y="0"/>
                  </a:lnTo>
                  <a:lnTo>
                    <a:pt x="11251565" y="10918698"/>
                  </a:lnTo>
                  <a:lnTo>
                    <a:pt x="0" y="10918698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50800" y="0"/>
              <a:ext cx="11302365" cy="11020298"/>
            </a:xfrm>
            <a:custGeom>
              <a:avLst/>
              <a:gdLst/>
              <a:ahLst/>
              <a:cxnLst/>
              <a:rect r="r" b="b" t="t" l="l"/>
              <a:pathLst>
                <a:path h="11020298" w="11302365">
                  <a:moveTo>
                    <a:pt x="0" y="0"/>
                  </a:moveTo>
                  <a:lnTo>
                    <a:pt x="11251565" y="0"/>
                  </a:lnTo>
                  <a:cubicBezTo>
                    <a:pt x="11279632" y="0"/>
                    <a:pt x="11302365" y="22733"/>
                    <a:pt x="11302365" y="50800"/>
                  </a:cubicBezTo>
                  <a:lnTo>
                    <a:pt x="11302365" y="10969498"/>
                  </a:lnTo>
                  <a:cubicBezTo>
                    <a:pt x="11302365" y="10997565"/>
                    <a:pt x="11279632" y="11020298"/>
                    <a:pt x="11251565" y="11020298"/>
                  </a:cubicBezTo>
                  <a:lnTo>
                    <a:pt x="0" y="11020298"/>
                  </a:lnTo>
                  <a:lnTo>
                    <a:pt x="0" y="10918698"/>
                  </a:lnTo>
                  <a:lnTo>
                    <a:pt x="11251565" y="10918698"/>
                  </a:lnTo>
                  <a:lnTo>
                    <a:pt x="11251565" y="10969498"/>
                  </a:lnTo>
                  <a:lnTo>
                    <a:pt x="11200765" y="10969498"/>
                  </a:lnTo>
                  <a:lnTo>
                    <a:pt x="11200765" y="50800"/>
                  </a:lnTo>
                  <a:lnTo>
                    <a:pt x="11251565" y="50800"/>
                  </a:lnTo>
                  <a:lnTo>
                    <a:pt x="11251565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642548" y="2396785"/>
            <a:ext cx="798928" cy="798928"/>
            <a:chOff x="0" y="0"/>
            <a:chExt cx="1065238" cy="106523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65276" cy="1065276"/>
            </a:xfrm>
            <a:custGeom>
              <a:avLst/>
              <a:gdLst/>
              <a:ahLst/>
              <a:cxnLst/>
              <a:rect r="r" b="b" t="t" l="l"/>
              <a:pathLst>
                <a:path h="1065276" w="1065276">
                  <a:moveTo>
                    <a:pt x="0" y="0"/>
                  </a:moveTo>
                  <a:lnTo>
                    <a:pt x="1065276" y="0"/>
                  </a:lnTo>
                  <a:lnTo>
                    <a:pt x="1065276" y="1065276"/>
                  </a:lnTo>
                  <a:lnTo>
                    <a:pt x="0" y="1065276"/>
                  </a:lnTo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94" id="94"/>
          <p:cNvSpPr/>
          <p:nvPr/>
        </p:nvSpPr>
        <p:spPr>
          <a:xfrm flipH="false" flipV="false" rot="0">
            <a:off x="9857889" y="2609002"/>
            <a:ext cx="374494" cy="374494"/>
          </a:xfrm>
          <a:custGeom>
            <a:avLst/>
            <a:gdLst/>
            <a:ahLst/>
            <a:cxnLst/>
            <a:rect r="r" b="b" t="t" l="l"/>
            <a:pathLst>
              <a:path h="374494" w="374494">
                <a:moveTo>
                  <a:pt x="0" y="0"/>
                </a:moveTo>
                <a:lnTo>
                  <a:pt x="374495" y="0"/>
                </a:lnTo>
                <a:lnTo>
                  <a:pt x="374495" y="374495"/>
                </a:lnTo>
                <a:lnTo>
                  <a:pt x="0" y="3744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10591276" y="2571560"/>
            <a:ext cx="1785109" cy="449399"/>
            <a:chOff x="0" y="0"/>
            <a:chExt cx="2380145" cy="599199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380144" cy="599198"/>
            </a:xfrm>
            <a:custGeom>
              <a:avLst/>
              <a:gdLst/>
              <a:ahLst/>
              <a:cxnLst/>
              <a:rect r="r" b="b" t="t" l="l"/>
              <a:pathLst>
                <a:path h="599198" w="2380144">
                  <a:moveTo>
                    <a:pt x="0" y="0"/>
                  </a:moveTo>
                  <a:lnTo>
                    <a:pt x="2380144" y="0"/>
                  </a:lnTo>
                  <a:lnTo>
                    <a:pt x="2380144" y="599198"/>
                  </a:lnTo>
                  <a:lnTo>
                    <a:pt x="0" y="5991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398" r="0" b="-2739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19050"/>
              <a:ext cx="2380145" cy="6182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38"/>
                </a:lnSpc>
              </a:pPr>
              <a:r>
                <a:rPr lang="en-US" sz="2949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Solutions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32699" y="3697681"/>
            <a:ext cx="7809262" cy="1592590"/>
            <a:chOff x="0" y="0"/>
            <a:chExt cx="10412349" cy="212345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38100" y="38100"/>
              <a:ext cx="10336149" cy="2047240"/>
            </a:xfrm>
            <a:custGeom>
              <a:avLst/>
              <a:gdLst/>
              <a:ahLst/>
              <a:cxnLst/>
              <a:rect r="r" b="b" t="t" l="l"/>
              <a:pathLst>
                <a:path h="2047240" w="10336149">
                  <a:moveTo>
                    <a:pt x="0" y="0"/>
                  </a:moveTo>
                  <a:lnTo>
                    <a:pt x="10336149" y="0"/>
                  </a:lnTo>
                  <a:lnTo>
                    <a:pt x="10336149" y="2047240"/>
                  </a:lnTo>
                  <a:lnTo>
                    <a:pt x="0" y="204724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38100" y="0"/>
              <a:ext cx="10374249" cy="2123440"/>
            </a:xfrm>
            <a:custGeom>
              <a:avLst/>
              <a:gdLst/>
              <a:ahLst/>
              <a:cxnLst/>
              <a:rect r="r" b="b" t="t" l="l"/>
              <a:pathLst>
                <a:path h="2123440" w="10374249">
                  <a:moveTo>
                    <a:pt x="0" y="0"/>
                  </a:moveTo>
                  <a:lnTo>
                    <a:pt x="10336149" y="0"/>
                  </a:lnTo>
                  <a:cubicBezTo>
                    <a:pt x="10357231" y="0"/>
                    <a:pt x="10374249" y="17018"/>
                    <a:pt x="10374249" y="38100"/>
                  </a:cubicBezTo>
                  <a:lnTo>
                    <a:pt x="10374249" y="2085340"/>
                  </a:lnTo>
                  <a:cubicBezTo>
                    <a:pt x="10374249" y="2106422"/>
                    <a:pt x="10357231" y="2123440"/>
                    <a:pt x="10336149" y="2123440"/>
                  </a:cubicBezTo>
                  <a:lnTo>
                    <a:pt x="0" y="2123440"/>
                  </a:lnTo>
                  <a:lnTo>
                    <a:pt x="0" y="2047240"/>
                  </a:lnTo>
                  <a:lnTo>
                    <a:pt x="10336149" y="2047240"/>
                  </a:lnTo>
                  <a:lnTo>
                    <a:pt x="10336149" y="2085340"/>
                  </a:lnTo>
                  <a:lnTo>
                    <a:pt x="10298049" y="2085340"/>
                  </a:lnTo>
                  <a:lnTo>
                    <a:pt x="10298049" y="38100"/>
                  </a:lnTo>
                  <a:lnTo>
                    <a:pt x="10336149" y="38100"/>
                  </a:lnTo>
                  <a:lnTo>
                    <a:pt x="1033614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919821" y="4034733"/>
            <a:ext cx="519027" cy="519027"/>
            <a:chOff x="0" y="0"/>
            <a:chExt cx="692036" cy="69203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38100" y="38100"/>
              <a:ext cx="615823" cy="615823"/>
            </a:xfrm>
            <a:custGeom>
              <a:avLst/>
              <a:gdLst/>
              <a:ahLst/>
              <a:cxnLst/>
              <a:rect r="r" b="b" t="t" l="l"/>
              <a:pathLst>
                <a:path h="615823" w="615823">
                  <a:moveTo>
                    <a:pt x="0" y="0"/>
                  </a:moveTo>
                  <a:lnTo>
                    <a:pt x="615823" y="0"/>
                  </a:lnTo>
                  <a:lnTo>
                    <a:pt x="615823" y="615823"/>
                  </a:lnTo>
                  <a:lnTo>
                    <a:pt x="0" y="615823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38100" y="0"/>
              <a:ext cx="653923" cy="692023"/>
            </a:xfrm>
            <a:custGeom>
              <a:avLst/>
              <a:gdLst/>
              <a:ahLst/>
              <a:cxnLst/>
              <a:rect r="r" b="b" t="t" l="l"/>
              <a:pathLst>
                <a:path h="692023" w="653923">
                  <a:moveTo>
                    <a:pt x="0" y="0"/>
                  </a:moveTo>
                  <a:lnTo>
                    <a:pt x="615823" y="0"/>
                  </a:lnTo>
                  <a:cubicBezTo>
                    <a:pt x="636905" y="0"/>
                    <a:pt x="653923" y="17018"/>
                    <a:pt x="653923" y="38100"/>
                  </a:cubicBezTo>
                  <a:lnTo>
                    <a:pt x="653923" y="653923"/>
                  </a:lnTo>
                  <a:cubicBezTo>
                    <a:pt x="653923" y="675005"/>
                    <a:pt x="636905" y="692023"/>
                    <a:pt x="615823" y="692023"/>
                  </a:cubicBezTo>
                  <a:lnTo>
                    <a:pt x="0" y="692023"/>
                  </a:lnTo>
                  <a:lnTo>
                    <a:pt x="0" y="615823"/>
                  </a:lnTo>
                  <a:lnTo>
                    <a:pt x="615823" y="615823"/>
                  </a:lnTo>
                  <a:lnTo>
                    <a:pt x="615823" y="653923"/>
                  </a:lnTo>
                  <a:lnTo>
                    <a:pt x="577723" y="653923"/>
                  </a:lnTo>
                  <a:lnTo>
                    <a:pt x="577723" y="38100"/>
                  </a:lnTo>
                  <a:lnTo>
                    <a:pt x="615823" y="38100"/>
                  </a:lnTo>
                  <a:lnTo>
                    <a:pt x="6158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04" id="104"/>
          <p:cNvSpPr/>
          <p:nvPr/>
        </p:nvSpPr>
        <p:spPr>
          <a:xfrm flipH="false" flipV="false" rot="0">
            <a:off x="10079469" y="4194381"/>
            <a:ext cx="199730" cy="199730"/>
          </a:xfrm>
          <a:custGeom>
            <a:avLst/>
            <a:gdLst/>
            <a:ahLst/>
            <a:cxnLst/>
            <a:rect r="r" b="b" t="t" l="l"/>
            <a:pathLst>
              <a:path h="199730" w="199730">
                <a:moveTo>
                  <a:pt x="0" y="0"/>
                </a:moveTo>
                <a:lnTo>
                  <a:pt x="199730" y="0"/>
                </a:lnTo>
                <a:lnTo>
                  <a:pt x="199730" y="199730"/>
                </a:lnTo>
                <a:lnTo>
                  <a:pt x="0" y="1997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10578798" y="3994652"/>
            <a:ext cx="6691036" cy="349529"/>
            <a:chOff x="0" y="0"/>
            <a:chExt cx="8921382" cy="46603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921382" cy="466042"/>
            </a:xfrm>
            <a:custGeom>
              <a:avLst/>
              <a:gdLst/>
              <a:ahLst/>
              <a:cxnLst/>
              <a:rect r="r" b="b" t="t" l="l"/>
              <a:pathLst>
                <a:path h="466042" w="8921382">
                  <a:moveTo>
                    <a:pt x="0" y="0"/>
                  </a:moveTo>
                  <a:lnTo>
                    <a:pt x="8921382" y="0"/>
                  </a:lnTo>
                  <a:lnTo>
                    <a:pt x="8921382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999" r="0" b="-32299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66675"/>
              <a:ext cx="8921382" cy="53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966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Intelligent Route Optimization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578798" y="4394111"/>
            <a:ext cx="6666071" cy="599199"/>
            <a:chOff x="0" y="0"/>
            <a:chExt cx="8888095" cy="798932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8888092" cy="798930"/>
            </a:xfrm>
            <a:custGeom>
              <a:avLst/>
              <a:gdLst/>
              <a:ahLst/>
              <a:cxnLst/>
              <a:rect r="r" b="b" t="t" l="l"/>
              <a:pathLst>
                <a:path h="798930" w="8888092">
                  <a:moveTo>
                    <a:pt x="0" y="0"/>
                  </a:moveTo>
                  <a:lnTo>
                    <a:pt x="8888092" y="0"/>
                  </a:lnTo>
                  <a:lnTo>
                    <a:pt x="8888092" y="798930"/>
                  </a:lnTo>
                  <a:lnTo>
                    <a:pt x="0" y="798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770" r="0" b="-16677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66675"/>
              <a:ext cx="8888095" cy="865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2"/>
                </a:lnSpc>
              </a:pPr>
              <a:r>
                <a:rPr lang="en-US" sz="1572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Dijkstra's algorithm calculates optimal paths, reducing travel distance by up to 35%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632699" y="6044536"/>
            <a:ext cx="7809262" cy="1592590"/>
            <a:chOff x="0" y="0"/>
            <a:chExt cx="10412349" cy="2123453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38100" y="38100"/>
              <a:ext cx="10336149" cy="2047240"/>
            </a:xfrm>
            <a:custGeom>
              <a:avLst/>
              <a:gdLst/>
              <a:ahLst/>
              <a:cxnLst/>
              <a:rect r="r" b="b" t="t" l="l"/>
              <a:pathLst>
                <a:path h="2047240" w="10336149">
                  <a:moveTo>
                    <a:pt x="0" y="0"/>
                  </a:moveTo>
                  <a:lnTo>
                    <a:pt x="10336149" y="0"/>
                  </a:lnTo>
                  <a:lnTo>
                    <a:pt x="10336149" y="2047240"/>
                  </a:lnTo>
                  <a:lnTo>
                    <a:pt x="0" y="204724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38100" y="0"/>
              <a:ext cx="10374249" cy="2123440"/>
            </a:xfrm>
            <a:custGeom>
              <a:avLst/>
              <a:gdLst/>
              <a:ahLst/>
              <a:cxnLst/>
              <a:rect r="r" b="b" t="t" l="l"/>
              <a:pathLst>
                <a:path h="2123440" w="10374249">
                  <a:moveTo>
                    <a:pt x="0" y="0"/>
                  </a:moveTo>
                  <a:lnTo>
                    <a:pt x="10336149" y="0"/>
                  </a:lnTo>
                  <a:cubicBezTo>
                    <a:pt x="10357231" y="0"/>
                    <a:pt x="10374249" y="17018"/>
                    <a:pt x="10374249" y="38100"/>
                  </a:cubicBezTo>
                  <a:lnTo>
                    <a:pt x="10374249" y="2085340"/>
                  </a:lnTo>
                  <a:cubicBezTo>
                    <a:pt x="10374249" y="2106422"/>
                    <a:pt x="10357231" y="2123440"/>
                    <a:pt x="10336149" y="2123440"/>
                  </a:cubicBezTo>
                  <a:lnTo>
                    <a:pt x="0" y="2123440"/>
                  </a:lnTo>
                  <a:lnTo>
                    <a:pt x="0" y="2047240"/>
                  </a:lnTo>
                  <a:lnTo>
                    <a:pt x="10336149" y="2047240"/>
                  </a:lnTo>
                  <a:lnTo>
                    <a:pt x="10336149" y="2085340"/>
                  </a:lnTo>
                  <a:lnTo>
                    <a:pt x="10298049" y="2085340"/>
                  </a:lnTo>
                  <a:lnTo>
                    <a:pt x="10298049" y="38100"/>
                  </a:lnTo>
                  <a:lnTo>
                    <a:pt x="10336149" y="38100"/>
                  </a:lnTo>
                  <a:lnTo>
                    <a:pt x="1033614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919821" y="6381588"/>
            <a:ext cx="519027" cy="519027"/>
            <a:chOff x="0" y="0"/>
            <a:chExt cx="692036" cy="692036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38100" y="38100"/>
              <a:ext cx="615823" cy="615823"/>
            </a:xfrm>
            <a:custGeom>
              <a:avLst/>
              <a:gdLst/>
              <a:ahLst/>
              <a:cxnLst/>
              <a:rect r="r" b="b" t="t" l="l"/>
              <a:pathLst>
                <a:path h="615823" w="615823">
                  <a:moveTo>
                    <a:pt x="0" y="0"/>
                  </a:moveTo>
                  <a:lnTo>
                    <a:pt x="615823" y="0"/>
                  </a:lnTo>
                  <a:lnTo>
                    <a:pt x="615823" y="615823"/>
                  </a:lnTo>
                  <a:lnTo>
                    <a:pt x="0" y="615823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38100" y="0"/>
              <a:ext cx="653923" cy="692023"/>
            </a:xfrm>
            <a:custGeom>
              <a:avLst/>
              <a:gdLst/>
              <a:ahLst/>
              <a:cxnLst/>
              <a:rect r="r" b="b" t="t" l="l"/>
              <a:pathLst>
                <a:path h="692023" w="653923">
                  <a:moveTo>
                    <a:pt x="0" y="0"/>
                  </a:moveTo>
                  <a:lnTo>
                    <a:pt x="615823" y="0"/>
                  </a:lnTo>
                  <a:cubicBezTo>
                    <a:pt x="636905" y="0"/>
                    <a:pt x="653923" y="17018"/>
                    <a:pt x="653923" y="38100"/>
                  </a:cubicBezTo>
                  <a:lnTo>
                    <a:pt x="653923" y="653923"/>
                  </a:lnTo>
                  <a:cubicBezTo>
                    <a:pt x="653923" y="675005"/>
                    <a:pt x="636905" y="692023"/>
                    <a:pt x="615823" y="692023"/>
                  </a:cubicBezTo>
                  <a:lnTo>
                    <a:pt x="0" y="692023"/>
                  </a:lnTo>
                  <a:lnTo>
                    <a:pt x="0" y="615823"/>
                  </a:lnTo>
                  <a:lnTo>
                    <a:pt x="615823" y="615823"/>
                  </a:lnTo>
                  <a:lnTo>
                    <a:pt x="615823" y="653923"/>
                  </a:lnTo>
                  <a:lnTo>
                    <a:pt x="577723" y="653923"/>
                  </a:lnTo>
                  <a:lnTo>
                    <a:pt x="577723" y="38100"/>
                  </a:lnTo>
                  <a:lnTo>
                    <a:pt x="615823" y="38100"/>
                  </a:lnTo>
                  <a:lnTo>
                    <a:pt x="6158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10079469" y="6541237"/>
            <a:ext cx="199730" cy="199730"/>
          </a:xfrm>
          <a:custGeom>
            <a:avLst/>
            <a:gdLst/>
            <a:ahLst/>
            <a:cxnLst/>
            <a:rect r="r" b="b" t="t" l="l"/>
            <a:pathLst>
              <a:path h="199730" w="199730">
                <a:moveTo>
                  <a:pt x="0" y="0"/>
                </a:moveTo>
                <a:lnTo>
                  <a:pt x="199730" y="0"/>
                </a:lnTo>
                <a:lnTo>
                  <a:pt x="199730" y="199729"/>
                </a:lnTo>
                <a:lnTo>
                  <a:pt x="0" y="1997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0578798" y="6341507"/>
            <a:ext cx="6691036" cy="349529"/>
            <a:chOff x="0" y="0"/>
            <a:chExt cx="8921382" cy="466039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921382" cy="466042"/>
            </a:xfrm>
            <a:custGeom>
              <a:avLst/>
              <a:gdLst/>
              <a:ahLst/>
              <a:cxnLst/>
              <a:rect r="r" b="b" t="t" l="l"/>
              <a:pathLst>
                <a:path h="466042" w="8921382">
                  <a:moveTo>
                    <a:pt x="0" y="0"/>
                  </a:moveTo>
                  <a:lnTo>
                    <a:pt x="8921382" y="0"/>
                  </a:lnTo>
                  <a:lnTo>
                    <a:pt x="8921382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2999" r="0" b="-322999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66675"/>
              <a:ext cx="8921382" cy="53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966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Centralized Logistics Dashboard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0578798" y="6740966"/>
            <a:ext cx="6666071" cy="599199"/>
            <a:chOff x="0" y="0"/>
            <a:chExt cx="8888095" cy="798932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8888092" cy="798930"/>
            </a:xfrm>
            <a:custGeom>
              <a:avLst/>
              <a:gdLst/>
              <a:ahLst/>
              <a:cxnLst/>
              <a:rect r="r" b="b" t="t" l="l"/>
              <a:pathLst>
                <a:path h="798930" w="8888092">
                  <a:moveTo>
                    <a:pt x="0" y="0"/>
                  </a:moveTo>
                  <a:lnTo>
                    <a:pt x="8888092" y="0"/>
                  </a:lnTo>
                  <a:lnTo>
                    <a:pt x="8888092" y="798930"/>
                  </a:lnTo>
                  <a:lnTo>
                    <a:pt x="0" y="798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6770" r="0" b="-166771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66675"/>
              <a:ext cx="8888095" cy="8656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2"/>
                </a:lnSpc>
              </a:pPr>
              <a:r>
                <a:rPr lang="en-US" sz="1572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Unified platform for managing all operations with real-time visibility and control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9632699" y="8391392"/>
            <a:ext cx="7809262" cy="1292990"/>
            <a:chOff x="0" y="0"/>
            <a:chExt cx="10412349" cy="1723987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38100" y="38100"/>
              <a:ext cx="10336149" cy="1647825"/>
            </a:xfrm>
            <a:custGeom>
              <a:avLst/>
              <a:gdLst/>
              <a:ahLst/>
              <a:cxnLst/>
              <a:rect r="r" b="b" t="t" l="l"/>
              <a:pathLst>
                <a:path h="1647825" w="10336149">
                  <a:moveTo>
                    <a:pt x="0" y="0"/>
                  </a:moveTo>
                  <a:lnTo>
                    <a:pt x="10336149" y="0"/>
                  </a:lnTo>
                  <a:lnTo>
                    <a:pt x="10336149" y="1647825"/>
                  </a:lnTo>
                  <a:lnTo>
                    <a:pt x="0" y="1647825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38100" y="0"/>
              <a:ext cx="10374249" cy="1724025"/>
            </a:xfrm>
            <a:custGeom>
              <a:avLst/>
              <a:gdLst/>
              <a:ahLst/>
              <a:cxnLst/>
              <a:rect r="r" b="b" t="t" l="l"/>
              <a:pathLst>
                <a:path h="1724025" w="10374249">
                  <a:moveTo>
                    <a:pt x="0" y="0"/>
                  </a:moveTo>
                  <a:lnTo>
                    <a:pt x="10336149" y="0"/>
                  </a:lnTo>
                  <a:cubicBezTo>
                    <a:pt x="10357231" y="0"/>
                    <a:pt x="10374249" y="17018"/>
                    <a:pt x="10374249" y="38100"/>
                  </a:cubicBezTo>
                  <a:lnTo>
                    <a:pt x="10374249" y="1685925"/>
                  </a:lnTo>
                  <a:cubicBezTo>
                    <a:pt x="10374249" y="1707007"/>
                    <a:pt x="10357231" y="1724025"/>
                    <a:pt x="10336149" y="1724025"/>
                  </a:cubicBezTo>
                  <a:lnTo>
                    <a:pt x="0" y="1724025"/>
                  </a:lnTo>
                  <a:lnTo>
                    <a:pt x="0" y="1647825"/>
                  </a:lnTo>
                  <a:lnTo>
                    <a:pt x="10336149" y="1647825"/>
                  </a:lnTo>
                  <a:lnTo>
                    <a:pt x="10336149" y="1685925"/>
                  </a:lnTo>
                  <a:lnTo>
                    <a:pt x="10298049" y="1685925"/>
                  </a:lnTo>
                  <a:lnTo>
                    <a:pt x="10298049" y="38100"/>
                  </a:lnTo>
                  <a:lnTo>
                    <a:pt x="10336149" y="38100"/>
                  </a:lnTo>
                  <a:lnTo>
                    <a:pt x="1033614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919821" y="8728443"/>
            <a:ext cx="519027" cy="519027"/>
            <a:chOff x="0" y="0"/>
            <a:chExt cx="692036" cy="692036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38100" y="38100"/>
              <a:ext cx="615823" cy="615823"/>
            </a:xfrm>
            <a:custGeom>
              <a:avLst/>
              <a:gdLst/>
              <a:ahLst/>
              <a:cxnLst/>
              <a:rect r="r" b="b" t="t" l="l"/>
              <a:pathLst>
                <a:path h="615823" w="615823">
                  <a:moveTo>
                    <a:pt x="0" y="0"/>
                  </a:moveTo>
                  <a:lnTo>
                    <a:pt x="615823" y="0"/>
                  </a:lnTo>
                  <a:lnTo>
                    <a:pt x="615823" y="615823"/>
                  </a:lnTo>
                  <a:lnTo>
                    <a:pt x="0" y="615823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38100" y="0"/>
              <a:ext cx="653923" cy="692023"/>
            </a:xfrm>
            <a:custGeom>
              <a:avLst/>
              <a:gdLst/>
              <a:ahLst/>
              <a:cxnLst/>
              <a:rect r="r" b="b" t="t" l="l"/>
              <a:pathLst>
                <a:path h="692023" w="653923">
                  <a:moveTo>
                    <a:pt x="0" y="0"/>
                  </a:moveTo>
                  <a:lnTo>
                    <a:pt x="615823" y="0"/>
                  </a:lnTo>
                  <a:cubicBezTo>
                    <a:pt x="636905" y="0"/>
                    <a:pt x="653923" y="17018"/>
                    <a:pt x="653923" y="38100"/>
                  </a:cubicBezTo>
                  <a:lnTo>
                    <a:pt x="653923" y="653923"/>
                  </a:lnTo>
                  <a:cubicBezTo>
                    <a:pt x="653923" y="675005"/>
                    <a:pt x="636905" y="692023"/>
                    <a:pt x="615823" y="692023"/>
                  </a:cubicBezTo>
                  <a:lnTo>
                    <a:pt x="0" y="692023"/>
                  </a:lnTo>
                  <a:lnTo>
                    <a:pt x="0" y="615823"/>
                  </a:lnTo>
                  <a:lnTo>
                    <a:pt x="615823" y="615823"/>
                  </a:lnTo>
                  <a:lnTo>
                    <a:pt x="615823" y="653923"/>
                  </a:lnTo>
                  <a:lnTo>
                    <a:pt x="577723" y="653923"/>
                  </a:lnTo>
                  <a:lnTo>
                    <a:pt x="577723" y="38100"/>
                  </a:lnTo>
                  <a:lnTo>
                    <a:pt x="615823" y="38100"/>
                  </a:lnTo>
                  <a:lnTo>
                    <a:pt x="61582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30" id="130"/>
          <p:cNvSpPr/>
          <p:nvPr/>
        </p:nvSpPr>
        <p:spPr>
          <a:xfrm flipH="false" flipV="false" rot="0">
            <a:off x="10079469" y="8888092"/>
            <a:ext cx="199730" cy="199730"/>
          </a:xfrm>
          <a:custGeom>
            <a:avLst/>
            <a:gdLst/>
            <a:ahLst/>
            <a:cxnLst/>
            <a:rect r="r" b="b" t="t" l="l"/>
            <a:pathLst>
              <a:path h="199730" w="199730">
                <a:moveTo>
                  <a:pt x="0" y="0"/>
                </a:moveTo>
                <a:lnTo>
                  <a:pt x="199730" y="0"/>
                </a:lnTo>
                <a:lnTo>
                  <a:pt x="199730" y="199730"/>
                </a:lnTo>
                <a:lnTo>
                  <a:pt x="0" y="19973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1" id="131"/>
          <p:cNvGrpSpPr/>
          <p:nvPr/>
        </p:nvGrpSpPr>
        <p:grpSpPr>
          <a:xfrm rot="0">
            <a:off x="10578798" y="8688362"/>
            <a:ext cx="6353985" cy="349529"/>
            <a:chOff x="0" y="0"/>
            <a:chExt cx="8471980" cy="466039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8471984" cy="466042"/>
            </a:xfrm>
            <a:custGeom>
              <a:avLst/>
              <a:gdLst/>
              <a:ahLst/>
              <a:cxnLst/>
              <a:rect r="r" b="b" t="t" l="l"/>
              <a:pathLst>
                <a:path h="466042" w="8471984">
                  <a:moveTo>
                    <a:pt x="0" y="0"/>
                  </a:moveTo>
                  <a:lnTo>
                    <a:pt x="8471984" y="0"/>
                  </a:lnTo>
                  <a:lnTo>
                    <a:pt x="8471984" y="466042"/>
                  </a:lnTo>
                  <a:lnTo>
                    <a:pt x="0" y="4660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4210" r="0" b="-304209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66675"/>
              <a:ext cx="8471980" cy="532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31"/>
                </a:lnSpc>
              </a:pPr>
              <a:r>
                <a:rPr lang="en-US" sz="1966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Real-Time Shipment Tracking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578798" y="9087822"/>
            <a:ext cx="6329020" cy="299599"/>
            <a:chOff x="0" y="0"/>
            <a:chExt cx="8438693" cy="39946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8438694" cy="399464"/>
            </a:xfrm>
            <a:custGeom>
              <a:avLst/>
              <a:gdLst/>
              <a:ahLst/>
              <a:cxnLst/>
              <a:rect r="r" b="b" t="t" l="l"/>
              <a:pathLst>
                <a:path h="399464" w="8438694">
                  <a:moveTo>
                    <a:pt x="0" y="0"/>
                  </a:moveTo>
                  <a:lnTo>
                    <a:pt x="8438694" y="0"/>
                  </a:lnTo>
                  <a:lnTo>
                    <a:pt x="8438694" y="399464"/>
                  </a:lnTo>
                  <a:lnTo>
                    <a:pt x="0" y="399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621" r="0" b="-36162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66675"/>
              <a:ext cx="8438693" cy="4661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2"/>
                </a:lnSpc>
              </a:pPr>
              <a:r>
                <a:rPr lang="en-US" sz="1572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Live monitoring of deliveries with automated alerts and status updates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800000">
            <a:off x="15830217" y="67837"/>
            <a:ext cx="1139533" cy="1139533"/>
            <a:chOff x="0" y="0"/>
            <a:chExt cx="1519377" cy="15193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443228" cy="1443228"/>
            </a:xfrm>
            <a:custGeom>
              <a:avLst/>
              <a:gdLst/>
              <a:ahLst/>
              <a:cxnLst/>
              <a:rect r="r" b="b" t="t" l="l"/>
              <a:pathLst>
                <a:path h="1443228" w="1443228">
                  <a:moveTo>
                    <a:pt x="0" y="0"/>
                  </a:moveTo>
                  <a:lnTo>
                    <a:pt x="1443228" y="0"/>
                  </a:lnTo>
                  <a:lnTo>
                    <a:pt x="1443228" y="1443228"/>
                  </a:lnTo>
                  <a:lnTo>
                    <a:pt x="0" y="1443228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8100" y="0"/>
              <a:ext cx="1481328" cy="1519428"/>
            </a:xfrm>
            <a:custGeom>
              <a:avLst/>
              <a:gdLst/>
              <a:ahLst/>
              <a:cxnLst/>
              <a:rect r="r" b="b" t="t" l="l"/>
              <a:pathLst>
                <a:path h="1519428" w="1481328">
                  <a:moveTo>
                    <a:pt x="0" y="0"/>
                  </a:moveTo>
                  <a:lnTo>
                    <a:pt x="1443228" y="0"/>
                  </a:lnTo>
                  <a:cubicBezTo>
                    <a:pt x="1464310" y="0"/>
                    <a:pt x="1481328" y="17018"/>
                    <a:pt x="1481328" y="38100"/>
                  </a:cubicBezTo>
                  <a:lnTo>
                    <a:pt x="1481328" y="1481328"/>
                  </a:lnTo>
                  <a:cubicBezTo>
                    <a:pt x="1481328" y="1502410"/>
                    <a:pt x="1464310" y="1519428"/>
                    <a:pt x="1443228" y="1519428"/>
                  </a:cubicBezTo>
                  <a:lnTo>
                    <a:pt x="0" y="1519428"/>
                  </a:lnTo>
                  <a:lnTo>
                    <a:pt x="0" y="1443228"/>
                  </a:lnTo>
                  <a:lnTo>
                    <a:pt x="1443228" y="1443228"/>
                  </a:lnTo>
                  <a:lnTo>
                    <a:pt x="1443228" y="1481328"/>
                  </a:lnTo>
                  <a:lnTo>
                    <a:pt x="1405128" y="1481328"/>
                  </a:lnTo>
                  <a:lnTo>
                    <a:pt x="1405128" y="38100"/>
                  </a:lnTo>
                  <a:lnTo>
                    <a:pt x="1443228" y="38100"/>
                  </a:lnTo>
                  <a:lnTo>
                    <a:pt x="1443228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35924" y="8314182"/>
            <a:ext cx="858393" cy="858393"/>
            <a:chOff x="0" y="0"/>
            <a:chExt cx="1144524" cy="11445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068324" cy="1068324"/>
            </a:xfrm>
            <a:custGeom>
              <a:avLst/>
              <a:gdLst/>
              <a:ahLst/>
              <a:cxnLst/>
              <a:rect r="r" b="b" t="t" l="l"/>
              <a:pathLst>
                <a:path h="1068324" w="1068324">
                  <a:moveTo>
                    <a:pt x="0" y="534162"/>
                  </a:moveTo>
                  <a:cubicBezTo>
                    <a:pt x="0" y="239141"/>
                    <a:pt x="239141" y="0"/>
                    <a:pt x="534162" y="0"/>
                  </a:cubicBezTo>
                  <a:cubicBezTo>
                    <a:pt x="829183" y="0"/>
                    <a:pt x="1068324" y="239141"/>
                    <a:pt x="1068324" y="534162"/>
                  </a:cubicBezTo>
                  <a:cubicBezTo>
                    <a:pt x="1068324" y="829183"/>
                    <a:pt x="829183" y="1068324"/>
                    <a:pt x="534162" y="1068324"/>
                  </a:cubicBezTo>
                  <a:cubicBezTo>
                    <a:pt x="239141" y="1068324"/>
                    <a:pt x="0" y="829183"/>
                    <a:pt x="0" y="534162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4524" cy="1144524"/>
            </a:xfrm>
            <a:custGeom>
              <a:avLst/>
              <a:gdLst/>
              <a:ahLst/>
              <a:cxnLst/>
              <a:rect r="r" b="b" t="t" l="l"/>
              <a:pathLst>
                <a:path h="1144524" w="1144524">
                  <a:moveTo>
                    <a:pt x="0" y="572262"/>
                  </a:moveTo>
                  <a:cubicBezTo>
                    <a:pt x="0" y="256159"/>
                    <a:pt x="256159" y="0"/>
                    <a:pt x="572262" y="0"/>
                  </a:cubicBezTo>
                  <a:cubicBezTo>
                    <a:pt x="579120" y="0"/>
                    <a:pt x="585851" y="1905"/>
                    <a:pt x="591693" y="5334"/>
                  </a:cubicBezTo>
                  <a:lnTo>
                    <a:pt x="572262" y="38100"/>
                  </a:lnTo>
                  <a:lnTo>
                    <a:pt x="572262" y="0"/>
                  </a:lnTo>
                  <a:lnTo>
                    <a:pt x="572262" y="38100"/>
                  </a:lnTo>
                  <a:lnTo>
                    <a:pt x="572262" y="0"/>
                  </a:lnTo>
                  <a:cubicBezTo>
                    <a:pt x="888365" y="0"/>
                    <a:pt x="1144524" y="256159"/>
                    <a:pt x="1144524" y="572262"/>
                  </a:cubicBezTo>
                  <a:cubicBezTo>
                    <a:pt x="1144524" y="582422"/>
                    <a:pt x="1140460" y="592074"/>
                    <a:pt x="1133348" y="599186"/>
                  </a:cubicBezTo>
                  <a:lnTo>
                    <a:pt x="1106424" y="572262"/>
                  </a:lnTo>
                  <a:lnTo>
                    <a:pt x="1144524" y="572262"/>
                  </a:lnTo>
                  <a:cubicBezTo>
                    <a:pt x="1144524" y="888365"/>
                    <a:pt x="888365" y="1144524"/>
                    <a:pt x="572262" y="1144524"/>
                  </a:cubicBezTo>
                  <a:lnTo>
                    <a:pt x="572262" y="1106424"/>
                  </a:lnTo>
                  <a:lnTo>
                    <a:pt x="572262" y="1144524"/>
                  </a:lnTo>
                  <a:cubicBezTo>
                    <a:pt x="256159" y="1144524"/>
                    <a:pt x="0" y="888365"/>
                    <a:pt x="0" y="572262"/>
                  </a:cubicBezTo>
                  <a:lnTo>
                    <a:pt x="38100" y="572262"/>
                  </a:lnTo>
                  <a:lnTo>
                    <a:pt x="0" y="572262"/>
                  </a:lnTo>
                  <a:moveTo>
                    <a:pt x="76200" y="572262"/>
                  </a:moveTo>
                  <a:lnTo>
                    <a:pt x="38100" y="572262"/>
                  </a:lnTo>
                  <a:lnTo>
                    <a:pt x="76200" y="572262"/>
                  </a:lnTo>
                  <a:cubicBezTo>
                    <a:pt x="76200" y="846201"/>
                    <a:pt x="298323" y="1068324"/>
                    <a:pt x="572262" y="1068324"/>
                  </a:cubicBezTo>
                  <a:cubicBezTo>
                    <a:pt x="846201" y="1068324"/>
                    <a:pt x="1068324" y="846201"/>
                    <a:pt x="1068324" y="572262"/>
                  </a:cubicBezTo>
                  <a:cubicBezTo>
                    <a:pt x="1068324" y="562102"/>
                    <a:pt x="1072388" y="552450"/>
                    <a:pt x="1079500" y="545338"/>
                  </a:cubicBezTo>
                  <a:lnTo>
                    <a:pt x="1106424" y="572262"/>
                  </a:lnTo>
                  <a:lnTo>
                    <a:pt x="1068324" y="572262"/>
                  </a:lnTo>
                  <a:cubicBezTo>
                    <a:pt x="1068324" y="298323"/>
                    <a:pt x="846201" y="76200"/>
                    <a:pt x="572262" y="76200"/>
                  </a:cubicBezTo>
                  <a:cubicBezTo>
                    <a:pt x="565404" y="76200"/>
                    <a:pt x="558673" y="74295"/>
                    <a:pt x="552831" y="70866"/>
                  </a:cubicBezTo>
                  <a:lnTo>
                    <a:pt x="572262" y="38100"/>
                  </a:lnTo>
                  <a:lnTo>
                    <a:pt x="572262" y="76200"/>
                  </a:lnTo>
                  <a:cubicBezTo>
                    <a:pt x="298323" y="76200"/>
                    <a:pt x="76200" y="298323"/>
                    <a:pt x="76200" y="572262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900000">
            <a:off x="343138" y="2451668"/>
            <a:ext cx="647538" cy="647538"/>
            <a:chOff x="0" y="0"/>
            <a:chExt cx="863384" cy="8633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787146" cy="787146"/>
            </a:xfrm>
            <a:custGeom>
              <a:avLst/>
              <a:gdLst/>
              <a:ahLst/>
              <a:cxnLst/>
              <a:rect r="r" b="b" t="t" l="l"/>
              <a:pathLst>
                <a:path h="787146" w="787146">
                  <a:moveTo>
                    <a:pt x="0" y="0"/>
                  </a:moveTo>
                  <a:lnTo>
                    <a:pt x="787146" y="0"/>
                  </a:lnTo>
                  <a:lnTo>
                    <a:pt x="787146" y="787146"/>
                  </a:lnTo>
                  <a:lnTo>
                    <a:pt x="0" y="787146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825246" cy="863346"/>
            </a:xfrm>
            <a:custGeom>
              <a:avLst/>
              <a:gdLst/>
              <a:ahLst/>
              <a:cxnLst/>
              <a:rect r="r" b="b" t="t" l="l"/>
              <a:pathLst>
                <a:path h="863346" w="825246">
                  <a:moveTo>
                    <a:pt x="0" y="0"/>
                  </a:moveTo>
                  <a:lnTo>
                    <a:pt x="787146" y="0"/>
                  </a:lnTo>
                  <a:cubicBezTo>
                    <a:pt x="808228" y="0"/>
                    <a:pt x="825246" y="17018"/>
                    <a:pt x="825246" y="38100"/>
                  </a:cubicBezTo>
                  <a:lnTo>
                    <a:pt x="825246" y="825246"/>
                  </a:lnTo>
                  <a:cubicBezTo>
                    <a:pt x="825246" y="846328"/>
                    <a:pt x="808228" y="863346"/>
                    <a:pt x="787146" y="863346"/>
                  </a:cubicBezTo>
                  <a:lnTo>
                    <a:pt x="0" y="863346"/>
                  </a:lnTo>
                  <a:lnTo>
                    <a:pt x="0" y="787146"/>
                  </a:lnTo>
                  <a:lnTo>
                    <a:pt x="787146" y="787146"/>
                  </a:lnTo>
                  <a:lnTo>
                    <a:pt x="787146" y="825246"/>
                  </a:lnTo>
                  <a:lnTo>
                    <a:pt x="749046" y="825246"/>
                  </a:lnTo>
                  <a:lnTo>
                    <a:pt x="749046" y="38100"/>
                  </a:lnTo>
                  <a:lnTo>
                    <a:pt x="787146" y="38100"/>
                  </a:lnTo>
                  <a:lnTo>
                    <a:pt x="78714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52288" y="552288"/>
            <a:ext cx="2845403" cy="694706"/>
            <a:chOff x="0" y="0"/>
            <a:chExt cx="3793871" cy="9262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692271" cy="824611"/>
            </a:xfrm>
            <a:custGeom>
              <a:avLst/>
              <a:gdLst/>
              <a:ahLst/>
              <a:cxnLst/>
              <a:rect r="r" b="b" t="t" l="l"/>
              <a:pathLst>
                <a:path h="824611" w="3692271">
                  <a:moveTo>
                    <a:pt x="0" y="0"/>
                  </a:moveTo>
                  <a:lnTo>
                    <a:pt x="3692271" y="0"/>
                  </a:lnTo>
                  <a:lnTo>
                    <a:pt x="3692271" y="824611"/>
                  </a:lnTo>
                  <a:lnTo>
                    <a:pt x="0" y="824611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743071" cy="926211"/>
            </a:xfrm>
            <a:custGeom>
              <a:avLst/>
              <a:gdLst/>
              <a:ahLst/>
              <a:cxnLst/>
              <a:rect r="r" b="b" t="t" l="l"/>
              <a:pathLst>
                <a:path h="926211" w="3743071">
                  <a:moveTo>
                    <a:pt x="0" y="0"/>
                  </a:moveTo>
                  <a:lnTo>
                    <a:pt x="3692271" y="0"/>
                  </a:lnTo>
                  <a:cubicBezTo>
                    <a:pt x="3720338" y="0"/>
                    <a:pt x="3743071" y="22733"/>
                    <a:pt x="3743071" y="50800"/>
                  </a:cubicBezTo>
                  <a:lnTo>
                    <a:pt x="3743071" y="875411"/>
                  </a:lnTo>
                  <a:cubicBezTo>
                    <a:pt x="3743071" y="903478"/>
                    <a:pt x="3720338" y="926211"/>
                    <a:pt x="3692271" y="926211"/>
                  </a:cubicBezTo>
                  <a:lnTo>
                    <a:pt x="0" y="926211"/>
                  </a:lnTo>
                  <a:lnTo>
                    <a:pt x="0" y="824611"/>
                  </a:lnTo>
                  <a:lnTo>
                    <a:pt x="3692271" y="824611"/>
                  </a:lnTo>
                  <a:lnTo>
                    <a:pt x="3692271" y="875411"/>
                  </a:lnTo>
                  <a:lnTo>
                    <a:pt x="3641471" y="875411"/>
                  </a:lnTo>
                  <a:lnTo>
                    <a:pt x="3641471" y="50800"/>
                  </a:lnTo>
                  <a:lnTo>
                    <a:pt x="3692271" y="50800"/>
                  </a:lnTo>
                  <a:lnTo>
                    <a:pt x="369227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62270" y="562270"/>
            <a:ext cx="2825429" cy="562270"/>
            <a:chOff x="0" y="0"/>
            <a:chExt cx="3767239" cy="7496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767244" cy="749700"/>
            </a:xfrm>
            <a:custGeom>
              <a:avLst/>
              <a:gdLst/>
              <a:ahLst/>
              <a:cxnLst/>
              <a:rect r="r" b="b" t="t" l="l"/>
              <a:pathLst>
                <a:path h="749700" w="3767244">
                  <a:moveTo>
                    <a:pt x="0" y="0"/>
                  </a:moveTo>
                  <a:lnTo>
                    <a:pt x="3767244" y="0"/>
                  </a:lnTo>
                  <a:lnTo>
                    <a:pt x="3767244" y="749700"/>
                  </a:lnTo>
                  <a:lnTo>
                    <a:pt x="0" y="749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12" r="0" b="-4791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767239" cy="825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RESEARCH ANALYSIS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2270" y="1405690"/>
            <a:ext cx="17500816" cy="674732"/>
            <a:chOff x="0" y="0"/>
            <a:chExt cx="23334421" cy="8996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34421" cy="899640"/>
            </a:xfrm>
            <a:custGeom>
              <a:avLst/>
              <a:gdLst/>
              <a:ahLst/>
              <a:cxnLst/>
              <a:rect r="r" b="b" t="t" l="l"/>
              <a:pathLst>
                <a:path h="899640" w="23334421">
                  <a:moveTo>
                    <a:pt x="0" y="0"/>
                  </a:moveTo>
                  <a:lnTo>
                    <a:pt x="23334421" y="0"/>
                  </a:lnTo>
                  <a:lnTo>
                    <a:pt x="23334421" y="899640"/>
                  </a:lnTo>
                  <a:lnTo>
                    <a:pt x="0" y="899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393" r="0" b="-45539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0"/>
              <a:ext cx="23334421" cy="804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00"/>
                </a:lnSpc>
              </a:pPr>
              <a:r>
                <a:rPr lang="en-US" sz="5313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Literature Survey — Existing Systems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2288" y="2295344"/>
            <a:ext cx="8440045" cy="8004277"/>
            <a:chOff x="0" y="0"/>
            <a:chExt cx="11253394" cy="106723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11151743" cy="10570718"/>
            </a:xfrm>
            <a:custGeom>
              <a:avLst/>
              <a:gdLst/>
              <a:ahLst/>
              <a:cxnLst/>
              <a:rect r="r" b="b" t="t" l="l"/>
              <a:pathLst>
                <a:path h="10570718" w="11151743">
                  <a:moveTo>
                    <a:pt x="0" y="0"/>
                  </a:moveTo>
                  <a:lnTo>
                    <a:pt x="11151743" y="0"/>
                  </a:lnTo>
                  <a:lnTo>
                    <a:pt x="11151743" y="10570718"/>
                  </a:lnTo>
                  <a:lnTo>
                    <a:pt x="0" y="10570718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11202543" cy="10672318"/>
            </a:xfrm>
            <a:custGeom>
              <a:avLst/>
              <a:gdLst/>
              <a:ahLst/>
              <a:cxnLst/>
              <a:rect r="r" b="b" t="t" l="l"/>
              <a:pathLst>
                <a:path h="10672318" w="11202543">
                  <a:moveTo>
                    <a:pt x="0" y="0"/>
                  </a:moveTo>
                  <a:lnTo>
                    <a:pt x="11151743" y="0"/>
                  </a:lnTo>
                  <a:cubicBezTo>
                    <a:pt x="11179811" y="0"/>
                    <a:pt x="11202543" y="22733"/>
                    <a:pt x="11202543" y="50800"/>
                  </a:cubicBezTo>
                  <a:lnTo>
                    <a:pt x="11202543" y="10621518"/>
                  </a:lnTo>
                  <a:cubicBezTo>
                    <a:pt x="11202543" y="10649586"/>
                    <a:pt x="11179811" y="10672318"/>
                    <a:pt x="11151743" y="10672318"/>
                  </a:cubicBezTo>
                  <a:lnTo>
                    <a:pt x="0" y="10672318"/>
                  </a:lnTo>
                  <a:lnTo>
                    <a:pt x="0" y="10570718"/>
                  </a:lnTo>
                  <a:lnTo>
                    <a:pt x="11151743" y="10570718"/>
                  </a:lnTo>
                  <a:lnTo>
                    <a:pt x="11151743" y="10621518"/>
                  </a:lnTo>
                  <a:lnTo>
                    <a:pt x="11100943" y="10621518"/>
                  </a:lnTo>
                  <a:lnTo>
                    <a:pt x="11100943" y="50800"/>
                  </a:lnTo>
                  <a:lnTo>
                    <a:pt x="11151743" y="50800"/>
                  </a:lnTo>
                  <a:lnTo>
                    <a:pt x="1115174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89654" y="2632710"/>
            <a:ext cx="807158" cy="807158"/>
            <a:chOff x="0" y="0"/>
            <a:chExt cx="1076211" cy="10762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974598" cy="974598"/>
            </a:xfrm>
            <a:custGeom>
              <a:avLst/>
              <a:gdLst/>
              <a:ahLst/>
              <a:cxnLst/>
              <a:rect r="r" b="b" t="t" l="l"/>
              <a:pathLst>
                <a:path h="974598" w="974598">
                  <a:moveTo>
                    <a:pt x="0" y="0"/>
                  </a:moveTo>
                  <a:lnTo>
                    <a:pt x="974598" y="0"/>
                  </a:lnTo>
                  <a:lnTo>
                    <a:pt x="974598" y="974598"/>
                  </a:lnTo>
                  <a:lnTo>
                    <a:pt x="0" y="974598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025398" cy="1076198"/>
            </a:xfrm>
            <a:custGeom>
              <a:avLst/>
              <a:gdLst/>
              <a:ahLst/>
              <a:cxnLst/>
              <a:rect r="r" b="b" t="t" l="l"/>
              <a:pathLst>
                <a:path h="1076198" w="1025398">
                  <a:moveTo>
                    <a:pt x="0" y="0"/>
                  </a:moveTo>
                  <a:lnTo>
                    <a:pt x="974598" y="0"/>
                  </a:lnTo>
                  <a:cubicBezTo>
                    <a:pt x="1002665" y="0"/>
                    <a:pt x="1025398" y="22733"/>
                    <a:pt x="1025398" y="50800"/>
                  </a:cubicBezTo>
                  <a:lnTo>
                    <a:pt x="1025398" y="1025398"/>
                  </a:lnTo>
                  <a:cubicBezTo>
                    <a:pt x="1025398" y="1053465"/>
                    <a:pt x="1002665" y="1076198"/>
                    <a:pt x="974598" y="1076198"/>
                  </a:cubicBezTo>
                  <a:lnTo>
                    <a:pt x="0" y="1076198"/>
                  </a:lnTo>
                  <a:lnTo>
                    <a:pt x="0" y="974598"/>
                  </a:lnTo>
                  <a:lnTo>
                    <a:pt x="974598" y="974598"/>
                  </a:lnTo>
                  <a:lnTo>
                    <a:pt x="974598" y="1025398"/>
                  </a:lnTo>
                  <a:lnTo>
                    <a:pt x="923798" y="1025398"/>
                  </a:lnTo>
                  <a:lnTo>
                    <a:pt x="923798" y="50800"/>
                  </a:lnTo>
                  <a:lnTo>
                    <a:pt x="974598" y="50800"/>
                  </a:lnTo>
                  <a:lnTo>
                    <a:pt x="97459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45638" y="2867606"/>
            <a:ext cx="295189" cy="337366"/>
          </a:xfrm>
          <a:custGeom>
            <a:avLst/>
            <a:gdLst/>
            <a:ahLst/>
            <a:cxnLst/>
            <a:rect r="r" b="b" t="t" l="l"/>
            <a:pathLst>
              <a:path h="337366" w="295189">
                <a:moveTo>
                  <a:pt x="0" y="0"/>
                </a:moveTo>
                <a:lnTo>
                  <a:pt x="295190" y="0"/>
                </a:lnTo>
                <a:lnTo>
                  <a:pt x="295190" y="337366"/>
                </a:lnTo>
                <a:lnTo>
                  <a:pt x="0" y="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855508" y="2783262"/>
            <a:ext cx="3415817" cy="506044"/>
            <a:chOff x="0" y="0"/>
            <a:chExt cx="4554423" cy="6747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554428" cy="674730"/>
            </a:xfrm>
            <a:custGeom>
              <a:avLst/>
              <a:gdLst/>
              <a:ahLst/>
              <a:cxnLst/>
              <a:rect r="r" b="b" t="t" l="l"/>
              <a:pathLst>
                <a:path h="674730" w="4554428">
                  <a:moveTo>
                    <a:pt x="0" y="0"/>
                  </a:moveTo>
                  <a:lnTo>
                    <a:pt x="4554428" y="0"/>
                  </a:lnTo>
                  <a:lnTo>
                    <a:pt x="4554428" y="674730"/>
                  </a:lnTo>
                  <a:lnTo>
                    <a:pt x="0" y="674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524" r="0" b="-8152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4554423" cy="684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85"/>
                </a:lnSpc>
              </a:pPr>
              <a:r>
                <a:rPr lang="en-US" sz="332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Existing Systems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2150" y="3647303"/>
            <a:ext cx="7760322" cy="1842373"/>
            <a:chOff x="0" y="0"/>
            <a:chExt cx="10347096" cy="24564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38100" y="38100"/>
              <a:ext cx="10270871" cy="2380361"/>
            </a:xfrm>
            <a:custGeom>
              <a:avLst/>
              <a:gdLst/>
              <a:ahLst/>
              <a:cxnLst/>
              <a:rect r="r" b="b" t="t" l="l"/>
              <a:pathLst>
                <a:path h="2380361" w="10270871">
                  <a:moveTo>
                    <a:pt x="0" y="0"/>
                  </a:moveTo>
                  <a:lnTo>
                    <a:pt x="10270871" y="0"/>
                  </a:lnTo>
                  <a:lnTo>
                    <a:pt x="10270871" y="2380361"/>
                  </a:lnTo>
                  <a:lnTo>
                    <a:pt x="0" y="2380361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8100" y="0"/>
              <a:ext cx="10308971" cy="2456561"/>
            </a:xfrm>
            <a:custGeom>
              <a:avLst/>
              <a:gdLst/>
              <a:ahLst/>
              <a:cxnLst/>
              <a:rect r="r" b="b" t="t" l="l"/>
              <a:pathLst>
                <a:path h="2456561" w="10308971">
                  <a:moveTo>
                    <a:pt x="0" y="0"/>
                  </a:moveTo>
                  <a:lnTo>
                    <a:pt x="10270871" y="0"/>
                  </a:lnTo>
                  <a:cubicBezTo>
                    <a:pt x="10291952" y="0"/>
                    <a:pt x="10308971" y="17018"/>
                    <a:pt x="10308971" y="38100"/>
                  </a:cubicBezTo>
                  <a:lnTo>
                    <a:pt x="10308971" y="2418461"/>
                  </a:lnTo>
                  <a:cubicBezTo>
                    <a:pt x="10308971" y="2439543"/>
                    <a:pt x="10291952" y="2456561"/>
                    <a:pt x="10270871" y="2456561"/>
                  </a:cubicBezTo>
                  <a:lnTo>
                    <a:pt x="0" y="2456561"/>
                  </a:lnTo>
                  <a:lnTo>
                    <a:pt x="0" y="2380361"/>
                  </a:lnTo>
                  <a:lnTo>
                    <a:pt x="10270871" y="2380361"/>
                  </a:lnTo>
                  <a:lnTo>
                    <a:pt x="10270871" y="2418461"/>
                  </a:lnTo>
                  <a:lnTo>
                    <a:pt x="10232771" y="2418461"/>
                  </a:lnTo>
                  <a:lnTo>
                    <a:pt x="10232771" y="38100"/>
                  </a:lnTo>
                  <a:lnTo>
                    <a:pt x="10270871" y="38100"/>
                  </a:lnTo>
                  <a:lnTo>
                    <a:pt x="1027087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61726" y="3916880"/>
            <a:ext cx="459810" cy="459810"/>
            <a:chOff x="0" y="0"/>
            <a:chExt cx="613080" cy="613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562229" cy="562229"/>
            </a:xfrm>
            <a:custGeom>
              <a:avLst/>
              <a:gdLst/>
              <a:ahLst/>
              <a:cxnLst/>
              <a:rect r="r" b="b" t="t" l="l"/>
              <a:pathLst>
                <a:path h="562229" w="562229">
                  <a:moveTo>
                    <a:pt x="0" y="0"/>
                  </a:moveTo>
                  <a:lnTo>
                    <a:pt x="562229" y="0"/>
                  </a:lnTo>
                  <a:lnTo>
                    <a:pt x="562229" y="562229"/>
                  </a:lnTo>
                  <a:lnTo>
                    <a:pt x="0" y="562229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400" y="0"/>
              <a:ext cx="587629" cy="613029"/>
            </a:xfrm>
            <a:custGeom>
              <a:avLst/>
              <a:gdLst/>
              <a:ahLst/>
              <a:cxnLst/>
              <a:rect r="r" b="b" t="t" l="l"/>
              <a:pathLst>
                <a:path h="613029" w="587629">
                  <a:moveTo>
                    <a:pt x="0" y="0"/>
                  </a:moveTo>
                  <a:lnTo>
                    <a:pt x="562229" y="0"/>
                  </a:lnTo>
                  <a:cubicBezTo>
                    <a:pt x="576199" y="0"/>
                    <a:pt x="587629" y="11430"/>
                    <a:pt x="587629" y="25400"/>
                  </a:cubicBezTo>
                  <a:lnTo>
                    <a:pt x="587629" y="587629"/>
                  </a:lnTo>
                  <a:cubicBezTo>
                    <a:pt x="587629" y="601599"/>
                    <a:pt x="576199" y="613029"/>
                    <a:pt x="562229" y="613029"/>
                  </a:cubicBezTo>
                  <a:lnTo>
                    <a:pt x="0" y="613029"/>
                  </a:lnTo>
                  <a:lnTo>
                    <a:pt x="0" y="562229"/>
                  </a:lnTo>
                  <a:lnTo>
                    <a:pt x="562229" y="562229"/>
                  </a:lnTo>
                  <a:lnTo>
                    <a:pt x="562229" y="587629"/>
                  </a:lnTo>
                  <a:lnTo>
                    <a:pt x="536829" y="587629"/>
                  </a:lnTo>
                  <a:lnTo>
                    <a:pt x="536829" y="25400"/>
                  </a:lnTo>
                  <a:lnTo>
                    <a:pt x="562229" y="25400"/>
                  </a:lnTo>
                  <a:lnTo>
                    <a:pt x="56222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296743" y="4048382"/>
            <a:ext cx="196796" cy="196796"/>
          </a:xfrm>
          <a:custGeom>
            <a:avLst/>
            <a:gdLst/>
            <a:ahLst/>
            <a:cxnLst/>
            <a:rect r="r" b="b" t="t" l="l"/>
            <a:pathLst>
              <a:path h="196796" w="196796">
                <a:moveTo>
                  <a:pt x="0" y="0"/>
                </a:moveTo>
                <a:lnTo>
                  <a:pt x="196796" y="0"/>
                </a:lnTo>
                <a:lnTo>
                  <a:pt x="196796" y="196796"/>
                </a:lnTo>
                <a:lnTo>
                  <a:pt x="0" y="1967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785223" y="3949979"/>
            <a:ext cx="3601585" cy="466872"/>
            <a:chOff x="0" y="0"/>
            <a:chExt cx="4048379" cy="52478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048382" cy="524790"/>
            </a:xfrm>
            <a:custGeom>
              <a:avLst/>
              <a:gdLst/>
              <a:ahLst/>
              <a:cxnLst/>
              <a:rect r="r" b="b" t="t" l="l"/>
              <a:pathLst>
                <a:path h="524790" w="4048382">
                  <a:moveTo>
                    <a:pt x="0" y="0"/>
                  </a:moveTo>
                  <a:lnTo>
                    <a:pt x="4048382" y="0"/>
                  </a:lnTo>
                  <a:lnTo>
                    <a:pt x="4048382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4048379" cy="581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214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Manual Route Planning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66717" y="4484141"/>
            <a:ext cx="7323639" cy="730958"/>
            <a:chOff x="0" y="0"/>
            <a:chExt cx="9764852" cy="9746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64846" cy="974610"/>
            </a:xfrm>
            <a:custGeom>
              <a:avLst/>
              <a:gdLst/>
              <a:ahLst/>
              <a:cxnLst/>
              <a:rect r="r" b="b" t="t" l="l"/>
              <a:pathLst>
                <a:path h="974610" w="9764846">
                  <a:moveTo>
                    <a:pt x="0" y="0"/>
                  </a:moveTo>
                  <a:lnTo>
                    <a:pt x="9764846" y="0"/>
                  </a:lnTo>
                  <a:lnTo>
                    <a:pt x="9764846" y="974610"/>
                  </a:lnTo>
                  <a:lnTo>
                    <a:pt x="0" y="9746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225" r="0" b="-1452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9764852" cy="1069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6"/>
                </a:lnSpc>
              </a:pP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Traditional logistics rely on </a:t>
              </a:r>
              <a:r>
                <a:rPr lang="en-US" sz="177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human intuition and experience</a:t>
              </a: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for route planning, lacking mathematical optimization and data-driven insights.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92150" y="5699608"/>
            <a:ext cx="7760322" cy="1842373"/>
            <a:chOff x="0" y="0"/>
            <a:chExt cx="10347096" cy="245649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38100" y="38100"/>
              <a:ext cx="10270871" cy="2380361"/>
            </a:xfrm>
            <a:custGeom>
              <a:avLst/>
              <a:gdLst/>
              <a:ahLst/>
              <a:cxnLst/>
              <a:rect r="r" b="b" t="t" l="l"/>
              <a:pathLst>
                <a:path h="2380361" w="10270871">
                  <a:moveTo>
                    <a:pt x="0" y="0"/>
                  </a:moveTo>
                  <a:lnTo>
                    <a:pt x="10270871" y="0"/>
                  </a:lnTo>
                  <a:lnTo>
                    <a:pt x="10270871" y="2380361"/>
                  </a:lnTo>
                  <a:lnTo>
                    <a:pt x="0" y="2380361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8100" y="0"/>
              <a:ext cx="10308971" cy="2456561"/>
            </a:xfrm>
            <a:custGeom>
              <a:avLst/>
              <a:gdLst/>
              <a:ahLst/>
              <a:cxnLst/>
              <a:rect r="r" b="b" t="t" l="l"/>
              <a:pathLst>
                <a:path h="2456561" w="10308971">
                  <a:moveTo>
                    <a:pt x="0" y="0"/>
                  </a:moveTo>
                  <a:lnTo>
                    <a:pt x="10270871" y="0"/>
                  </a:lnTo>
                  <a:cubicBezTo>
                    <a:pt x="10291952" y="0"/>
                    <a:pt x="10308971" y="17018"/>
                    <a:pt x="10308971" y="38100"/>
                  </a:cubicBezTo>
                  <a:lnTo>
                    <a:pt x="10308971" y="2418461"/>
                  </a:lnTo>
                  <a:cubicBezTo>
                    <a:pt x="10308971" y="2439543"/>
                    <a:pt x="10291952" y="2456561"/>
                    <a:pt x="10270871" y="2456561"/>
                  </a:cubicBezTo>
                  <a:lnTo>
                    <a:pt x="0" y="2456561"/>
                  </a:lnTo>
                  <a:lnTo>
                    <a:pt x="0" y="2380361"/>
                  </a:lnTo>
                  <a:lnTo>
                    <a:pt x="10270871" y="2380361"/>
                  </a:lnTo>
                  <a:lnTo>
                    <a:pt x="10270871" y="2418461"/>
                  </a:lnTo>
                  <a:lnTo>
                    <a:pt x="10232771" y="2418461"/>
                  </a:lnTo>
                  <a:lnTo>
                    <a:pt x="10232771" y="38100"/>
                  </a:lnTo>
                  <a:lnTo>
                    <a:pt x="10270871" y="38100"/>
                  </a:lnTo>
                  <a:lnTo>
                    <a:pt x="1027087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61726" y="5969184"/>
            <a:ext cx="459810" cy="459810"/>
            <a:chOff x="0" y="0"/>
            <a:chExt cx="613080" cy="613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25400"/>
              <a:ext cx="562229" cy="562229"/>
            </a:xfrm>
            <a:custGeom>
              <a:avLst/>
              <a:gdLst/>
              <a:ahLst/>
              <a:cxnLst/>
              <a:rect r="r" b="b" t="t" l="l"/>
              <a:pathLst>
                <a:path h="562229" w="562229">
                  <a:moveTo>
                    <a:pt x="0" y="0"/>
                  </a:moveTo>
                  <a:lnTo>
                    <a:pt x="562229" y="0"/>
                  </a:lnTo>
                  <a:lnTo>
                    <a:pt x="562229" y="562229"/>
                  </a:lnTo>
                  <a:lnTo>
                    <a:pt x="0" y="562229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5400" y="0"/>
              <a:ext cx="587629" cy="613029"/>
            </a:xfrm>
            <a:custGeom>
              <a:avLst/>
              <a:gdLst/>
              <a:ahLst/>
              <a:cxnLst/>
              <a:rect r="r" b="b" t="t" l="l"/>
              <a:pathLst>
                <a:path h="613029" w="587629">
                  <a:moveTo>
                    <a:pt x="0" y="0"/>
                  </a:moveTo>
                  <a:lnTo>
                    <a:pt x="562229" y="0"/>
                  </a:lnTo>
                  <a:cubicBezTo>
                    <a:pt x="576199" y="0"/>
                    <a:pt x="587629" y="11430"/>
                    <a:pt x="587629" y="25400"/>
                  </a:cubicBezTo>
                  <a:lnTo>
                    <a:pt x="587629" y="587629"/>
                  </a:lnTo>
                  <a:cubicBezTo>
                    <a:pt x="587629" y="601599"/>
                    <a:pt x="576199" y="613029"/>
                    <a:pt x="562229" y="613029"/>
                  </a:cubicBezTo>
                  <a:lnTo>
                    <a:pt x="0" y="613029"/>
                  </a:lnTo>
                  <a:lnTo>
                    <a:pt x="0" y="562229"/>
                  </a:lnTo>
                  <a:lnTo>
                    <a:pt x="562229" y="562229"/>
                  </a:lnTo>
                  <a:lnTo>
                    <a:pt x="562229" y="587629"/>
                  </a:lnTo>
                  <a:lnTo>
                    <a:pt x="536829" y="587629"/>
                  </a:lnTo>
                  <a:lnTo>
                    <a:pt x="536829" y="25400"/>
                  </a:lnTo>
                  <a:lnTo>
                    <a:pt x="562229" y="25400"/>
                  </a:lnTo>
                  <a:lnTo>
                    <a:pt x="56222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96743" y="6100686"/>
            <a:ext cx="196796" cy="196796"/>
            <a:chOff x="0" y="0"/>
            <a:chExt cx="262395" cy="26239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-3" y="16390"/>
              <a:ext cx="246066" cy="245868"/>
            </a:xfrm>
            <a:custGeom>
              <a:avLst/>
              <a:gdLst/>
              <a:ahLst/>
              <a:cxnLst/>
              <a:rect r="r" b="b" t="t" l="l"/>
              <a:pathLst>
                <a:path h="245868" w="246066">
                  <a:moveTo>
                    <a:pt x="244986" y="22345"/>
                  </a:moveTo>
                  <a:cubicBezTo>
                    <a:pt x="247272" y="16249"/>
                    <a:pt x="245875" y="9391"/>
                    <a:pt x="241303" y="4819"/>
                  </a:cubicBezTo>
                  <a:cubicBezTo>
                    <a:pt x="236731" y="247"/>
                    <a:pt x="229873" y="-1277"/>
                    <a:pt x="223777" y="1136"/>
                  </a:cubicBezTo>
                  <a:lnTo>
                    <a:pt x="10544" y="83178"/>
                  </a:lnTo>
                  <a:cubicBezTo>
                    <a:pt x="4067" y="85591"/>
                    <a:pt x="-124" y="91941"/>
                    <a:pt x="3" y="98799"/>
                  </a:cubicBezTo>
                  <a:cubicBezTo>
                    <a:pt x="130" y="105657"/>
                    <a:pt x="4702" y="111880"/>
                    <a:pt x="11179" y="113912"/>
                  </a:cubicBezTo>
                  <a:lnTo>
                    <a:pt x="101730" y="144138"/>
                  </a:lnTo>
                  <a:lnTo>
                    <a:pt x="131956" y="234689"/>
                  </a:lnTo>
                  <a:cubicBezTo>
                    <a:pt x="134115" y="241293"/>
                    <a:pt x="140211" y="245738"/>
                    <a:pt x="147069" y="245865"/>
                  </a:cubicBezTo>
                  <a:cubicBezTo>
                    <a:pt x="153927" y="245992"/>
                    <a:pt x="160277" y="241801"/>
                    <a:pt x="162690" y="235324"/>
                  </a:cubicBezTo>
                  <a:lnTo>
                    <a:pt x="244859" y="22218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785223" y="6002284"/>
            <a:ext cx="3720691" cy="469276"/>
            <a:chOff x="0" y="0"/>
            <a:chExt cx="4160838" cy="52478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60836" cy="524790"/>
            </a:xfrm>
            <a:custGeom>
              <a:avLst/>
              <a:gdLst/>
              <a:ahLst/>
              <a:cxnLst/>
              <a:rect r="r" b="b" t="t" l="l"/>
              <a:pathLst>
                <a:path h="524790" w="4160836">
                  <a:moveTo>
                    <a:pt x="0" y="0"/>
                  </a:moveTo>
                  <a:lnTo>
                    <a:pt x="4160836" y="0"/>
                  </a:lnTo>
                  <a:lnTo>
                    <a:pt x="4160836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4488" r="0" b="-10448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4160838" cy="581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214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Basic Tracking Systems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66717" y="6536446"/>
            <a:ext cx="7323639" cy="730958"/>
            <a:chOff x="0" y="0"/>
            <a:chExt cx="9764852" cy="97461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764846" cy="974610"/>
            </a:xfrm>
            <a:custGeom>
              <a:avLst/>
              <a:gdLst/>
              <a:ahLst/>
              <a:cxnLst/>
              <a:rect r="r" b="b" t="t" l="l"/>
              <a:pathLst>
                <a:path h="974610" w="9764846">
                  <a:moveTo>
                    <a:pt x="0" y="0"/>
                  </a:moveTo>
                  <a:lnTo>
                    <a:pt x="9764846" y="0"/>
                  </a:lnTo>
                  <a:lnTo>
                    <a:pt x="9764846" y="974610"/>
                  </a:lnTo>
                  <a:lnTo>
                    <a:pt x="0" y="9746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5225" r="0" b="-1452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0"/>
              <a:ext cx="9764852" cy="1069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6"/>
                </a:lnSpc>
              </a:pP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Current tracking provides </a:t>
              </a:r>
              <a:r>
                <a:rPr lang="en-US" sz="177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location data only</a:t>
              </a: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without integration with route optimization or predictive analytics capabilities.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92150" y="7751912"/>
            <a:ext cx="7760322" cy="2207857"/>
            <a:chOff x="0" y="0"/>
            <a:chExt cx="10347096" cy="294380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38100" y="38100"/>
              <a:ext cx="10270871" cy="2867660"/>
            </a:xfrm>
            <a:custGeom>
              <a:avLst/>
              <a:gdLst/>
              <a:ahLst/>
              <a:cxnLst/>
              <a:rect r="r" b="b" t="t" l="l"/>
              <a:pathLst>
                <a:path h="2867660" w="10270871">
                  <a:moveTo>
                    <a:pt x="0" y="0"/>
                  </a:moveTo>
                  <a:lnTo>
                    <a:pt x="10270871" y="0"/>
                  </a:lnTo>
                  <a:lnTo>
                    <a:pt x="10270871" y="2867660"/>
                  </a:lnTo>
                  <a:lnTo>
                    <a:pt x="0" y="286766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38100" y="0"/>
              <a:ext cx="10308971" cy="2943860"/>
            </a:xfrm>
            <a:custGeom>
              <a:avLst/>
              <a:gdLst/>
              <a:ahLst/>
              <a:cxnLst/>
              <a:rect r="r" b="b" t="t" l="l"/>
              <a:pathLst>
                <a:path h="2943860" w="10308971">
                  <a:moveTo>
                    <a:pt x="0" y="0"/>
                  </a:moveTo>
                  <a:lnTo>
                    <a:pt x="10270871" y="0"/>
                  </a:lnTo>
                  <a:cubicBezTo>
                    <a:pt x="10291952" y="0"/>
                    <a:pt x="10308971" y="17018"/>
                    <a:pt x="10308971" y="38100"/>
                  </a:cubicBezTo>
                  <a:lnTo>
                    <a:pt x="10308971" y="2905760"/>
                  </a:lnTo>
                  <a:cubicBezTo>
                    <a:pt x="10308971" y="2926842"/>
                    <a:pt x="10291952" y="2943860"/>
                    <a:pt x="10270871" y="2943860"/>
                  </a:cubicBezTo>
                  <a:lnTo>
                    <a:pt x="0" y="2943860"/>
                  </a:lnTo>
                  <a:lnTo>
                    <a:pt x="0" y="2867660"/>
                  </a:lnTo>
                  <a:lnTo>
                    <a:pt x="10270871" y="2867660"/>
                  </a:lnTo>
                  <a:lnTo>
                    <a:pt x="10270871" y="2905760"/>
                  </a:lnTo>
                  <a:lnTo>
                    <a:pt x="10232771" y="2905760"/>
                  </a:lnTo>
                  <a:lnTo>
                    <a:pt x="10232771" y="38100"/>
                  </a:lnTo>
                  <a:lnTo>
                    <a:pt x="10270871" y="38100"/>
                  </a:lnTo>
                  <a:lnTo>
                    <a:pt x="1027087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61726" y="8021488"/>
            <a:ext cx="459810" cy="459810"/>
            <a:chOff x="0" y="0"/>
            <a:chExt cx="613080" cy="6130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25400" y="25400"/>
              <a:ext cx="562229" cy="562229"/>
            </a:xfrm>
            <a:custGeom>
              <a:avLst/>
              <a:gdLst/>
              <a:ahLst/>
              <a:cxnLst/>
              <a:rect r="r" b="b" t="t" l="l"/>
              <a:pathLst>
                <a:path h="562229" w="562229">
                  <a:moveTo>
                    <a:pt x="0" y="0"/>
                  </a:moveTo>
                  <a:lnTo>
                    <a:pt x="562229" y="0"/>
                  </a:lnTo>
                  <a:lnTo>
                    <a:pt x="562229" y="562229"/>
                  </a:lnTo>
                  <a:lnTo>
                    <a:pt x="0" y="562229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5400" y="0"/>
              <a:ext cx="587629" cy="613029"/>
            </a:xfrm>
            <a:custGeom>
              <a:avLst/>
              <a:gdLst/>
              <a:ahLst/>
              <a:cxnLst/>
              <a:rect r="r" b="b" t="t" l="l"/>
              <a:pathLst>
                <a:path h="613029" w="587629">
                  <a:moveTo>
                    <a:pt x="0" y="0"/>
                  </a:moveTo>
                  <a:lnTo>
                    <a:pt x="562229" y="0"/>
                  </a:lnTo>
                  <a:cubicBezTo>
                    <a:pt x="576199" y="0"/>
                    <a:pt x="587629" y="11430"/>
                    <a:pt x="587629" y="25400"/>
                  </a:cubicBezTo>
                  <a:lnTo>
                    <a:pt x="587629" y="587629"/>
                  </a:lnTo>
                  <a:cubicBezTo>
                    <a:pt x="587629" y="601599"/>
                    <a:pt x="576199" y="613029"/>
                    <a:pt x="562229" y="613029"/>
                  </a:cubicBezTo>
                  <a:lnTo>
                    <a:pt x="0" y="613029"/>
                  </a:lnTo>
                  <a:lnTo>
                    <a:pt x="0" y="562229"/>
                  </a:lnTo>
                  <a:lnTo>
                    <a:pt x="562229" y="562229"/>
                  </a:lnTo>
                  <a:lnTo>
                    <a:pt x="562229" y="587629"/>
                  </a:lnTo>
                  <a:lnTo>
                    <a:pt x="536829" y="587629"/>
                  </a:lnTo>
                  <a:lnTo>
                    <a:pt x="536829" y="25400"/>
                  </a:lnTo>
                  <a:lnTo>
                    <a:pt x="562229" y="25400"/>
                  </a:lnTo>
                  <a:lnTo>
                    <a:pt x="562229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1272149" y="8152990"/>
            <a:ext cx="245993" cy="196796"/>
          </a:xfrm>
          <a:custGeom>
            <a:avLst/>
            <a:gdLst/>
            <a:ahLst/>
            <a:cxnLst/>
            <a:rect r="r" b="b" t="t" l="l"/>
            <a:pathLst>
              <a:path h="196796" w="245993">
                <a:moveTo>
                  <a:pt x="0" y="0"/>
                </a:moveTo>
                <a:lnTo>
                  <a:pt x="245993" y="0"/>
                </a:lnTo>
                <a:lnTo>
                  <a:pt x="245993" y="196796"/>
                </a:lnTo>
                <a:lnTo>
                  <a:pt x="0" y="1967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1785223" y="8054588"/>
            <a:ext cx="4853338" cy="494157"/>
            <a:chOff x="0" y="0"/>
            <a:chExt cx="5154193" cy="52478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54190" cy="524790"/>
            </a:xfrm>
            <a:custGeom>
              <a:avLst/>
              <a:gdLst/>
              <a:ahLst/>
              <a:cxnLst/>
              <a:rect r="r" b="b" t="t" l="l"/>
              <a:pathLst>
                <a:path h="524790" w="5154190">
                  <a:moveTo>
                    <a:pt x="0" y="0"/>
                  </a:moveTo>
                  <a:lnTo>
                    <a:pt x="5154190" y="0"/>
                  </a:lnTo>
                  <a:lnTo>
                    <a:pt x="5154190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371" r="0" b="-141371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5154193" cy="581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214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Traditional Fleet Management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66717" y="8588750"/>
            <a:ext cx="7323639" cy="1096432"/>
            <a:chOff x="0" y="0"/>
            <a:chExt cx="9764852" cy="146191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764846" cy="1461916"/>
            </a:xfrm>
            <a:custGeom>
              <a:avLst/>
              <a:gdLst/>
              <a:ahLst/>
              <a:cxnLst/>
              <a:rect r="r" b="b" t="t" l="l"/>
              <a:pathLst>
                <a:path h="1461916" w="9764846">
                  <a:moveTo>
                    <a:pt x="0" y="0"/>
                  </a:moveTo>
                  <a:lnTo>
                    <a:pt x="9764846" y="0"/>
                  </a:lnTo>
                  <a:lnTo>
                    <a:pt x="9764846" y="1461916"/>
                  </a:lnTo>
                  <a:lnTo>
                    <a:pt x="0" y="1461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0150" r="0" b="-8014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0"/>
              <a:ext cx="9764852" cy="1557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6"/>
                </a:lnSpc>
              </a:pP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Conventional fleet tools focus on </a:t>
              </a:r>
              <a:r>
                <a:rPr lang="en-US" sz="177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maintenance scheduling</a:t>
              </a: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but lack intelligent routing, real-time optimization, or algorithmic decision-making.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04896" y="2295344"/>
            <a:ext cx="8440045" cy="8004277"/>
            <a:chOff x="0" y="0"/>
            <a:chExt cx="11253394" cy="1067236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50800" y="50800"/>
              <a:ext cx="11151743" cy="10570718"/>
            </a:xfrm>
            <a:custGeom>
              <a:avLst/>
              <a:gdLst/>
              <a:ahLst/>
              <a:cxnLst/>
              <a:rect r="r" b="b" t="t" l="l"/>
              <a:pathLst>
                <a:path h="10570718" w="11151743">
                  <a:moveTo>
                    <a:pt x="0" y="0"/>
                  </a:moveTo>
                  <a:lnTo>
                    <a:pt x="11151743" y="0"/>
                  </a:lnTo>
                  <a:lnTo>
                    <a:pt x="11151743" y="10570718"/>
                  </a:lnTo>
                  <a:lnTo>
                    <a:pt x="0" y="10570718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50800" y="0"/>
              <a:ext cx="11202543" cy="10672318"/>
            </a:xfrm>
            <a:custGeom>
              <a:avLst/>
              <a:gdLst/>
              <a:ahLst/>
              <a:cxnLst/>
              <a:rect r="r" b="b" t="t" l="l"/>
              <a:pathLst>
                <a:path h="10672318" w="11202543">
                  <a:moveTo>
                    <a:pt x="0" y="0"/>
                  </a:moveTo>
                  <a:lnTo>
                    <a:pt x="11151743" y="0"/>
                  </a:lnTo>
                  <a:cubicBezTo>
                    <a:pt x="11179811" y="0"/>
                    <a:pt x="11202543" y="22733"/>
                    <a:pt x="11202543" y="50800"/>
                  </a:cubicBezTo>
                  <a:lnTo>
                    <a:pt x="11202543" y="10621518"/>
                  </a:lnTo>
                  <a:cubicBezTo>
                    <a:pt x="11202543" y="10649586"/>
                    <a:pt x="11179811" y="10672318"/>
                    <a:pt x="11151743" y="10672318"/>
                  </a:cubicBezTo>
                  <a:lnTo>
                    <a:pt x="0" y="10672318"/>
                  </a:lnTo>
                  <a:lnTo>
                    <a:pt x="0" y="10570718"/>
                  </a:lnTo>
                  <a:lnTo>
                    <a:pt x="11151743" y="10570718"/>
                  </a:lnTo>
                  <a:lnTo>
                    <a:pt x="11151743" y="10621518"/>
                  </a:lnTo>
                  <a:lnTo>
                    <a:pt x="11100943" y="10621518"/>
                  </a:lnTo>
                  <a:lnTo>
                    <a:pt x="11100943" y="50800"/>
                  </a:lnTo>
                  <a:lnTo>
                    <a:pt x="11151743" y="50800"/>
                  </a:lnTo>
                  <a:lnTo>
                    <a:pt x="1115174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642262" y="2632710"/>
            <a:ext cx="807158" cy="807158"/>
            <a:chOff x="0" y="0"/>
            <a:chExt cx="1076211" cy="107621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50800" y="50800"/>
              <a:ext cx="974598" cy="974598"/>
            </a:xfrm>
            <a:custGeom>
              <a:avLst/>
              <a:gdLst/>
              <a:ahLst/>
              <a:cxnLst/>
              <a:rect r="r" b="b" t="t" l="l"/>
              <a:pathLst>
                <a:path h="974598" w="974598">
                  <a:moveTo>
                    <a:pt x="0" y="0"/>
                  </a:moveTo>
                  <a:lnTo>
                    <a:pt x="974598" y="0"/>
                  </a:lnTo>
                  <a:lnTo>
                    <a:pt x="974598" y="974598"/>
                  </a:lnTo>
                  <a:lnTo>
                    <a:pt x="0" y="974598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50800" y="0"/>
              <a:ext cx="1025398" cy="1076198"/>
            </a:xfrm>
            <a:custGeom>
              <a:avLst/>
              <a:gdLst/>
              <a:ahLst/>
              <a:cxnLst/>
              <a:rect r="r" b="b" t="t" l="l"/>
              <a:pathLst>
                <a:path h="1076198" w="1025398">
                  <a:moveTo>
                    <a:pt x="0" y="0"/>
                  </a:moveTo>
                  <a:lnTo>
                    <a:pt x="974598" y="0"/>
                  </a:lnTo>
                  <a:cubicBezTo>
                    <a:pt x="1002665" y="0"/>
                    <a:pt x="1025398" y="22733"/>
                    <a:pt x="1025398" y="50800"/>
                  </a:cubicBezTo>
                  <a:lnTo>
                    <a:pt x="1025398" y="1025398"/>
                  </a:lnTo>
                  <a:cubicBezTo>
                    <a:pt x="1025398" y="1053465"/>
                    <a:pt x="1002665" y="1076198"/>
                    <a:pt x="974598" y="1076198"/>
                  </a:cubicBezTo>
                  <a:lnTo>
                    <a:pt x="0" y="1076198"/>
                  </a:lnTo>
                  <a:lnTo>
                    <a:pt x="0" y="974598"/>
                  </a:lnTo>
                  <a:lnTo>
                    <a:pt x="974598" y="974598"/>
                  </a:lnTo>
                  <a:lnTo>
                    <a:pt x="974598" y="1025398"/>
                  </a:lnTo>
                  <a:lnTo>
                    <a:pt x="923798" y="1025398"/>
                  </a:lnTo>
                  <a:lnTo>
                    <a:pt x="923798" y="50800"/>
                  </a:lnTo>
                  <a:lnTo>
                    <a:pt x="974598" y="50800"/>
                  </a:lnTo>
                  <a:lnTo>
                    <a:pt x="97459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9877149" y="2867606"/>
            <a:ext cx="337366" cy="337366"/>
          </a:xfrm>
          <a:custGeom>
            <a:avLst/>
            <a:gdLst/>
            <a:ahLst/>
            <a:cxnLst/>
            <a:rect r="r" b="b" t="t" l="l"/>
            <a:pathLst>
              <a:path h="337366" w="337366">
                <a:moveTo>
                  <a:pt x="0" y="0"/>
                </a:moveTo>
                <a:lnTo>
                  <a:pt x="337366" y="0"/>
                </a:lnTo>
                <a:lnTo>
                  <a:pt x="337366" y="337366"/>
                </a:lnTo>
                <a:lnTo>
                  <a:pt x="0" y="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0608116" y="2783262"/>
            <a:ext cx="2853547" cy="506044"/>
            <a:chOff x="0" y="0"/>
            <a:chExt cx="3804729" cy="67472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804728" cy="674730"/>
            </a:xfrm>
            <a:custGeom>
              <a:avLst/>
              <a:gdLst/>
              <a:ahLst/>
              <a:cxnLst/>
              <a:rect r="r" b="b" t="t" l="l"/>
              <a:pathLst>
                <a:path h="674730" w="3804728">
                  <a:moveTo>
                    <a:pt x="0" y="0"/>
                  </a:moveTo>
                  <a:lnTo>
                    <a:pt x="3804728" y="0"/>
                  </a:lnTo>
                  <a:lnTo>
                    <a:pt x="3804728" y="674730"/>
                  </a:lnTo>
                  <a:lnTo>
                    <a:pt x="0" y="6747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874" r="0" b="-5987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9525"/>
              <a:ext cx="3804729" cy="68425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85"/>
                </a:lnSpc>
              </a:pPr>
              <a:r>
                <a:rPr lang="en-US" sz="3321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Critical Issues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44758" y="3764366"/>
            <a:ext cx="7760322" cy="1729921"/>
            <a:chOff x="0" y="0"/>
            <a:chExt cx="10347096" cy="230656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38100" y="38100"/>
              <a:ext cx="10270871" cy="2230374"/>
            </a:xfrm>
            <a:custGeom>
              <a:avLst/>
              <a:gdLst/>
              <a:ahLst/>
              <a:cxnLst/>
              <a:rect r="r" b="b" t="t" l="l"/>
              <a:pathLst>
                <a:path h="2230374" w="10270871">
                  <a:moveTo>
                    <a:pt x="0" y="0"/>
                  </a:moveTo>
                  <a:lnTo>
                    <a:pt x="10270871" y="0"/>
                  </a:lnTo>
                  <a:lnTo>
                    <a:pt x="10270871" y="2230374"/>
                  </a:lnTo>
                  <a:lnTo>
                    <a:pt x="0" y="2230374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38100" y="0"/>
              <a:ext cx="10308971" cy="2306574"/>
            </a:xfrm>
            <a:custGeom>
              <a:avLst/>
              <a:gdLst/>
              <a:ahLst/>
              <a:cxnLst/>
              <a:rect r="r" b="b" t="t" l="l"/>
              <a:pathLst>
                <a:path h="2306574" w="10308971">
                  <a:moveTo>
                    <a:pt x="0" y="0"/>
                  </a:moveTo>
                  <a:lnTo>
                    <a:pt x="10270871" y="0"/>
                  </a:lnTo>
                  <a:cubicBezTo>
                    <a:pt x="10291952" y="0"/>
                    <a:pt x="10308971" y="17018"/>
                    <a:pt x="10308971" y="38100"/>
                  </a:cubicBezTo>
                  <a:lnTo>
                    <a:pt x="10308971" y="2268474"/>
                  </a:lnTo>
                  <a:cubicBezTo>
                    <a:pt x="10308971" y="2289556"/>
                    <a:pt x="10291952" y="2306574"/>
                    <a:pt x="10270871" y="2306574"/>
                  </a:cubicBezTo>
                  <a:lnTo>
                    <a:pt x="0" y="2306574"/>
                  </a:lnTo>
                  <a:lnTo>
                    <a:pt x="0" y="2230374"/>
                  </a:lnTo>
                  <a:lnTo>
                    <a:pt x="10270871" y="2230374"/>
                  </a:lnTo>
                  <a:lnTo>
                    <a:pt x="10270871" y="2268474"/>
                  </a:lnTo>
                  <a:lnTo>
                    <a:pt x="10232771" y="2268474"/>
                  </a:lnTo>
                  <a:lnTo>
                    <a:pt x="10232771" y="38100"/>
                  </a:lnTo>
                  <a:lnTo>
                    <a:pt x="10270871" y="38100"/>
                  </a:lnTo>
                  <a:lnTo>
                    <a:pt x="1027087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83" id="83"/>
          <p:cNvSpPr/>
          <p:nvPr/>
        </p:nvSpPr>
        <p:spPr>
          <a:xfrm flipH="false" flipV="false" rot="0">
            <a:off x="9961493" y="4067051"/>
            <a:ext cx="337366" cy="337366"/>
          </a:xfrm>
          <a:custGeom>
            <a:avLst/>
            <a:gdLst/>
            <a:ahLst/>
            <a:cxnLst/>
            <a:rect r="r" b="b" t="t" l="l"/>
            <a:pathLst>
              <a:path h="337366" w="337366">
                <a:moveTo>
                  <a:pt x="0" y="0"/>
                </a:moveTo>
                <a:lnTo>
                  <a:pt x="337366" y="0"/>
                </a:lnTo>
                <a:lnTo>
                  <a:pt x="337366" y="337366"/>
                </a:lnTo>
                <a:lnTo>
                  <a:pt x="0" y="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0509714" y="4038933"/>
            <a:ext cx="3226086" cy="590393"/>
            <a:chOff x="0" y="0"/>
            <a:chExt cx="2867609" cy="524789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867604" cy="524790"/>
            </a:xfrm>
            <a:custGeom>
              <a:avLst/>
              <a:gdLst/>
              <a:ahLst/>
              <a:cxnLst/>
              <a:rect r="r" b="b" t="t" l="l"/>
              <a:pathLst>
                <a:path h="524790" w="2867604">
                  <a:moveTo>
                    <a:pt x="0" y="0"/>
                  </a:moveTo>
                  <a:lnTo>
                    <a:pt x="2867604" y="0"/>
                  </a:lnTo>
                  <a:lnTo>
                    <a:pt x="2867604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72" r="0" b="-5647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57150"/>
              <a:ext cx="2867609" cy="581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214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 Optimization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919325" y="4544987"/>
            <a:ext cx="7323639" cy="674732"/>
            <a:chOff x="0" y="0"/>
            <a:chExt cx="9764852" cy="89964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764846" cy="899640"/>
            </a:xfrm>
            <a:custGeom>
              <a:avLst/>
              <a:gdLst/>
              <a:ahLst/>
              <a:cxnLst/>
              <a:rect r="r" b="b" t="t" l="l"/>
              <a:pathLst>
                <a:path h="899640" w="9764846">
                  <a:moveTo>
                    <a:pt x="0" y="0"/>
                  </a:moveTo>
                  <a:lnTo>
                    <a:pt x="9764846" y="0"/>
                  </a:lnTo>
                  <a:lnTo>
                    <a:pt x="9764846" y="899640"/>
                  </a:lnTo>
                  <a:lnTo>
                    <a:pt x="0" y="899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493" r="0" b="-161494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76200"/>
              <a:ext cx="9764852" cy="975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Existing systems lack </a:t>
              </a:r>
              <a:r>
                <a:rPr lang="en-US" sz="1771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algorithmic route optimization</a:t>
              </a:r>
              <a:r>
                <a:rPr lang="en-US" sz="1771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, resulting in inefficient paths and wasted resources.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644758" y="5938571"/>
            <a:ext cx="7760322" cy="1729921"/>
            <a:chOff x="0" y="0"/>
            <a:chExt cx="10347096" cy="230656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38100" y="38100"/>
              <a:ext cx="10270871" cy="2230374"/>
            </a:xfrm>
            <a:custGeom>
              <a:avLst/>
              <a:gdLst/>
              <a:ahLst/>
              <a:cxnLst/>
              <a:rect r="r" b="b" t="t" l="l"/>
              <a:pathLst>
                <a:path h="2230374" w="10270871">
                  <a:moveTo>
                    <a:pt x="0" y="0"/>
                  </a:moveTo>
                  <a:lnTo>
                    <a:pt x="10270871" y="0"/>
                  </a:lnTo>
                  <a:lnTo>
                    <a:pt x="10270871" y="2230374"/>
                  </a:lnTo>
                  <a:lnTo>
                    <a:pt x="0" y="2230374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38100" y="0"/>
              <a:ext cx="10308971" cy="2306574"/>
            </a:xfrm>
            <a:custGeom>
              <a:avLst/>
              <a:gdLst/>
              <a:ahLst/>
              <a:cxnLst/>
              <a:rect r="r" b="b" t="t" l="l"/>
              <a:pathLst>
                <a:path h="2306574" w="10308971">
                  <a:moveTo>
                    <a:pt x="0" y="0"/>
                  </a:moveTo>
                  <a:lnTo>
                    <a:pt x="10270871" y="0"/>
                  </a:lnTo>
                  <a:cubicBezTo>
                    <a:pt x="10291952" y="0"/>
                    <a:pt x="10308971" y="17018"/>
                    <a:pt x="10308971" y="38100"/>
                  </a:cubicBezTo>
                  <a:lnTo>
                    <a:pt x="10308971" y="2268474"/>
                  </a:lnTo>
                  <a:cubicBezTo>
                    <a:pt x="10308971" y="2289556"/>
                    <a:pt x="10291952" y="2306574"/>
                    <a:pt x="10270871" y="2306574"/>
                  </a:cubicBezTo>
                  <a:lnTo>
                    <a:pt x="0" y="2306574"/>
                  </a:lnTo>
                  <a:lnTo>
                    <a:pt x="0" y="2230374"/>
                  </a:lnTo>
                  <a:lnTo>
                    <a:pt x="10270871" y="2230374"/>
                  </a:lnTo>
                  <a:lnTo>
                    <a:pt x="10270871" y="2268474"/>
                  </a:lnTo>
                  <a:lnTo>
                    <a:pt x="10232771" y="2268474"/>
                  </a:lnTo>
                  <a:lnTo>
                    <a:pt x="10232771" y="38100"/>
                  </a:lnTo>
                  <a:lnTo>
                    <a:pt x="10270871" y="38100"/>
                  </a:lnTo>
                  <a:lnTo>
                    <a:pt x="1027087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10024748" y="6241256"/>
            <a:ext cx="210855" cy="337366"/>
          </a:xfrm>
          <a:custGeom>
            <a:avLst/>
            <a:gdLst/>
            <a:ahLst/>
            <a:cxnLst/>
            <a:rect r="r" b="b" t="t" l="l"/>
            <a:pathLst>
              <a:path h="337366" w="210855">
                <a:moveTo>
                  <a:pt x="0" y="0"/>
                </a:moveTo>
                <a:lnTo>
                  <a:pt x="210855" y="0"/>
                </a:lnTo>
                <a:lnTo>
                  <a:pt x="210855" y="337366"/>
                </a:lnTo>
                <a:lnTo>
                  <a:pt x="0" y="337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0509714" y="6213138"/>
            <a:ext cx="4137548" cy="517192"/>
            <a:chOff x="0" y="0"/>
            <a:chExt cx="4198328" cy="524789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198322" cy="524790"/>
            </a:xfrm>
            <a:custGeom>
              <a:avLst/>
              <a:gdLst/>
              <a:ahLst/>
              <a:cxnLst/>
              <a:rect r="r" b="b" t="t" l="l"/>
              <a:pathLst>
                <a:path h="524790" w="4198322">
                  <a:moveTo>
                    <a:pt x="0" y="0"/>
                  </a:moveTo>
                  <a:lnTo>
                    <a:pt x="4198322" y="0"/>
                  </a:lnTo>
                  <a:lnTo>
                    <a:pt x="4198322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4198328" cy="581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214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Higher Operational Cost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919325" y="6719192"/>
            <a:ext cx="7323639" cy="674732"/>
            <a:chOff x="0" y="0"/>
            <a:chExt cx="9764852" cy="89964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764846" cy="899640"/>
            </a:xfrm>
            <a:custGeom>
              <a:avLst/>
              <a:gdLst/>
              <a:ahLst/>
              <a:cxnLst/>
              <a:rect r="r" b="b" t="t" l="l"/>
              <a:pathLst>
                <a:path h="899640" w="9764846">
                  <a:moveTo>
                    <a:pt x="0" y="0"/>
                  </a:moveTo>
                  <a:lnTo>
                    <a:pt x="9764846" y="0"/>
                  </a:lnTo>
                  <a:lnTo>
                    <a:pt x="9764846" y="899640"/>
                  </a:lnTo>
                  <a:lnTo>
                    <a:pt x="0" y="899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493" r="0" b="-16149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76200"/>
              <a:ext cx="9764852" cy="975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Without intelligent routing, companies face </a:t>
              </a:r>
              <a:r>
                <a:rPr lang="en-US" sz="177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increased fuel costs, overtime wages, and vehicle maintenance expenses</a:t>
              </a: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.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9644758" y="8112557"/>
            <a:ext cx="7760322" cy="1729921"/>
            <a:chOff x="0" y="0"/>
            <a:chExt cx="10347096" cy="230656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38100" y="38100"/>
              <a:ext cx="10270871" cy="2230374"/>
            </a:xfrm>
            <a:custGeom>
              <a:avLst/>
              <a:gdLst/>
              <a:ahLst/>
              <a:cxnLst/>
              <a:rect r="r" b="b" t="t" l="l"/>
              <a:pathLst>
                <a:path h="2230374" w="10270871">
                  <a:moveTo>
                    <a:pt x="0" y="0"/>
                  </a:moveTo>
                  <a:lnTo>
                    <a:pt x="10270871" y="0"/>
                  </a:lnTo>
                  <a:lnTo>
                    <a:pt x="10270871" y="2230374"/>
                  </a:lnTo>
                  <a:lnTo>
                    <a:pt x="0" y="2230374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38100" y="0"/>
              <a:ext cx="10308971" cy="2306574"/>
            </a:xfrm>
            <a:custGeom>
              <a:avLst/>
              <a:gdLst/>
              <a:ahLst/>
              <a:cxnLst/>
              <a:rect r="r" b="b" t="t" l="l"/>
              <a:pathLst>
                <a:path h="2306574" w="10308971">
                  <a:moveTo>
                    <a:pt x="0" y="0"/>
                  </a:moveTo>
                  <a:lnTo>
                    <a:pt x="10270871" y="0"/>
                  </a:lnTo>
                  <a:cubicBezTo>
                    <a:pt x="10291952" y="0"/>
                    <a:pt x="10308971" y="17018"/>
                    <a:pt x="10308971" y="38100"/>
                  </a:cubicBezTo>
                  <a:lnTo>
                    <a:pt x="10308971" y="2268474"/>
                  </a:lnTo>
                  <a:cubicBezTo>
                    <a:pt x="10308971" y="2289556"/>
                    <a:pt x="10291952" y="2306574"/>
                    <a:pt x="10270871" y="2306574"/>
                  </a:cubicBezTo>
                  <a:lnTo>
                    <a:pt x="0" y="2306574"/>
                  </a:lnTo>
                  <a:lnTo>
                    <a:pt x="0" y="2230374"/>
                  </a:lnTo>
                  <a:lnTo>
                    <a:pt x="10270871" y="2230374"/>
                  </a:lnTo>
                  <a:lnTo>
                    <a:pt x="10270871" y="2268474"/>
                  </a:lnTo>
                  <a:lnTo>
                    <a:pt x="10232771" y="2268474"/>
                  </a:lnTo>
                  <a:lnTo>
                    <a:pt x="10232771" y="38100"/>
                  </a:lnTo>
                  <a:lnTo>
                    <a:pt x="10270871" y="38100"/>
                  </a:lnTo>
                  <a:lnTo>
                    <a:pt x="10270871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961493" y="8415242"/>
            <a:ext cx="337366" cy="337366"/>
            <a:chOff x="0" y="0"/>
            <a:chExt cx="449821" cy="449821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449834" cy="449834"/>
            </a:xfrm>
            <a:custGeom>
              <a:avLst/>
              <a:gdLst/>
              <a:ahLst/>
              <a:cxnLst/>
              <a:rect r="r" b="b" t="t" l="l"/>
              <a:pathLst>
                <a:path h="449834" w="449834">
                  <a:moveTo>
                    <a:pt x="224917" y="0"/>
                  </a:moveTo>
                  <a:cubicBezTo>
                    <a:pt x="348996" y="0"/>
                    <a:pt x="449834" y="100838"/>
                    <a:pt x="449834" y="224917"/>
                  </a:cubicBezTo>
                  <a:cubicBezTo>
                    <a:pt x="449834" y="348996"/>
                    <a:pt x="348996" y="449834"/>
                    <a:pt x="224917" y="449834"/>
                  </a:cubicBezTo>
                  <a:cubicBezTo>
                    <a:pt x="100838" y="449834"/>
                    <a:pt x="0" y="348996"/>
                    <a:pt x="0" y="224917"/>
                  </a:cubicBezTo>
                  <a:cubicBezTo>
                    <a:pt x="0" y="100838"/>
                    <a:pt x="100838" y="0"/>
                    <a:pt x="224917" y="0"/>
                  </a:cubicBezTo>
                  <a:close/>
                  <a:moveTo>
                    <a:pt x="203835" y="105410"/>
                  </a:moveTo>
                  <a:lnTo>
                    <a:pt x="203835" y="224917"/>
                  </a:lnTo>
                  <a:cubicBezTo>
                    <a:pt x="203835" y="231902"/>
                    <a:pt x="207391" y="238506"/>
                    <a:pt x="213233" y="242443"/>
                  </a:cubicBezTo>
                  <a:lnTo>
                    <a:pt x="297561" y="298704"/>
                  </a:lnTo>
                  <a:cubicBezTo>
                    <a:pt x="307213" y="305181"/>
                    <a:pt x="320294" y="302514"/>
                    <a:pt x="326771" y="292862"/>
                  </a:cubicBezTo>
                  <a:cubicBezTo>
                    <a:pt x="333248" y="283210"/>
                    <a:pt x="330581" y="270129"/>
                    <a:pt x="320929" y="263652"/>
                  </a:cubicBezTo>
                  <a:lnTo>
                    <a:pt x="245999" y="213741"/>
                  </a:lnTo>
                  <a:lnTo>
                    <a:pt x="245999" y="105410"/>
                  </a:lnTo>
                  <a:cubicBezTo>
                    <a:pt x="245999" y="93726"/>
                    <a:pt x="236601" y="84328"/>
                    <a:pt x="224917" y="84328"/>
                  </a:cubicBezTo>
                  <a:cubicBezTo>
                    <a:pt x="213233" y="84328"/>
                    <a:pt x="203835" y="93726"/>
                    <a:pt x="203835" y="10541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0509714" y="8387124"/>
            <a:ext cx="3226086" cy="513240"/>
            <a:chOff x="0" y="0"/>
            <a:chExt cx="3298685" cy="524789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3298682" cy="524790"/>
            </a:xfrm>
            <a:custGeom>
              <a:avLst/>
              <a:gdLst/>
              <a:ahLst/>
              <a:cxnLst/>
              <a:rect r="r" b="b" t="t" l="l"/>
              <a:pathLst>
                <a:path h="524790" w="3298682">
                  <a:moveTo>
                    <a:pt x="0" y="0"/>
                  </a:moveTo>
                  <a:lnTo>
                    <a:pt x="3298682" y="0"/>
                  </a:lnTo>
                  <a:lnTo>
                    <a:pt x="3298682" y="524790"/>
                  </a:lnTo>
                  <a:lnTo>
                    <a:pt x="0" y="5247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3298685" cy="581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88"/>
                </a:lnSpc>
              </a:pPr>
              <a:r>
                <a:rPr lang="en-US" sz="2214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Delayed Deliveries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919325" y="8893169"/>
            <a:ext cx="7323639" cy="674732"/>
            <a:chOff x="0" y="0"/>
            <a:chExt cx="9764852" cy="899643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764846" cy="899640"/>
            </a:xfrm>
            <a:custGeom>
              <a:avLst/>
              <a:gdLst/>
              <a:ahLst/>
              <a:cxnLst/>
              <a:rect r="r" b="b" t="t" l="l"/>
              <a:pathLst>
                <a:path h="899640" w="9764846">
                  <a:moveTo>
                    <a:pt x="0" y="0"/>
                  </a:moveTo>
                  <a:lnTo>
                    <a:pt x="9764846" y="0"/>
                  </a:lnTo>
                  <a:lnTo>
                    <a:pt x="9764846" y="899640"/>
                  </a:lnTo>
                  <a:lnTo>
                    <a:pt x="0" y="899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1493" r="0" b="-161494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76200"/>
              <a:ext cx="9764852" cy="9758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3"/>
                </a:lnSpc>
              </a:pP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Poor planning leads to </a:t>
              </a:r>
              <a:r>
                <a:rPr lang="en-US" sz="177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missed delivery windows</a:t>
              </a:r>
              <a:r>
                <a:rPr lang="en-US" sz="177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, reducing customer satisfaction and business reputation.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21026" y="-271282"/>
            <a:ext cx="1198512" cy="1198512"/>
            <a:chOff x="0" y="0"/>
            <a:chExt cx="1598016" cy="15980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521714" cy="1521841"/>
            </a:xfrm>
            <a:custGeom>
              <a:avLst/>
              <a:gdLst/>
              <a:ahLst/>
              <a:cxnLst/>
              <a:rect r="r" b="b" t="t" l="l"/>
              <a:pathLst>
                <a:path h="1521841" w="1521714">
                  <a:moveTo>
                    <a:pt x="0" y="760857"/>
                  </a:moveTo>
                  <a:cubicBezTo>
                    <a:pt x="0" y="340614"/>
                    <a:pt x="340614" y="0"/>
                    <a:pt x="760857" y="0"/>
                  </a:cubicBezTo>
                  <a:cubicBezTo>
                    <a:pt x="1181100" y="0"/>
                    <a:pt x="1521714" y="340614"/>
                    <a:pt x="1521714" y="760857"/>
                  </a:cubicBezTo>
                  <a:cubicBezTo>
                    <a:pt x="1521714" y="1181100"/>
                    <a:pt x="1181100" y="1521841"/>
                    <a:pt x="760857" y="1521841"/>
                  </a:cubicBezTo>
                  <a:cubicBezTo>
                    <a:pt x="340614" y="1521841"/>
                    <a:pt x="0" y="1181100"/>
                    <a:pt x="0" y="760857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97914" cy="1597914"/>
            </a:xfrm>
            <a:custGeom>
              <a:avLst/>
              <a:gdLst/>
              <a:ahLst/>
              <a:cxnLst/>
              <a:rect r="r" b="b" t="t" l="l"/>
              <a:pathLst>
                <a:path h="1597914" w="1597914">
                  <a:moveTo>
                    <a:pt x="0" y="798957"/>
                  </a:moveTo>
                  <a:cubicBezTo>
                    <a:pt x="0" y="357759"/>
                    <a:pt x="357759" y="0"/>
                    <a:pt x="798957" y="0"/>
                  </a:cubicBezTo>
                  <a:cubicBezTo>
                    <a:pt x="806069" y="0"/>
                    <a:pt x="813054" y="2032"/>
                    <a:pt x="819150" y="5842"/>
                  </a:cubicBezTo>
                  <a:lnTo>
                    <a:pt x="798957" y="38100"/>
                  </a:lnTo>
                  <a:lnTo>
                    <a:pt x="798957" y="0"/>
                  </a:lnTo>
                  <a:lnTo>
                    <a:pt x="798957" y="38100"/>
                  </a:lnTo>
                  <a:lnTo>
                    <a:pt x="798957" y="0"/>
                  </a:lnTo>
                  <a:cubicBezTo>
                    <a:pt x="1240282" y="0"/>
                    <a:pt x="1597914" y="357759"/>
                    <a:pt x="1597914" y="798957"/>
                  </a:cubicBezTo>
                  <a:cubicBezTo>
                    <a:pt x="1597914" y="810895"/>
                    <a:pt x="1592326" y="822198"/>
                    <a:pt x="1582674" y="829437"/>
                  </a:cubicBezTo>
                  <a:lnTo>
                    <a:pt x="1559814" y="798957"/>
                  </a:lnTo>
                  <a:lnTo>
                    <a:pt x="1597914" y="798957"/>
                  </a:lnTo>
                  <a:cubicBezTo>
                    <a:pt x="1597914" y="1240282"/>
                    <a:pt x="1240155" y="1597914"/>
                    <a:pt x="798957" y="1597914"/>
                  </a:cubicBezTo>
                  <a:lnTo>
                    <a:pt x="798957" y="1559814"/>
                  </a:lnTo>
                  <a:lnTo>
                    <a:pt x="798957" y="1597914"/>
                  </a:lnTo>
                  <a:cubicBezTo>
                    <a:pt x="357759" y="1598041"/>
                    <a:pt x="0" y="1240282"/>
                    <a:pt x="0" y="798957"/>
                  </a:cubicBezTo>
                  <a:lnTo>
                    <a:pt x="38100" y="798957"/>
                  </a:lnTo>
                  <a:lnTo>
                    <a:pt x="0" y="798957"/>
                  </a:lnTo>
                  <a:moveTo>
                    <a:pt x="76200" y="798957"/>
                  </a:moveTo>
                  <a:lnTo>
                    <a:pt x="38100" y="798957"/>
                  </a:lnTo>
                  <a:lnTo>
                    <a:pt x="76200" y="798957"/>
                  </a:lnTo>
                  <a:cubicBezTo>
                    <a:pt x="76200" y="1198118"/>
                    <a:pt x="399796" y="1521714"/>
                    <a:pt x="798957" y="1521714"/>
                  </a:cubicBezTo>
                  <a:cubicBezTo>
                    <a:pt x="1198118" y="1521714"/>
                    <a:pt x="1521714" y="1198118"/>
                    <a:pt x="1521714" y="798957"/>
                  </a:cubicBezTo>
                  <a:cubicBezTo>
                    <a:pt x="1521714" y="787019"/>
                    <a:pt x="1527302" y="775716"/>
                    <a:pt x="1536954" y="768477"/>
                  </a:cubicBezTo>
                  <a:lnTo>
                    <a:pt x="1559814" y="798957"/>
                  </a:lnTo>
                  <a:lnTo>
                    <a:pt x="1521714" y="798957"/>
                  </a:lnTo>
                  <a:cubicBezTo>
                    <a:pt x="1521841" y="399796"/>
                    <a:pt x="1198245" y="76200"/>
                    <a:pt x="798957" y="76200"/>
                  </a:cubicBezTo>
                  <a:cubicBezTo>
                    <a:pt x="791845" y="76200"/>
                    <a:pt x="784860" y="74168"/>
                    <a:pt x="778764" y="70358"/>
                  </a:cubicBezTo>
                  <a:lnTo>
                    <a:pt x="798957" y="38100"/>
                  </a:lnTo>
                  <a:lnTo>
                    <a:pt x="798957" y="76200"/>
                  </a:lnTo>
                  <a:cubicBezTo>
                    <a:pt x="399796" y="76200"/>
                    <a:pt x="76200" y="399796"/>
                    <a:pt x="76200" y="798957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1500000">
            <a:off x="517598" y="8703907"/>
            <a:ext cx="804939" cy="804939"/>
            <a:chOff x="0" y="0"/>
            <a:chExt cx="1073252" cy="10732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997077" cy="997077"/>
            </a:xfrm>
            <a:custGeom>
              <a:avLst/>
              <a:gdLst/>
              <a:ahLst/>
              <a:cxnLst/>
              <a:rect r="r" b="b" t="t" l="l"/>
              <a:pathLst>
                <a:path h="997077" w="997077">
                  <a:moveTo>
                    <a:pt x="0" y="0"/>
                  </a:moveTo>
                  <a:lnTo>
                    <a:pt x="997077" y="0"/>
                  </a:lnTo>
                  <a:lnTo>
                    <a:pt x="997077" y="997077"/>
                  </a:lnTo>
                  <a:lnTo>
                    <a:pt x="0" y="997077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00" y="0"/>
              <a:ext cx="1035177" cy="1073277"/>
            </a:xfrm>
            <a:custGeom>
              <a:avLst/>
              <a:gdLst/>
              <a:ahLst/>
              <a:cxnLst/>
              <a:rect r="r" b="b" t="t" l="l"/>
              <a:pathLst>
                <a:path h="1073277" w="1035177">
                  <a:moveTo>
                    <a:pt x="0" y="0"/>
                  </a:moveTo>
                  <a:lnTo>
                    <a:pt x="997077" y="0"/>
                  </a:lnTo>
                  <a:cubicBezTo>
                    <a:pt x="1018159" y="0"/>
                    <a:pt x="1035177" y="17018"/>
                    <a:pt x="1035177" y="38100"/>
                  </a:cubicBezTo>
                  <a:lnTo>
                    <a:pt x="1035177" y="1035177"/>
                  </a:lnTo>
                  <a:cubicBezTo>
                    <a:pt x="1035177" y="1056259"/>
                    <a:pt x="1018159" y="1073277"/>
                    <a:pt x="997077" y="1073277"/>
                  </a:cubicBezTo>
                  <a:lnTo>
                    <a:pt x="0" y="1073277"/>
                  </a:lnTo>
                  <a:lnTo>
                    <a:pt x="0" y="997077"/>
                  </a:lnTo>
                  <a:lnTo>
                    <a:pt x="997077" y="997077"/>
                  </a:lnTo>
                  <a:lnTo>
                    <a:pt x="997077" y="1035177"/>
                  </a:lnTo>
                  <a:lnTo>
                    <a:pt x="958977" y="1035177"/>
                  </a:lnTo>
                  <a:lnTo>
                    <a:pt x="958977" y="38100"/>
                  </a:lnTo>
                  <a:lnTo>
                    <a:pt x="997077" y="38100"/>
                  </a:lnTo>
                  <a:lnTo>
                    <a:pt x="99707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2400000">
            <a:off x="17119235" y="3163605"/>
            <a:ext cx="542554" cy="542554"/>
            <a:chOff x="0" y="0"/>
            <a:chExt cx="723405" cy="72340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647192" cy="647192"/>
            </a:xfrm>
            <a:custGeom>
              <a:avLst/>
              <a:gdLst/>
              <a:ahLst/>
              <a:cxnLst/>
              <a:rect r="r" b="b" t="t" l="l"/>
              <a:pathLst>
                <a:path h="647192" w="647192">
                  <a:moveTo>
                    <a:pt x="0" y="0"/>
                  </a:moveTo>
                  <a:lnTo>
                    <a:pt x="647192" y="0"/>
                  </a:lnTo>
                  <a:lnTo>
                    <a:pt x="647192" y="647192"/>
                  </a:lnTo>
                  <a:lnTo>
                    <a:pt x="0" y="647192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685292" cy="723392"/>
            </a:xfrm>
            <a:custGeom>
              <a:avLst/>
              <a:gdLst/>
              <a:ahLst/>
              <a:cxnLst/>
              <a:rect r="r" b="b" t="t" l="l"/>
              <a:pathLst>
                <a:path h="723392" w="685292">
                  <a:moveTo>
                    <a:pt x="0" y="0"/>
                  </a:moveTo>
                  <a:lnTo>
                    <a:pt x="647192" y="0"/>
                  </a:lnTo>
                  <a:cubicBezTo>
                    <a:pt x="668274" y="0"/>
                    <a:pt x="685292" y="17018"/>
                    <a:pt x="685292" y="38100"/>
                  </a:cubicBezTo>
                  <a:lnTo>
                    <a:pt x="685292" y="685292"/>
                  </a:lnTo>
                  <a:cubicBezTo>
                    <a:pt x="685292" y="706374"/>
                    <a:pt x="668274" y="723392"/>
                    <a:pt x="647192" y="723392"/>
                  </a:cubicBezTo>
                  <a:lnTo>
                    <a:pt x="0" y="723392"/>
                  </a:lnTo>
                  <a:lnTo>
                    <a:pt x="0" y="647192"/>
                  </a:lnTo>
                  <a:lnTo>
                    <a:pt x="647192" y="647192"/>
                  </a:lnTo>
                  <a:lnTo>
                    <a:pt x="647192" y="685292"/>
                  </a:lnTo>
                  <a:lnTo>
                    <a:pt x="609092" y="685292"/>
                  </a:lnTo>
                  <a:lnTo>
                    <a:pt x="609092" y="38100"/>
                  </a:lnTo>
                  <a:lnTo>
                    <a:pt x="647192" y="38100"/>
                  </a:lnTo>
                  <a:lnTo>
                    <a:pt x="647192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12902" y="512902"/>
            <a:ext cx="3027998" cy="653444"/>
            <a:chOff x="0" y="0"/>
            <a:chExt cx="4037330" cy="8712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935730" cy="769620"/>
            </a:xfrm>
            <a:custGeom>
              <a:avLst/>
              <a:gdLst/>
              <a:ahLst/>
              <a:cxnLst/>
              <a:rect r="r" b="b" t="t" l="l"/>
              <a:pathLst>
                <a:path h="769620" w="3935730">
                  <a:moveTo>
                    <a:pt x="0" y="0"/>
                  </a:moveTo>
                  <a:lnTo>
                    <a:pt x="3935730" y="0"/>
                  </a:lnTo>
                  <a:lnTo>
                    <a:pt x="3935730" y="769620"/>
                  </a:lnTo>
                  <a:lnTo>
                    <a:pt x="0" y="76962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986530" cy="871220"/>
            </a:xfrm>
            <a:custGeom>
              <a:avLst/>
              <a:gdLst/>
              <a:ahLst/>
              <a:cxnLst/>
              <a:rect r="r" b="b" t="t" l="l"/>
              <a:pathLst>
                <a:path h="871220" w="3986530">
                  <a:moveTo>
                    <a:pt x="0" y="0"/>
                  </a:moveTo>
                  <a:lnTo>
                    <a:pt x="3935730" y="0"/>
                  </a:lnTo>
                  <a:cubicBezTo>
                    <a:pt x="3963797" y="0"/>
                    <a:pt x="3986530" y="22733"/>
                    <a:pt x="3986530" y="50800"/>
                  </a:cubicBezTo>
                  <a:lnTo>
                    <a:pt x="3986530" y="820420"/>
                  </a:lnTo>
                  <a:cubicBezTo>
                    <a:pt x="3986530" y="848487"/>
                    <a:pt x="3963797" y="871220"/>
                    <a:pt x="3935730" y="871220"/>
                  </a:cubicBezTo>
                  <a:lnTo>
                    <a:pt x="0" y="871220"/>
                  </a:lnTo>
                  <a:lnTo>
                    <a:pt x="0" y="769620"/>
                  </a:lnTo>
                  <a:lnTo>
                    <a:pt x="3935730" y="769620"/>
                  </a:lnTo>
                  <a:lnTo>
                    <a:pt x="3935730" y="820420"/>
                  </a:lnTo>
                  <a:lnTo>
                    <a:pt x="3884930" y="820420"/>
                  </a:lnTo>
                  <a:lnTo>
                    <a:pt x="3884930" y="50800"/>
                  </a:lnTo>
                  <a:lnTo>
                    <a:pt x="3935730" y="50800"/>
                  </a:lnTo>
                  <a:lnTo>
                    <a:pt x="393573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24761" y="524761"/>
            <a:ext cx="3004271" cy="524761"/>
            <a:chOff x="0" y="0"/>
            <a:chExt cx="4005694" cy="69968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05692" cy="699684"/>
            </a:xfrm>
            <a:custGeom>
              <a:avLst/>
              <a:gdLst/>
              <a:ahLst/>
              <a:cxnLst/>
              <a:rect r="r" b="b" t="t" l="l"/>
              <a:pathLst>
                <a:path h="699684" w="4005692">
                  <a:moveTo>
                    <a:pt x="0" y="0"/>
                  </a:moveTo>
                  <a:lnTo>
                    <a:pt x="4005692" y="0"/>
                  </a:lnTo>
                  <a:lnTo>
                    <a:pt x="4005692" y="699684"/>
                  </a:lnTo>
                  <a:lnTo>
                    <a:pt x="0" y="6996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552" r="0" b="-6155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4005694" cy="7758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78"/>
                </a:lnSpc>
              </a:pPr>
              <a:r>
                <a:rPr lang="en-US" sz="1653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TECHNICAL FOUNDATION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24761" y="1311907"/>
            <a:ext cx="17553327" cy="629717"/>
            <a:chOff x="0" y="0"/>
            <a:chExt cx="23404436" cy="8396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04443" cy="839622"/>
            </a:xfrm>
            <a:custGeom>
              <a:avLst/>
              <a:gdLst/>
              <a:ahLst/>
              <a:cxnLst/>
              <a:rect r="r" b="b" t="t" l="l"/>
              <a:pathLst>
                <a:path h="839622" w="23404443">
                  <a:moveTo>
                    <a:pt x="0" y="0"/>
                  </a:moveTo>
                  <a:lnTo>
                    <a:pt x="23404443" y="0"/>
                  </a:lnTo>
                  <a:lnTo>
                    <a:pt x="23404443" y="839622"/>
                  </a:lnTo>
                  <a:lnTo>
                    <a:pt x="0" y="8396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144" r="0" b="-4931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85725"/>
              <a:ext cx="23404436" cy="7538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60"/>
                </a:lnSpc>
              </a:pPr>
              <a:r>
                <a:rPr lang="en-US" sz="495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Literature Survey — DAA Concepts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902" y="2139667"/>
            <a:ext cx="10256606" cy="7632792"/>
            <a:chOff x="0" y="0"/>
            <a:chExt cx="13675474" cy="10177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13573888" cy="10075418"/>
            </a:xfrm>
            <a:custGeom>
              <a:avLst/>
              <a:gdLst/>
              <a:ahLst/>
              <a:cxnLst/>
              <a:rect r="r" b="b" t="t" l="l"/>
              <a:pathLst>
                <a:path h="10075418" w="13573888">
                  <a:moveTo>
                    <a:pt x="0" y="0"/>
                  </a:moveTo>
                  <a:lnTo>
                    <a:pt x="13573888" y="0"/>
                  </a:lnTo>
                  <a:lnTo>
                    <a:pt x="13573888" y="10075418"/>
                  </a:lnTo>
                  <a:lnTo>
                    <a:pt x="0" y="10075418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13624688" cy="10177018"/>
            </a:xfrm>
            <a:custGeom>
              <a:avLst/>
              <a:gdLst/>
              <a:ahLst/>
              <a:cxnLst/>
              <a:rect r="r" b="b" t="t" l="l"/>
              <a:pathLst>
                <a:path h="10177018" w="13624688">
                  <a:moveTo>
                    <a:pt x="0" y="0"/>
                  </a:moveTo>
                  <a:lnTo>
                    <a:pt x="13573888" y="0"/>
                  </a:lnTo>
                  <a:cubicBezTo>
                    <a:pt x="13601954" y="0"/>
                    <a:pt x="13624688" y="22733"/>
                    <a:pt x="13624688" y="50800"/>
                  </a:cubicBezTo>
                  <a:lnTo>
                    <a:pt x="13624688" y="10126218"/>
                  </a:lnTo>
                  <a:cubicBezTo>
                    <a:pt x="13624688" y="10154286"/>
                    <a:pt x="13601954" y="10177018"/>
                    <a:pt x="13573888" y="10177018"/>
                  </a:cubicBezTo>
                  <a:lnTo>
                    <a:pt x="0" y="10177018"/>
                  </a:lnTo>
                  <a:lnTo>
                    <a:pt x="0" y="10075418"/>
                  </a:lnTo>
                  <a:lnTo>
                    <a:pt x="13573888" y="10075418"/>
                  </a:lnTo>
                  <a:lnTo>
                    <a:pt x="13573888" y="10126218"/>
                  </a:lnTo>
                  <a:lnTo>
                    <a:pt x="13523088" y="10126218"/>
                  </a:lnTo>
                  <a:lnTo>
                    <a:pt x="13523088" y="50800"/>
                  </a:lnTo>
                  <a:lnTo>
                    <a:pt x="13573888" y="50800"/>
                  </a:lnTo>
                  <a:lnTo>
                    <a:pt x="1357388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7761" y="2454526"/>
            <a:ext cx="758390" cy="758390"/>
            <a:chOff x="0" y="0"/>
            <a:chExt cx="1011187" cy="10111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909574" cy="909574"/>
            </a:xfrm>
            <a:custGeom>
              <a:avLst/>
              <a:gdLst/>
              <a:ahLst/>
              <a:cxnLst/>
              <a:rect r="r" b="b" t="t" l="l"/>
              <a:pathLst>
                <a:path h="909574" w="909574">
                  <a:moveTo>
                    <a:pt x="0" y="0"/>
                  </a:moveTo>
                  <a:lnTo>
                    <a:pt x="909574" y="0"/>
                  </a:lnTo>
                  <a:lnTo>
                    <a:pt x="909574" y="909574"/>
                  </a:lnTo>
                  <a:lnTo>
                    <a:pt x="0" y="909574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960374" cy="1011174"/>
            </a:xfrm>
            <a:custGeom>
              <a:avLst/>
              <a:gdLst/>
              <a:ahLst/>
              <a:cxnLst/>
              <a:rect r="r" b="b" t="t" l="l"/>
              <a:pathLst>
                <a:path h="1011174" w="960374">
                  <a:moveTo>
                    <a:pt x="0" y="0"/>
                  </a:moveTo>
                  <a:lnTo>
                    <a:pt x="909574" y="0"/>
                  </a:lnTo>
                  <a:cubicBezTo>
                    <a:pt x="937641" y="0"/>
                    <a:pt x="960374" y="22733"/>
                    <a:pt x="960374" y="50800"/>
                  </a:cubicBezTo>
                  <a:lnTo>
                    <a:pt x="960374" y="960374"/>
                  </a:lnTo>
                  <a:cubicBezTo>
                    <a:pt x="960374" y="988441"/>
                    <a:pt x="937641" y="1011174"/>
                    <a:pt x="909574" y="1011174"/>
                  </a:cubicBezTo>
                  <a:lnTo>
                    <a:pt x="0" y="1011174"/>
                  </a:lnTo>
                  <a:lnTo>
                    <a:pt x="0" y="909574"/>
                  </a:lnTo>
                  <a:lnTo>
                    <a:pt x="909574" y="909574"/>
                  </a:lnTo>
                  <a:lnTo>
                    <a:pt x="909574" y="960374"/>
                  </a:lnTo>
                  <a:lnTo>
                    <a:pt x="858774" y="960374"/>
                  </a:lnTo>
                  <a:lnTo>
                    <a:pt x="858774" y="50800"/>
                  </a:lnTo>
                  <a:lnTo>
                    <a:pt x="909574" y="50800"/>
                  </a:lnTo>
                  <a:lnTo>
                    <a:pt x="909574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049522" y="2676296"/>
            <a:ext cx="314858" cy="314858"/>
          </a:xfrm>
          <a:custGeom>
            <a:avLst/>
            <a:gdLst/>
            <a:ahLst/>
            <a:cxnLst/>
            <a:rect r="r" b="b" t="t" l="l"/>
            <a:pathLst>
              <a:path h="314858" w="314858">
                <a:moveTo>
                  <a:pt x="0" y="0"/>
                </a:moveTo>
                <a:lnTo>
                  <a:pt x="314858" y="0"/>
                </a:lnTo>
                <a:lnTo>
                  <a:pt x="314858" y="314859"/>
                </a:lnTo>
                <a:lnTo>
                  <a:pt x="0" y="3148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731721" y="2597582"/>
            <a:ext cx="3712702" cy="472288"/>
            <a:chOff x="0" y="0"/>
            <a:chExt cx="4950270" cy="6297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50266" cy="629716"/>
            </a:xfrm>
            <a:custGeom>
              <a:avLst/>
              <a:gdLst/>
              <a:ahLst/>
              <a:cxnLst/>
              <a:rect r="r" b="b" t="t" l="l"/>
              <a:pathLst>
                <a:path h="629716" w="4950266">
                  <a:moveTo>
                    <a:pt x="0" y="0"/>
                  </a:moveTo>
                  <a:lnTo>
                    <a:pt x="4950266" y="0"/>
                  </a:lnTo>
                  <a:lnTo>
                    <a:pt x="4950266" y="629716"/>
                  </a:lnTo>
                  <a:lnTo>
                    <a:pt x="0" y="62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174" r="0" b="-1031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950270" cy="6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8"/>
                </a:lnSpc>
              </a:pPr>
              <a:r>
                <a:rPr lang="en-US" sz="309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DAA Concepts Used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30723" y="3485083"/>
            <a:ext cx="9620964" cy="1723273"/>
            <a:chOff x="0" y="0"/>
            <a:chExt cx="12827952" cy="22976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38100" y="38100"/>
              <a:ext cx="12751689" cy="2221484"/>
            </a:xfrm>
            <a:custGeom>
              <a:avLst/>
              <a:gdLst/>
              <a:ahLst/>
              <a:cxnLst/>
              <a:rect r="r" b="b" t="t" l="l"/>
              <a:pathLst>
                <a:path h="2221484" w="12751689">
                  <a:moveTo>
                    <a:pt x="0" y="0"/>
                  </a:moveTo>
                  <a:lnTo>
                    <a:pt x="12751689" y="0"/>
                  </a:lnTo>
                  <a:lnTo>
                    <a:pt x="12751689" y="2221484"/>
                  </a:lnTo>
                  <a:lnTo>
                    <a:pt x="0" y="2221484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8100" y="0"/>
              <a:ext cx="12789789" cy="2297684"/>
            </a:xfrm>
            <a:custGeom>
              <a:avLst/>
              <a:gdLst/>
              <a:ahLst/>
              <a:cxnLst/>
              <a:rect r="r" b="b" t="t" l="l"/>
              <a:pathLst>
                <a:path h="2297684" w="12789789">
                  <a:moveTo>
                    <a:pt x="0" y="0"/>
                  </a:moveTo>
                  <a:lnTo>
                    <a:pt x="12751689" y="0"/>
                  </a:lnTo>
                  <a:cubicBezTo>
                    <a:pt x="12772771" y="0"/>
                    <a:pt x="12789789" y="17018"/>
                    <a:pt x="12789789" y="38100"/>
                  </a:cubicBezTo>
                  <a:lnTo>
                    <a:pt x="12789789" y="2259584"/>
                  </a:lnTo>
                  <a:cubicBezTo>
                    <a:pt x="12789789" y="2280666"/>
                    <a:pt x="12772771" y="2297684"/>
                    <a:pt x="12751689" y="2297684"/>
                  </a:cubicBezTo>
                  <a:lnTo>
                    <a:pt x="0" y="2297684"/>
                  </a:lnTo>
                  <a:lnTo>
                    <a:pt x="0" y="2221484"/>
                  </a:lnTo>
                  <a:lnTo>
                    <a:pt x="12751689" y="2221484"/>
                  </a:lnTo>
                  <a:lnTo>
                    <a:pt x="12751689" y="2259584"/>
                  </a:lnTo>
                  <a:lnTo>
                    <a:pt x="12713589" y="2259584"/>
                  </a:lnTo>
                  <a:lnTo>
                    <a:pt x="12713589" y="38100"/>
                  </a:lnTo>
                  <a:lnTo>
                    <a:pt x="12751689" y="38100"/>
                  </a:lnTo>
                  <a:lnTo>
                    <a:pt x="127516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77020" y="3731381"/>
            <a:ext cx="863346" cy="863346"/>
            <a:chOff x="0" y="0"/>
            <a:chExt cx="1151128" cy="1151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0800" y="5080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0"/>
                  </a:moveTo>
                  <a:lnTo>
                    <a:pt x="1049528" y="0"/>
                  </a:lnTo>
                  <a:lnTo>
                    <a:pt x="1049528" y="1049528"/>
                  </a:lnTo>
                  <a:lnTo>
                    <a:pt x="0" y="1049528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0800" y="0"/>
              <a:ext cx="1100328" cy="1151128"/>
            </a:xfrm>
            <a:custGeom>
              <a:avLst/>
              <a:gdLst/>
              <a:ahLst/>
              <a:cxnLst/>
              <a:rect r="r" b="b" t="t" l="l"/>
              <a:pathLst>
                <a:path h="1151128" w="1100328">
                  <a:moveTo>
                    <a:pt x="0" y="0"/>
                  </a:moveTo>
                  <a:lnTo>
                    <a:pt x="1049528" y="0"/>
                  </a:lnTo>
                  <a:cubicBezTo>
                    <a:pt x="1077595" y="0"/>
                    <a:pt x="1100328" y="22733"/>
                    <a:pt x="1100328" y="50800"/>
                  </a:cubicBezTo>
                  <a:lnTo>
                    <a:pt x="1100328" y="1100328"/>
                  </a:lnTo>
                  <a:cubicBezTo>
                    <a:pt x="1100328" y="1128395"/>
                    <a:pt x="1077595" y="1151128"/>
                    <a:pt x="1049528" y="1151128"/>
                  </a:cubicBezTo>
                  <a:lnTo>
                    <a:pt x="0" y="1151128"/>
                  </a:lnTo>
                  <a:lnTo>
                    <a:pt x="0" y="1049528"/>
                  </a:lnTo>
                  <a:lnTo>
                    <a:pt x="1049528" y="1049528"/>
                  </a:lnTo>
                  <a:lnTo>
                    <a:pt x="1049528" y="1100328"/>
                  </a:lnTo>
                  <a:lnTo>
                    <a:pt x="998728" y="1100328"/>
                  </a:lnTo>
                  <a:lnTo>
                    <a:pt x="998728" y="50800"/>
                  </a:lnTo>
                  <a:lnTo>
                    <a:pt x="1049528" y="50800"/>
                  </a:lnTo>
                  <a:lnTo>
                    <a:pt x="104952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315183" y="3966267"/>
            <a:ext cx="393573" cy="393573"/>
          </a:xfrm>
          <a:custGeom>
            <a:avLst/>
            <a:gdLst/>
            <a:ahLst/>
            <a:cxnLst/>
            <a:rect r="r" b="b" t="t" l="l"/>
            <a:pathLst>
              <a:path h="393573" w="393573">
                <a:moveTo>
                  <a:pt x="0" y="0"/>
                </a:moveTo>
                <a:lnTo>
                  <a:pt x="393573" y="0"/>
                </a:lnTo>
                <a:lnTo>
                  <a:pt x="393573" y="393573"/>
                </a:lnTo>
                <a:lnTo>
                  <a:pt x="0" y="3935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2138410" y="3743239"/>
            <a:ext cx="8212541" cy="419814"/>
            <a:chOff x="0" y="0"/>
            <a:chExt cx="10950054" cy="5597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50060" cy="559748"/>
            </a:xfrm>
            <a:custGeom>
              <a:avLst/>
              <a:gdLst/>
              <a:ahLst/>
              <a:cxnLst/>
              <a:rect r="r" b="b" t="t" l="l"/>
              <a:pathLst>
                <a:path h="559748" w="10950060">
                  <a:moveTo>
                    <a:pt x="0" y="0"/>
                  </a:moveTo>
                  <a:lnTo>
                    <a:pt x="10950060" y="0"/>
                  </a:lnTo>
                  <a:lnTo>
                    <a:pt x="10950060" y="559748"/>
                  </a:lnTo>
                  <a:lnTo>
                    <a:pt x="0" y="559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175" r="0" b="-33117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0950054" cy="597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2"/>
                </a:lnSpc>
              </a:pPr>
              <a:r>
                <a:rPr lang="en-US" sz="247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Theory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138410" y="4268010"/>
            <a:ext cx="8160068" cy="682190"/>
            <a:chOff x="0" y="0"/>
            <a:chExt cx="10880090" cy="90958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80092" cy="909590"/>
            </a:xfrm>
            <a:custGeom>
              <a:avLst/>
              <a:gdLst/>
              <a:ahLst/>
              <a:cxnLst/>
              <a:rect r="r" b="b" t="t" l="l"/>
              <a:pathLst>
                <a:path h="909590" w="10880092">
                  <a:moveTo>
                    <a:pt x="0" y="0"/>
                  </a:moveTo>
                  <a:lnTo>
                    <a:pt x="10880092" y="0"/>
                  </a:lnTo>
                  <a:lnTo>
                    <a:pt x="10880092" y="909590"/>
                  </a:lnTo>
                  <a:lnTo>
                    <a:pt x="0" y="909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71" r="0" b="-18307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0"/>
              <a:ext cx="10880090" cy="1004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7"/>
                </a:lnSpc>
              </a:pP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Models delivery networks as </a:t>
              </a:r>
              <a:r>
                <a:rPr lang="en-US" sz="1653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weighted graphs</a:t>
              </a: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where nodes represent locations and edges represent routes with distance/cost weights.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30723" y="5566715"/>
            <a:ext cx="9620964" cy="1723273"/>
            <a:chOff x="0" y="0"/>
            <a:chExt cx="12827952" cy="229769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38100" y="38100"/>
              <a:ext cx="12751689" cy="2221484"/>
            </a:xfrm>
            <a:custGeom>
              <a:avLst/>
              <a:gdLst/>
              <a:ahLst/>
              <a:cxnLst/>
              <a:rect r="r" b="b" t="t" l="l"/>
              <a:pathLst>
                <a:path h="2221484" w="12751689">
                  <a:moveTo>
                    <a:pt x="0" y="0"/>
                  </a:moveTo>
                  <a:lnTo>
                    <a:pt x="12751689" y="0"/>
                  </a:lnTo>
                  <a:lnTo>
                    <a:pt x="12751689" y="2221484"/>
                  </a:lnTo>
                  <a:lnTo>
                    <a:pt x="0" y="2221484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8100" y="0"/>
              <a:ext cx="12789789" cy="2297684"/>
            </a:xfrm>
            <a:custGeom>
              <a:avLst/>
              <a:gdLst/>
              <a:ahLst/>
              <a:cxnLst/>
              <a:rect r="r" b="b" t="t" l="l"/>
              <a:pathLst>
                <a:path h="2297684" w="12789789">
                  <a:moveTo>
                    <a:pt x="0" y="0"/>
                  </a:moveTo>
                  <a:lnTo>
                    <a:pt x="12751689" y="0"/>
                  </a:lnTo>
                  <a:cubicBezTo>
                    <a:pt x="12772771" y="0"/>
                    <a:pt x="12789789" y="17018"/>
                    <a:pt x="12789789" y="38100"/>
                  </a:cubicBezTo>
                  <a:lnTo>
                    <a:pt x="12789789" y="2259584"/>
                  </a:lnTo>
                  <a:cubicBezTo>
                    <a:pt x="12789789" y="2280666"/>
                    <a:pt x="12772771" y="2297684"/>
                    <a:pt x="12751689" y="2297684"/>
                  </a:cubicBezTo>
                  <a:lnTo>
                    <a:pt x="0" y="2297684"/>
                  </a:lnTo>
                  <a:lnTo>
                    <a:pt x="0" y="2221484"/>
                  </a:lnTo>
                  <a:lnTo>
                    <a:pt x="12751689" y="2221484"/>
                  </a:lnTo>
                  <a:lnTo>
                    <a:pt x="12751689" y="2259584"/>
                  </a:lnTo>
                  <a:lnTo>
                    <a:pt x="12713589" y="2259584"/>
                  </a:lnTo>
                  <a:lnTo>
                    <a:pt x="12713589" y="38100"/>
                  </a:lnTo>
                  <a:lnTo>
                    <a:pt x="12751689" y="38100"/>
                  </a:lnTo>
                  <a:lnTo>
                    <a:pt x="127516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77020" y="5813012"/>
            <a:ext cx="863346" cy="863346"/>
            <a:chOff x="0" y="0"/>
            <a:chExt cx="1151128" cy="115112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50800" y="5080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0"/>
                  </a:moveTo>
                  <a:lnTo>
                    <a:pt x="1049528" y="0"/>
                  </a:lnTo>
                  <a:lnTo>
                    <a:pt x="1049528" y="1049528"/>
                  </a:lnTo>
                  <a:lnTo>
                    <a:pt x="0" y="1049528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0800" y="0"/>
              <a:ext cx="1100328" cy="1151128"/>
            </a:xfrm>
            <a:custGeom>
              <a:avLst/>
              <a:gdLst/>
              <a:ahLst/>
              <a:cxnLst/>
              <a:rect r="r" b="b" t="t" l="l"/>
              <a:pathLst>
                <a:path h="1151128" w="1100328">
                  <a:moveTo>
                    <a:pt x="0" y="0"/>
                  </a:moveTo>
                  <a:lnTo>
                    <a:pt x="1049528" y="0"/>
                  </a:lnTo>
                  <a:cubicBezTo>
                    <a:pt x="1077595" y="0"/>
                    <a:pt x="1100328" y="22733"/>
                    <a:pt x="1100328" y="50800"/>
                  </a:cubicBezTo>
                  <a:lnTo>
                    <a:pt x="1100328" y="1100328"/>
                  </a:lnTo>
                  <a:cubicBezTo>
                    <a:pt x="1100328" y="1128395"/>
                    <a:pt x="1077595" y="1151128"/>
                    <a:pt x="1049528" y="1151128"/>
                  </a:cubicBezTo>
                  <a:lnTo>
                    <a:pt x="0" y="1151128"/>
                  </a:lnTo>
                  <a:lnTo>
                    <a:pt x="0" y="1049528"/>
                  </a:lnTo>
                  <a:lnTo>
                    <a:pt x="1049528" y="1049528"/>
                  </a:lnTo>
                  <a:lnTo>
                    <a:pt x="1049528" y="1100328"/>
                  </a:lnTo>
                  <a:lnTo>
                    <a:pt x="998728" y="1100328"/>
                  </a:lnTo>
                  <a:lnTo>
                    <a:pt x="998728" y="50800"/>
                  </a:lnTo>
                  <a:lnTo>
                    <a:pt x="1049528" y="50800"/>
                  </a:lnTo>
                  <a:lnTo>
                    <a:pt x="104952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315183" y="6047899"/>
            <a:ext cx="393573" cy="393573"/>
          </a:xfrm>
          <a:custGeom>
            <a:avLst/>
            <a:gdLst/>
            <a:ahLst/>
            <a:cxnLst/>
            <a:rect r="r" b="b" t="t" l="l"/>
            <a:pathLst>
              <a:path h="393573" w="393573">
                <a:moveTo>
                  <a:pt x="0" y="0"/>
                </a:moveTo>
                <a:lnTo>
                  <a:pt x="393573" y="0"/>
                </a:lnTo>
                <a:lnTo>
                  <a:pt x="393573" y="393573"/>
                </a:lnTo>
                <a:lnTo>
                  <a:pt x="0" y="393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2138410" y="5824871"/>
            <a:ext cx="8212541" cy="419814"/>
            <a:chOff x="0" y="0"/>
            <a:chExt cx="10950054" cy="559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50060" cy="559748"/>
            </a:xfrm>
            <a:custGeom>
              <a:avLst/>
              <a:gdLst/>
              <a:ahLst/>
              <a:cxnLst/>
              <a:rect r="r" b="b" t="t" l="l"/>
              <a:pathLst>
                <a:path h="559748" w="10950060">
                  <a:moveTo>
                    <a:pt x="0" y="0"/>
                  </a:moveTo>
                  <a:lnTo>
                    <a:pt x="10950060" y="0"/>
                  </a:lnTo>
                  <a:lnTo>
                    <a:pt x="10950060" y="559748"/>
                  </a:lnTo>
                  <a:lnTo>
                    <a:pt x="0" y="559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175" r="0" b="-3311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10950054" cy="597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2"/>
                </a:lnSpc>
              </a:pPr>
              <a:r>
                <a:rPr lang="en-US" sz="247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Dijkstra Algorithm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38410" y="6349632"/>
            <a:ext cx="8160068" cy="682190"/>
            <a:chOff x="0" y="0"/>
            <a:chExt cx="10880090" cy="90958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880092" cy="909590"/>
            </a:xfrm>
            <a:custGeom>
              <a:avLst/>
              <a:gdLst/>
              <a:ahLst/>
              <a:cxnLst/>
              <a:rect r="r" b="b" t="t" l="l"/>
              <a:pathLst>
                <a:path h="909590" w="10880092">
                  <a:moveTo>
                    <a:pt x="0" y="0"/>
                  </a:moveTo>
                  <a:lnTo>
                    <a:pt x="10880092" y="0"/>
                  </a:lnTo>
                  <a:lnTo>
                    <a:pt x="10880092" y="909590"/>
                  </a:lnTo>
                  <a:lnTo>
                    <a:pt x="0" y="909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71" r="0" b="-1830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0"/>
              <a:ext cx="10880090" cy="1004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7"/>
                </a:lnSpc>
              </a:pP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Greedy algorithm that finds </a:t>
              </a:r>
              <a:r>
                <a:rPr lang="en-US" sz="1653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shortest paths from source to all vertices</a:t>
              </a: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O((V+E) log V) time complexity using priority queues.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30723" y="7648137"/>
            <a:ext cx="9620964" cy="1723273"/>
            <a:chOff x="0" y="0"/>
            <a:chExt cx="12827952" cy="229769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38100" y="38100"/>
              <a:ext cx="12751689" cy="2221484"/>
            </a:xfrm>
            <a:custGeom>
              <a:avLst/>
              <a:gdLst/>
              <a:ahLst/>
              <a:cxnLst/>
              <a:rect r="r" b="b" t="t" l="l"/>
              <a:pathLst>
                <a:path h="2221484" w="12751689">
                  <a:moveTo>
                    <a:pt x="0" y="0"/>
                  </a:moveTo>
                  <a:lnTo>
                    <a:pt x="12751689" y="0"/>
                  </a:lnTo>
                  <a:lnTo>
                    <a:pt x="12751689" y="2221484"/>
                  </a:lnTo>
                  <a:lnTo>
                    <a:pt x="0" y="2221484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8100" y="0"/>
              <a:ext cx="12789789" cy="2297684"/>
            </a:xfrm>
            <a:custGeom>
              <a:avLst/>
              <a:gdLst/>
              <a:ahLst/>
              <a:cxnLst/>
              <a:rect r="r" b="b" t="t" l="l"/>
              <a:pathLst>
                <a:path h="2297684" w="12789789">
                  <a:moveTo>
                    <a:pt x="0" y="0"/>
                  </a:moveTo>
                  <a:lnTo>
                    <a:pt x="12751689" y="0"/>
                  </a:lnTo>
                  <a:cubicBezTo>
                    <a:pt x="12772771" y="0"/>
                    <a:pt x="12789789" y="17018"/>
                    <a:pt x="12789789" y="38100"/>
                  </a:cubicBezTo>
                  <a:lnTo>
                    <a:pt x="12789789" y="2259584"/>
                  </a:lnTo>
                  <a:cubicBezTo>
                    <a:pt x="12789789" y="2280666"/>
                    <a:pt x="12772771" y="2297684"/>
                    <a:pt x="12751689" y="2297684"/>
                  </a:cubicBezTo>
                  <a:lnTo>
                    <a:pt x="0" y="2297684"/>
                  </a:lnTo>
                  <a:lnTo>
                    <a:pt x="0" y="2221484"/>
                  </a:lnTo>
                  <a:lnTo>
                    <a:pt x="12751689" y="2221484"/>
                  </a:lnTo>
                  <a:lnTo>
                    <a:pt x="12751689" y="2259584"/>
                  </a:lnTo>
                  <a:lnTo>
                    <a:pt x="12713589" y="2259584"/>
                  </a:lnTo>
                  <a:lnTo>
                    <a:pt x="12713589" y="38100"/>
                  </a:lnTo>
                  <a:lnTo>
                    <a:pt x="12751689" y="38100"/>
                  </a:lnTo>
                  <a:lnTo>
                    <a:pt x="12751689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077020" y="7894434"/>
            <a:ext cx="863346" cy="863346"/>
            <a:chOff x="0" y="0"/>
            <a:chExt cx="1151128" cy="1151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50800" y="5080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0"/>
                  </a:moveTo>
                  <a:lnTo>
                    <a:pt x="1049528" y="0"/>
                  </a:lnTo>
                  <a:lnTo>
                    <a:pt x="1049528" y="1049528"/>
                  </a:lnTo>
                  <a:lnTo>
                    <a:pt x="0" y="1049528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50800" y="0"/>
              <a:ext cx="1100328" cy="1151128"/>
            </a:xfrm>
            <a:custGeom>
              <a:avLst/>
              <a:gdLst/>
              <a:ahLst/>
              <a:cxnLst/>
              <a:rect r="r" b="b" t="t" l="l"/>
              <a:pathLst>
                <a:path h="1151128" w="1100328">
                  <a:moveTo>
                    <a:pt x="0" y="0"/>
                  </a:moveTo>
                  <a:lnTo>
                    <a:pt x="1049528" y="0"/>
                  </a:lnTo>
                  <a:cubicBezTo>
                    <a:pt x="1077595" y="0"/>
                    <a:pt x="1100328" y="22733"/>
                    <a:pt x="1100328" y="50800"/>
                  </a:cubicBezTo>
                  <a:lnTo>
                    <a:pt x="1100328" y="1100328"/>
                  </a:lnTo>
                  <a:cubicBezTo>
                    <a:pt x="1100328" y="1128395"/>
                    <a:pt x="1077595" y="1151128"/>
                    <a:pt x="1049528" y="1151128"/>
                  </a:cubicBezTo>
                  <a:lnTo>
                    <a:pt x="0" y="1151128"/>
                  </a:lnTo>
                  <a:lnTo>
                    <a:pt x="0" y="1049528"/>
                  </a:lnTo>
                  <a:lnTo>
                    <a:pt x="1049528" y="1049528"/>
                  </a:lnTo>
                  <a:lnTo>
                    <a:pt x="1049528" y="1100328"/>
                  </a:lnTo>
                  <a:lnTo>
                    <a:pt x="998728" y="1100328"/>
                  </a:lnTo>
                  <a:lnTo>
                    <a:pt x="998728" y="50800"/>
                  </a:lnTo>
                  <a:lnTo>
                    <a:pt x="1049528" y="50800"/>
                  </a:lnTo>
                  <a:lnTo>
                    <a:pt x="104952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2" id="62"/>
          <p:cNvSpPr/>
          <p:nvPr/>
        </p:nvSpPr>
        <p:spPr>
          <a:xfrm flipH="false" flipV="false" rot="0">
            <a:off x="1315183" y="8129321"/>
            <a:ext cx="393573" cy="393573"/>
          </a:xfrm>
          <a:custGeom>
            <a:avLst/>
            <a:gdLst/>
            <a:ahLst/>
            <a:cxnLst/>
            <a:rect r="r" b="b" t="t" l="l"/>
            <a:pathLst>
              <a:path h="393573" w="393573">
                <a:moveTo>
                  <a:pt x="0" y="0"/>
                </a:moveTo>
                <a:lnTo>
                  <a:pt x="393573" y="0"/>
                </a:lnTo>
                <a:lnTo>
                  <a:pt x="393573" y="393573"/>
                </a:lnTo>
                <a:lnTo>
                  <a:pt x="0" y="3935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2138410" y="7906293"/>
            <a:ext cx="8212541" cy="419814"/>
            <a:chOff x="0" y="0"/>
            <a:chExt cx="10950054" cy="55975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950060" cy="559748"/>
            </a:xfrm>
            <a:custGeom>
              <a:avLst/>
              <a:gdLst/>
              <a:ahLst/>
              <a:cxnLst/>
              <a:rect r="r" b="b" t="t" l="l"/>
              <a:pathLst>
                <a:path h="559748" w="10950060">
                  <a:moveTo>
                    <a:pt x="0" y="0"/>
                  </a:moveTo>
                  <a:lnTo>
                    <a:pt x="10950060" y="0"/>
                  </a:lnTo>
                  <a:lnTo>
                    <a:pt x="10950060" y="559748"/>
                  </a:lnTo>
                  <a:lnTo>
                    <a:pt x="0" y="559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175" r="0" b="-331175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10950054" cy="597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2"/>
                </a:lnSpc>
              </a:pPr>
              <a:r>
                <a:rPr lang="en-US" sz="247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Shortest Path Finding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138410" y="8431063"/>
            <a:ext cx="8160068" cy="682190"/>
            <a:chOff x="0" y="0"/>
            <a:chExt cx="10880090" cy="90958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880092" cy="909590"/>
            </a:xfrm>
            <a:custGeom>
              <a:avLst/>
              <a:gdLst/>
              <a:ahLst/>
              <a:cxnLst/>
              <a:rect r="r" b="b" t="t" l="l"/>
              <a:pathLst>
                <a:path h="909590" w="10880092">
                  <a:moveTo>
                    <a:pt x="0" y="0"/>
                  </a:moveTo>
                  <a:lnTo>
                    <a:pt x="10880092" y="0"/>
                  </a:lnTo>
                  <a:lnTo>
                    <a:pt x="10880092" y="909590"/>
                  </a:lnTo>
                  <a:lnTo>
                    <a:pt x="0" y="909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071" r="0" b="-18307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0"/>
              <a:ext cx="10880090" cy="1004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7"/>
                </a:lnSpc>
              </a:pP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Core optimization technique that </a:t>
              </a:r>
              <a:r>
                <a:rPr lang="en-US" sz="1653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minimizes travel distance and time</a:t>
              </a: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by calculating optimal routes through graph traversal.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1011443" y="2139667"/>
            <a:ext cx="6766931" cy="7632792"/>
            <a:chOff x="0" y="0"/>
            <a:chExt cx="9022575" cy="1017705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50800" y="50800"/>
              <a:ext cx="8920988" cy="10075418"/>
            </a:xfrm>
            <a:custGeom>
              <a:avLst/>
              <a:gdLst/>
              <a:ahLst/>
              <a:cxnLst/>
              <a:rect r="r" b="b" t="t" l="l"/>
              <a:pathLst>
                <a:path h="10075418" w="8920988">
                  <a:moveTo>
                    <a:pt x="0" y="0"/>
                  </a:moveTo>
                  <a:lnTo>
                    <a:pt x="8920988" y="0"/>
                  </a:lnTo>
                  <a:lnTo>
                    <a:pt x="8920988" y="10075418"/>
                  </a:lnTo>
                  <a:lnTo>
                    <a:pt x="0" y="10075418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50800" y="0"/>
              <a:ext cx="8971788" cy="10177018"/>
            </a:xfrm>
            <a:custGeom>
              <a:avLst/>
              <a:gdLst/>
              <a:ahLst/>
              <a:cxnLst/>
              <a:rect r="r" b="b" t="t" l="l"/>
              <a:pathLst>
                <a:path h="10177018" w="8971788">
                  <a:moveTo>
                    <a:pt x="0" y="0"/>
                  </a:moveTo>
                  <a:lnTo>
                    <a:pt x="8920988" y="0"/>
                  </a:lnTo>
                  <a:cubicBezTo>
                    <a:pt x="8949055" y="0"/>
                    <a:pt x="8971788" y="22733"/>
                    <a:pt x="8971788" y="50800"/>
                  </a:cubicBezTo>
                  <a:lnTo>
                    <a:pt x="8971788" y="10126218"/>
                  </a:lnTo>
                  <a:cubicBezTo>
                    <a:pt x="8971788" y="10154286"/>
                    <a:pt x="8949055" y="10177018"/>
                    <a:pt x="8920988" y="10177018"/>
                  </a:cubicBezTo>
                  <a:lnTo>
                    <a:pt x="0" y="10177018"/>
                  </a:lnTo>
                  <a:lnTo>
                    <a:pt x="0" y="10075418"/>
                  </a:lnTo>
                  <a:lnTo>
                    <a:pt x="8920988" y="10075418"/>
                  </a:lnTo>
                  <a:lnTo>
                    <a:pt x="8920988" y="10126218"/>
                  </a:lnTo>
                  <a:lnTo>
                    <a:pt x="8870188" y="10126218"/>
                  </a:lnTo>
                  <a:lnTo>
                    <a:pt x="8870188" y="50800"/>
                  </a:lnTo>
                  <a:lnTo>
                    <a:pt x="8920988" y="50800"/>
                  </a:lnTo>
                  <a:lnTo>
                    <a:pt x="892098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1326301" y="2454526"/>
            <a:ext cx="758390" cy="758390"/>
            <a:chOff x="0" y="0"/>
            <a:chExt cx="1011187" cy="1011187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50800" y="50800"/>
              <a:ext cx="909574" cy="909574"/>
            </a:xfrm>
            <a:custGeom>
              <a:avLst/>
              <a:gdLst/>
              <a:ahLst/>
              <a:cxnLst/>
              <a:rect r="r" b="b" t="t" l="l"/>
              <a:pathLst>
                <a:path h="909574" w="909574">
                  <a:moveTo>
                    <a:pt x="0" y="0"/>
                  </a:moveTo>
                  <a:lnTo>
                    <a:pt x="909574" y="0"/>
                  </a:lnTo>
                  <a:lnTo>
                    <a:pt x="909574" y="909574"/>
                  </a:lnTo>
                  <a:lnTo>
                    <a:pt x="0" y="909574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50800" y="0"/>
              <a:ext cx="960374" cy="1011174"/>
            </a:xfrm>
            <a:custGeom>
              <a:avLst/>
              <a:gdLst/>
              <a:ahLst/>
              <a:cxnLst/>
              <a:rect r="r" b="b" t="t" l="l"/>
              <a:pathLst>
                <a:path h="1011174" w="960374">
                  <a:moveTo>
                    <a:pt x="0" y="0"/>
                  </a:moveTo>
                  <a:lnTo>
                    <a:pt x="909574" y="0"/>
                  </a:lnTo>
                  <a:cubicBezTo>
                    <a:pt x="937641" y="0"/>
                    <a:pt x="960374" y="22733"/>
                    <a:pt x="960374" y="50800"/>
                  </a:cubicBezTo>
                  <a:lnTo>
                    <a:pt x="960374" y="960374"/>
                  </a:lnTo>
                  <a:cubicBezTo>
                    <a:pt x="960374" y="988441"/>
                    <a:pt x="937641" y="1011174"/>
                    <a:pt x="909574" y="1011174"/>
                  </a:cubicBezTo>
                  <a:lnTo>
                    <a:pt x="0" y="1011174"/>
                  </a:lnTo>
                  <a:lnTo>
                    <a:pt x="0" y="909574"/>
                  </a:lnTo>
                  <a:lnTo>
                    <a:pt x="909574" y="909574"/>
                  </a:lnTo>
                  <a:lnTo>
                    <a:pt x="909574" y="960374"/>
                  </a:lnTo>
                  <a:lnTo>
                    <a:pt x="858774" y="960374"/>
                  </a:lnTo>
                  <a:lnTo>
                    <a:pt x="858774" y="50800"/>
                  </a:lnTo>
                  <a:lnTo>
                    <a:pt x="909574" y="50800"/>
                  </a:lnTo>
                  <a:lnTo>
                    <a:pt x="909574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75" id="75"/>
          <p:cNvSpPr/>
          <p:nvPr/>
        </p:nvSpPr>
        <p:spPr>
          <a:xfrm flipH="false" flipV="false" rot="0">
            <a:off x="11548072" y="2676296"/>
            <a:ext cx="314858" cy="314858"/>
          </a:xfrm>
          <a:custGeom>
            <a:avLst/>
            <a:gdLst/>
            <a:ahLst/>
            <a:cxnLst/>
            <a:rect r="r" b="b" t="t" l="l"/>
            <a:pathLst>
              <a:path h="314858" w="314858">
                <a:moveTo>
                  <a:pt x="0" y="0"/>
                </a:moveTo>
                <a:lnTo>
                  <a:pt x="314858" y="0"/>
                </a:lnTo>
                <a:lnTo>
                  <a:pt x="314858" y="314859"/>
                </a:lnTo>
                <a:lnTo>
                  <a:pt x="0" y="3148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12230262" y="2597582"/>
            <a:ext cx="1679238" cy="472288"/>
            <a:chOff x="0" y="0"/>
            <a:chExt cx="2238985" cy="62971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238990" cy="629716"/>
            </a:xfrm>
            <a:custGeom>
              <a:avLst/>
              <a:gdLst/>
              <a:ahLst/>
              <a:cxnLst/>
              <a:rect r="r" b="b" t="t" l="l"/>
              <a:pathLst>
                <a:path h="629716" w="2238990">
                  <a:moveTo>
                    <a:pt x="0" y="0"/>
                  </a:moveTo>
                  <a:lnTo>
                    <a:pt x="2238990" y="0"/>
                  </a:lnTo>
                  <a:lnTo>
                    <a:pt x="2238990" y="629716"/>
                  </a:lnTo>
                  <a:lnTo>
                    <a:pt x="0" y="62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279" r="0" b="-1928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2238985" cy="6487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18"/>
                </a:lnSpc>
              </a:pPr>
              <a:r>
                <a:rPr lang="en-US" sz="3099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Benefits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329273" y="3428305"/>
            <a:ext cx="6131281" cy="2064372"/>
            <a:chOff x="0" y="0"/>
            <a:chExt cx="8175041" cy="27524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38100" y="38100"/>
              <a:ext cx="8098790" cy="2676271"/>
            </a:xfrm>
            <a:custGeom>
              <a:avLst/>
              <a:gdLst/>
              <a:ahLst/>
              <a:cxnLst/>
              <a:rect r="r" b="b" t="t" l="l"/>
              <a:pathLst>
                <a:path h="2676271" w="8098790">
                  <a:moveTo>
                    <a:pt x="0" y="0"/>
                  </a:moveTo>
                  <a:lnTo>
                    <a:pt x="8098790" y="0"/>
                  </a:lnTo>
                  <a:lnTo>
                    <a:pt x="8098790" y="2676271"/>
                  </a:lnTo>
                  <a:lnTo>
                    <a:pt x="0" y="2676271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38100" y="0"/>
              <a:ext cx="8136890" cy="2752471"/>
            </a:xfrm>
            <a:custGeom>
              <a:avLst/>
              <a:gdLst/>
              <a:ahLst/>
              <a:cxnLst/>
              <a:rect r="r" b="b" t="t" l="l"/>
              <a:pathLst>
                <a:path h="2752471" w="8136890">
                  <a:moveTo>
                    <a:pt x="0" y="0"/>
                  </a:moveTo>
                  <a:lnTo>
                    <a:pt x="8098790" y="0"/>
                  </a:lnTo>
                  <a:cubicBezTo>
                    <a:pt x="8119872" y="0"/>
                    <a:pt x="8136890" y="17018"/>
                    <a:pt x="8136890" y="38100"/>
                  </a:cubicBezTo>
                  <a:lnTo>
                    <a:pt x="8136890" y="2714371"/>
                  </a:lnTo>
                  <a:cubicBezTo>
                    <a:pt x="8136890" y="2735453"/>
                    <a:pt x="8119872" y="2752471"/>
                    <a:pt x="8098790" y="2752471"/>
                  </a:cubicBezTo>
                  <a:lnTo>
                    <a:pt x="0" y="2752471"/>
                  </a:lnTo>
                  <a:lnTo>
                    <a:pt x="0" y="2676271"/>
                  </a:lnTo>
                  <a:lnTo>
                    <a:pt x="8098790" y="2676271"/>
                  </a:lnTo>
                  <a:lnTo>
                    <a:pt x="8098790" y="2714371"/>
                  </a:lnTo>
                  <a:lnTo>
                    <a:pt x="8060690" y="2714371"/>
                  </a:lnTo>
                  <a:lnTo>
                    <a:pt x="8060690" y="38100"/>
                  </a:lnTo>
                  <a:lnTo>
                    <a:pt x="8098790" y="38100"/>
                  </a:lnTo>
                  <a:lnTo>
                    <a:pt x="809879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1664505" y="3699577"/>
            <a:ext cx="344376" cy="393573"/>
            <a:chOff x="0" y="0"/>
            <a:chExt cx="459168" cy="52476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-31" y="-16367"/>
              <a:ext cx="459192" cy="557498"/>
            </a:xfrm>
            <a:custGeom>
              <a:avLst/>
              <a:gdLst/>
              <a:ahLst/>
              <a:cxnLst/>
              <a:rect r="r" b="b" t="t" l="l"/>
              <a:pathLst>
                <a:path h="557498" w="459192">
                  <a:moveTo>
                    <a:pt x="347249" y="6207"/>
                  </a:moveTo>
                  <a:cubicBezTo>
                    <a:pt x="359441" y="14970"/>
                    <a:pt x="364013" y="30972"/>
                    <a:pt x="358425" y="44942"/>
                  </a:cubicBezTo>
                  <a:lnTo>
                    <a:pt x="278034" y="245983"/>
                  </a:lnTo>
                  <a:lnTo>
                    <a:pt x="426370" y="245983"/>
                  </a:lnTo>
                  <a:cubicBezTo>
                    <a:pt x="440213" y="245983"/>
                    <a:pt x="452532" y="254619"/>
                    <a:pt x="457231" y="267573"/>
                  </a:cubicBezTo>
                  <a:cubicBezTo>
                    <a:pt x="461930" y="280527"/>
                    <a:pt x="457993" y="295132"/>
                    <a:pt x="447452" y="303895"/>
                  </a:cubicBezTo>
                  <a:lnTo>
                    <a:pt x="152177" y="549894"/>
                  </a:lnTo>
                  <a:cubicBezTo>
                    <a:pt x="140620" y="559546"/>
                    <a:pt x="124110" y="560054"/>
                    <a:pt x="111918" y="551164"/>
                  </a:cubicBezTo>
                  <a:cubicBezTo>
                    <a:pt x="99726" y="542274"/>
                    <a:pt x="95154" y="526399"/>
                    <a:pt x="100742" y="512429"/>
                  </a:cubicBezTo>
                  <a:lnTo>
                    <a:pt x="181133" y="311388"/>
                  </a:lnTo>
                  <a:lnTo>
                    <a:pt x="32797" y="311388"/>
                  </a:lnTo>
                  <a:cubicBezTo>
                    <a:pt x="18954" y="311388"/>
                    <a:pt x="6635" y="302752"/>
                    <a:pt x="1936" y="289798"/>
                  </a:cubicBezTo>
                  <a:cubicBezTo>
                    <a:pt x="-2763" y="276844"/>
                    <a:pt x="1301" y="262366"/>
                    <a:pt x="11842" y="253476"/>
                  </a:cubicBezTo>
                  <a:lnTo>
                    <a:pt x="306990" y="7604"/>
                  </a:lnTo>
                  <a:cubicBezTo>
                    <a:pt x="318547" y="-2048"/>
                    <a:pt x="335057" y="-2556"/>
                    <a:pt x="347249" y="6334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2236825" y="3686461"/>
            <a:ext cx="2966554" cy="555149"/>
            <a:chOff x="0" y="0"/>
            <a:chExt cx="2991155" cy="559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991150" cy="559748"/>
            </a:xfrm>
            <a:custGeom>
              <a:avLst/>
              <a:gdLst/>
              <a:ahLst/>
              <a:cxnLst/>
              <a:rect r="r" b="b" t="t" l="l"/>
              <a:pathLst>
                <a:path h="559748" w="2991150">
                  <a:moveTo>
                    <a:pt x="0" y="0"/>
                  </a:moveTo>
                  <a:lnTo>
                    <a:pt x="2991150" y="0"/>
                  </a:lnTo>
                  <a:lnTo>
                    <a:pt x="2991150" y="559748"/>
                  </a:lnTo>
                  <a:lnTo>
                    <a:pt x="0" y="559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122" r="0" b="-5412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38100"/>
              <a:ext cx="2991155" cy="597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2"/>
                </a:lnSpc>
              </a:pPr>
              <a:r>
                <a:rPr lang="en-US" sz="2479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Faster Delivery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1587429" y="4211222"/>
            <a:ext cx="5719924" cy="1023290"/>
            <a:chOff x="0" y="0"/>
            <a:chExt cx="7626566" cy="136438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626560" cy="1364384"/>
            </a:xfrm>
            <a:custGeom>
              <a:avLst/>
              <a:gdLst/>
              <a:ahLst/>
              <a:cxnLst/>
              <a:rect r="r" b="b" t="t" l="l"/>
              <a:pathLst>
                <a:path h="1364384" w="7626560">
                  <a:moveTo>
                    <a:pt x="0" y="0"/>
                  </a:moveTo>
                  <a:lnTo>
                    <a:pt x="7626560" y="0"/>
                  </a:lnTo>
                  <a:lnTo>
                    <a:pt x="7626560" y="1364384"/>
                  </a:lnTo>
                  <a:lnTo>
                    <a:pt x="0" y="1364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16" r="0" b="-5891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0"/>
              <a:ext cx="7626566" cy="1459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7"/>
                </a:lnSpc>
              </a:pPr>
              <a:r>
                <a:rPr lang="en-US" sz="1653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Optimized routes reduce delivery time by </a:t>
              </a:r>
              <a:r>
                <a:rPr lang="en-US" sz="1653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25-40%</a:t>
              </a:r>
              <a:r>
                <a:rPr lang="en-US" sz="1653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, enabling more deliveries per day and improved customer satisfaction.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1329273" y="5737260"/>
            <a:ext cx="6131281" cy="1723273"/>
            <a:chOff x="0" y="0"/>
            <a:chExt cx="8175041" cy="2297697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38100" y="38100"/>
              <a:ext cx="8098790" cy="2221484"/>
            </a:xfrm>
            <a:custGeom>
              <a:avLst/>
              <a:gdLst/>
              <a:ahLst/>
              <a:cxnLst/>
              <a:rect r="r" b="b" t="t" l="l"/>
              <a:pathLst>
                <a:path h="2221484" w="8098790">
                  <a:moveTo>
                    <a:pt x="0" y="0"/>
                  </a:moveTo>
                  <a:lnTo>
                    <a:pt x="8098790" y="0"/>
                  </a:lnTo>
                  <a:lnTo>
                    <a:pt x="8098790" y="2221484"/>
                  </a:lnTo>
                  <a:lnTo>
                    <a:pt x="0" y="2221484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38100" y="0"/>
              <a:ext cx="8136890" cy="2297684"/>
            </a:xfrm>
            <a:custGeom>
              <a:avLst/>
              <a:gdLst/>
              <a:ahLst/>
              <a:cxnLst/>
              <a:rect r="r" b="b" t="t" l="l"/>
              <a:pathLst>
                <a:path h="2297684" w="8136890">
                  <a:moveTo>
                    <a:pt x="0" y="0"/>
                  </a:moveTo>
                  <a:lnTo>
                    <a:pt x="8098790" y="0"/>
                  </a:lnTo>
                  <a:cubicBezTo>
                    <a:pt x="8119872" y="0"/>
                    <a:pt x="8136890" y="17018"/>
                    <a:pt x="8136890" y="38100"/>
                  </a:cubicBezTo>
                  <a:lnTo>
                    <a:pt x="8136890" y="2259584"/>
                  </a:lnTo>
                  <a:cubicBezTo>
                    <a:pt x="8136890" y="2280666"/>
                    <a:pt x="8119872" y="2297684"/>
                    <a:pt x="8098790" y="2297684"/>
                  </a:cubicBezTo>
                  <a:lnTo>
                    <a:pt x="0" y="2297684"/>
                  </a:lnTo>
                  <a:lnTo>
                    <a:pt x="0" y="2221484"/>
                  </a:lnTo>
                  <a:lnTo>
                    <a:pt x="8098790" y="2221484"/>
                  </a:lnTo>
                  <a:lnTo>
                    <a:pt x="8098790" y="2259584"/>
                  </a:lnTo>
                  <a:lnTo>
                    <a:pt x="8060690" y="2259584"/>
                  </a:lnTo>
                  <a:lnTo>
                    <a:pt x="8060690" y="38100"/>
                  </a:lnTo>
                  <a:lnTo>
                    <a:pt x="8098790" y="38100"/>
                  </a:lnTo>
                  <a:lnTo>
                    <a:pt x="809879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93" id="93"/>
          <p:cNvSpPr/>
          <p:nvPr/>
        </p:nvSpPr>
        <p:spPr>
          <a:xfrm flipH="false" flipV="false" rot="0">
            <a:off x="11639902" y="6008541"/>
            <a:ext cx="393573" cy="393573"/>
          </a:xfrm>
          <a:custGeom>
            <a:avLst/>
            <a:gdLst/>
            <a:ahLst/>
            <a:cxnLst/>
            <a:rect r="r" b="b" t="t" l="l"/>
            <a:pathLst>
              <a:path h="393573" w="393573">
                <a:moveTo>
                  <a:pt x="0" y="0"/>
                </a:moveTo>
                <a:lnTo>
                  <a:pt x="393573" y="0"/>
                </a:lnTo>
                <a:lnTo>
                  <a:pt x="393573" y="393573"/>
                </a:lnTo>
                <a:lnTo>
                  <a:pt x="0" y="39357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12236825" y="5995416"/>
            <a:ext cx="3246992" cy="524770"/>
            <a:chOff x="0" y="0"/>
            <a:chExt cx="3463442" cy="5597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463438" cy="559748"/>
            </a:xfrm>
            <a:custGeom>
              <a:avLst/>
              <a:gdLst/>
              <a:ahLst/>
              <a:cxnLst/>
              <a:rect r="r" b="b" t="t" l="l"/>
              <a:pathLst>
                <a:path h="559748" w="3463438">
                  <a:moveTo>
                    <a:pt x="0" y="0"/>
                  </a:moveTo>
                  <a:lnTo>
                    <a:pt x="3463438" y="0"/>
                  </a:lnTo>
                  <a:lnTo>
                    <a:pt x="3463438" y="559748"/>
                  </a:lnTo>
                  <a:lnTo>
                    <a:pt x="0" y="559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563" r="0" b="-7056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3463442" cy="597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2"/>
                </a:lnSpc>
              </a:pPr>
              <a:r>
                <a:rPr lang="en-US" sz="247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Fuel Optimization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587429" y="6520186"/>
            <a:ext cx="5719924" cy="682190"/>
            <a:chOff x="0" y="0"/>
            <a:chExt cx="7626566" cy="909587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7626560" cy="909590"/>
            </a:xfrm>
            <a:custGeom>
              <a:avLst/>
              <a:gdLst/>
              <a:ahLst/>
              <a:cxnLst/>
              <a:rect r="r" b="b" t="t" l="l"/>
              <a:pathLst>
                <a:path h="909590" w="7626560">
                  <a:moveTo>
                    <a:pt x="0" y="0"/>
                  </a:moveTo>
                  <a:lnTo>
                    <a:pt x="7626560" y="0"/>
                  </a:lnTo>
                  <a:lnTo>
                    <a:pt x="7626560" y="909590"/>
                  </a:lnTo>
                  <a:lnTo>
                    <a:pt x="0" y="909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0"/>
              <a:ext cx="7626566" cy="1004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7"/>
                </a:lnSpc>
              </a:pP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Shorter routes lead to </a:t>
              </a:r>
              <a:r>
                <a:rPr lang="en-US" sz="1653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20-30% fuel savings</a:t>
              </a: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, significantly reducing operational costs and environmental impact.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1329273" y="7705125"/>
            <a:ext cx="6131281" cy="1723273"/>
            <a:chOff x="0" y="0"/>
            <a:chExt cx="8175041" cy="229769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38100" y="38100"/>
              <a:ext cx="8098790" cy="2221484"/>
            </a:xfrm>
            <a:custGeom>
              <a:avLst/>
              <a:gdLst/>
              <a:ahLst/>
              <a:cxnLst/>
              <a:rect r="r" b="b" t="t" l="l"/>
              <a:pathLst>
                <a:path h="2221484" w="8098790">
                  <a:moveTo>
                    <a:pt x="0" y="0"/>
                  </a:moveTo>
                  <a:lnTo>
                    <a:pt x="8098790" y="0"/>
                  </a:lnTo>
                  <a:lnTo>
                    <a:pt x="8098790" y="2221484"/>
                  </a:lnTo>
                  <a:lnTo>
                    <a:pt x="0" y="2221484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38100" y="0"/>
              <a:ext cx="8136890" cy="2297684"/>
            </a:xfrm>
            <a:custGeom>
              <a:avLst/>
              <a:gdLst/>
              <a:ahLst/>
              <a:cxnLst/>
              <a:rect r="r" b="b" t="t" l="l"/>
              <a:pathLst>
                <a:path h="2297684" w="8136890">
                  <a:moveTo>
                    <a:pt x="0" y="0"/>
                  </a:moveTo>
                  <a:lnTo>
                    <a:pt x="8098790" y="0"/>
                  </a:lnTo>
                  <a:cubicBezTo>
                    <a:pt x="8119872" y="0"/>
                    <a:pt x="8136890" y="17018"/>
                    <a:pt x="8136890" y="38100"/>
                  </a:cubicBezTo>
                  <a:lnTo>
                    <a:pt x="8136890" y="2259584"/>
                  </a:lnTo>
                  <a:cubicBezTo>
                    <a:pt x="8136890" y="2280666"/>
                    <a:pt x="8119872" y="2297684"/>
                    <a:pt x="8098790" y="2297684"/>
                  </a:cubicBezTo>
                  <a:lnTo>
                    <a:pt x="0" y="2297684"/>
                  </a:lnTo>
                  <a:lnTo>
                    <a:pt x="0" y="2221484"/>
                  </a:lnTo>
                  <a:lnTo>
                    <a:pt x="8098790" y="2221484"/>
                  </a:lnTo>
                  <a:lnTo>
                    <a:pt x="8098790" y="2259584"/>
                  </a:lnTo>
                  <a:lnTo>
                    <a:pt x="8060690" y="2259584"/>
                  </a:lnTo>
                  <a:lnTo>
                    <a:pt x="8060690" y="38100"/>
                  </a:lnTo>
                  <a:lnTo>
                    <a:pt x="8098790" y="38100"/>
                  </a:lnTo>
                  <a:lnTo>
                    <a:pt x="809879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103" id="103"/>
          <p:cNvSpPr/>
          <p:nvPr/>
        </p:nvSpPr>
        <p:spPr>
          <a:xfrm flipH="false" flipV="false" rot="0">
            <a:off x="11639902" y="7976397"/>
            <a:ext cx="393573" cy="393573"/>
          </a:xfrm>
          <a:custGeom>
            <a:avLst/>
            <a:gdLst/>
            <a:ahLst/>
            <a:cxnLst/>
            <a:rect r="r" b="b" t="t" l="l"/>
            <a:pathLst>
              <a:path h="393573" w="393573">
                <a:moveTo>
                  <a:pt x="0" y="0"/>
                </a:moveTo>
                <a:lnTo>
                  <a:pt x="393573" y="0"/>
                </a:lnTo>
                <a:lnTo>
                  <a:pt x="393573" y="393573"/>
                </a:lnTo>
                <a:lnTo>
                  <a:pt x="0" y="39357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4" id="104"/>
          <p:cNvGrpSpPr/>
          <p:nvPr/>
        </p:nvGrpSpPr>
        <p:grpSpPr>
          <a:xfrm rot="0">
            <a:off x="12236825" y="7963281"/>
            <a:ext cx="3322672" cy="559613"/>
            <a:chOff x="0" y="0"/>
            <a:chExt cx="3323501" cy="55975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323500" cy="559748"/>
            </a:xfrm>
            <a:custGeom>
              <a:avLst/>
              <a:gdLst/>
              <a:ahLst/>
              <a:cxnLst/>
              <a:rect r="r" b="b" t="t" l="l"/>
              <a:pathLst>
                <a:path h="559748" w="3323500">
                  <a:moveTo>
                    <a:pt x="0" y="0"/>
                  </a:moveTo>
                  <a:lnTo>
                    <a:pt x="3323500" y="0"/>
                  </a:lnTo>
                  <a:lnTo>
                    <a:pt x="3323500" y="559748"/>
                  </a:lnTo>
                  <a:lnTo>
                    <a:pt x="0" y="5597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691" r="0" b="-65692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323501" cy="597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72"/>
                </a:lnSpc>
              </a:pPr>
              <a:r>
                <a:rPr lang="en-US" sz="247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Efficient Routing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587429" y="8488042"/>
            <a:ext cx="5719924" cy="682190"/>
            <a:chOff x="0" y="0"/>
            <a:chExt cx="7626566" cy="909587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626560" cy="909590"/>
            </a:xfrm>
            <a:custGeom>
              <a:avLst/>
              <a:gdLst/>
              <a:ahLst/>
              <a:cxnLst/>
              <a:rect r="r" b="b" t="t" l="l"/>
              <a:pathLst>
                <a:path h="909590" w="7626560">
                  <a:moveTo>
                    <a:pt x="0" y="0"/>
                  </a:moveTo>
                  <a:lnTo>
                    <a:pt x="7626560" y="0"/>
                  </a:lnTo>
                  <a:lnTo>
                    <a:pt x="7626560" y="909590"/>
                  </a:lnTo>
                  <a:lnTo>
                    <a:pt x="0" y="9095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374" r="0" b="-11337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0"/>
              <a:ext cx="7626566" cy="1004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77"/>
                </a:lnSpc>
              </a:pP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Algorithmic approach ensures </a:t>
              </a:r>
              <a:r>
                <a:rPr lang="en-US" sz="1653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consistent, reliable, and scalable</a:t>
              </a:r>
              <a:r>
                <a:rPr lang="en-US" sz="1653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route planning across entire delivery networks.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00000">
            <a:off x="15771771" y="273987"/>
            <a:ext cx="993924" cy="993924"/>
            <a:chOff x="0" y="0"/>
            <a:chExt cx="1325232" cy="1325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249045" cy="1249045"/>
            </a:xfrm>
            <a:custGeom>
              <a:avLst/>
              <a:gdLst/>
              <a:ahLst/>
              <a:cxnLst/>
              <a:rect r="r" b="b" t="t" l="l"/>
              <a:pathLst>
                <a:path h="1249045" w="1249045">
                  <a:moveTo>
                    <a:pt x="0" y="0"/>
                  </a:moveTo>
                  <a:lnTo>
                    <a:pt x="1249045" y="0"/>
                  </a:lnTo>
                  <a:lnTo>
                    <a:pt x="1249045" y="1249045"/>
                  </a:lnTo>
                  <a:lnTo>
                    <a:pt x="0" y="1249045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8100" y="0"/>
              <a:ext cx="1287145" cy="1325245"/>
            </a:xfrm>
            <a:custGeom>
              <a:avLst/>
              <a:gdLst/>
              <a:ahLst/>
              <a:cxnLst/>
              <a:rect r="r" b="b" t="t" l="l"/>
              <a:pathLst>
                <a:path h="1325245" w="1287145">
                  <a:moveTo>
                    <a:pt x="0" y="0"/>
                  </a:moveTo>
                  <a:lnTo>
                    <a:pt x="1249045" y="0"/>
                  </a:lnTo>
                  <a:cubicBezTo>
                    <a:pt x="1270127" y="0"/>
                    <a:pt x="1287145" y="17018"/>
                    <a:pt x="1287145" y="38100"/>
                  </a:cubicBezTo>
                  <a:lnTo>
                    <a:pt x="1287145" y="1287145"/>
                  </a:lnTo>
                  <a:cubicBezTo>
                    <a:pt x="1287145" y="1308227"/>
                    <a:pt x="1270127" y="1325245"/>
                    <a:pt x="1249045" y="1325245"/>
                  </a:cubicBezTo>
                  <a:lnTo>
                    <a:pt x="0" y="1325245"/>
                  </a:lnTo>
                  <a:lnTo>
                    <a:pt x="0" y="1249045"/>
                  </a:lnTo>
                  <a:lnTo>
                    <a:pt x="1249045" y="1249045"/>
                  </a:lnTo>
                  <a:lnTo>
                    <a:pt x="1249045" y="1287145"/>
                  </a:lnTo>
                  <a:lnTo>
                    <a:pt x="1210945" y="1287145"/>
                  </a:lnTo>
                  <a:lnTo>
                    <a:pt x="1210945" y="38100"/>
                  </a:lnTo>
                  <a:lnTo>
                    <a:pt x="1249045" y="38100"/>
                  </a:lnTo>
                  <a:lnTo>
                    <a:pt x="124904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51659" y="8325460"/>
            <a:ext cx="1133742" cy="1133742"/>
            <a:chOff x="0" y="0"/>
            <a:chExt cx="1511656" cy="15116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435354" cy="1435354"/>
            </a:xfrm>
            <a:custGeom>
              <a:avLst/>
              <a:gdLst/>
              <a:ahLst/>
              <a:cxnLst/>
              <a:rect r="r" b="b" t="t" l="l"/>
              <a:pathLst>
                <a:path h="1435354" w="1435354">
                  <a:moveTo>
                    <a:pt x="0" y="717677"/>
                  </a:moveTo>
                  <a:cubicBezTo>
                    <a:pt x="0" y="321310"/>
                    <a:pt x="321310" y="0"/>
                    <a:pt x="717677" y="0"/>
                  </a:cubicBezTo>
                  <a:cubicBezTo>
                    <a:pt x="1114044" y="0"/>
                    <a:pt x="1435354" y="321310"/>
                    <a:pt x="1435354" y="717677"/>
                  </a:cubicBezTo>
                  <a:cubicBezTo>
                    <a:pt x="1435354" y="1114044"/>
                    <a:pt x="1114044" y="1435354"/>
                    <a:pt x="717677" y="1435354"/>
                  </a:cubicBezTo>
                  <a:cubicBezTo>
                    <a:pt x="321310" y="1435354"/>
                    <a:pt x="0" y="1114171"/>
                    <a:pt x="0" y="717677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11554" cy="1511554"/>
            </a:xfrm>
            <a:custGeom>
              <a:avLst/>
              <a:gdLst/>
              <a:ahLst/>
              <a:cxnLst/>
              <a:rect r="r" b="b" t="t" l="l"/>
              <a:pathLst>
                <a:path h="1511554" w="1511554">
                  <a:moveTo>
                    <a:pt x="0" y="755777"/>
                  </a:moveTo>
                  <a:cubicBezTo>
                    <a:pt x="0" y="338455"/>
                    <a:pt x="338455" y="0"/>
                    <a:pt x="755777" y="0"/>
                  </a:cubicBezTo>
                  <a:cubicBezTo>
                    <a:pt x="767334" y="0"/>
                    <a:pt x="778256" y="5207"/>
                    <a:pt x="785495" y="14351"/>
                  </a:cubicBezTo>
                  <a:lnTo>
                    <a:pt x="755777" y="38100"/>
                  </a:lnTo>
                  <a:lnTo>
                    <a:pt x="755777" y="0"/>
                  </a:lnTo>
                  <a:lnTo>
                    <a:pt x="755777" y="38100"/>
                  </a:lnTo>
                  <a:lnTo>
                    <a:pt x="755777" y="0"/>
                  </a:lnTo>
                  <a:cubicBezTo>
                    <a:pt x="1173226" y="0"/>
                    <a:pt x="1511554" y="338455"/>
                    <a:pt x="1511554" y="755777"/>
                  </a:cubicBezTo>
                  <a:cubicBezTo>
                    <a:pt x="1511554" y="763270"/>
                    <a:pt x="1509268" y="770636"/>
                    <a:pt x="1505204" y="776859"/>
                  </a:cubicBezTo>
                  <a:lnTo>
                    <a:pt x="1473454" y="755777"/>
                  </a:lnTo>
                  <a:lnTo>
                    <a:pt x="1511554" y="755777"/>
                  </a:lnTo>
                  <a:cubicBezTo>
                    <a:pt x="1511554" y="1173226"/>
                    <a:pt x="1173099" y="1511554"/>
                    <a:pt x="755777" y="1511554"/>
                  </a:cubicBezTo>
                  <a:lnTo>
                    <a:pt x="755777" y="1473454"/>
                  </a:lnTo>
                  <a:lnTo>
                    <a:pt x="755777" y="1511554"/>
                  </a:lnTo>
                  <a:cubicBezTo>
                    <a:pt x="338455" y="1511681"/>
                    <a:pt x="0" y="1173226"/>
                    <a:pt x="0" y="755777"/>
                  </a:cubicBezTo>
                  <a:lnTo>
                    <a:pt x="38100" y="755777"/>
                  </a:lnTo>
                  <a:lnTo>
                    <a:pt x="0" y="755777"/>
                  </a:lnTo>
                  <a:moveTo>
                    <a:pt x="76200" y="755777"/>
                  </a:moveTo>
                  <a:lnTo>
                    <a:pt x="38100" y="755777"/>
                  </a:lnTo>
                  <a:lnTo>
                    <a:pt x="76200" y="755777"/>
                  </a:lnTo>
                  <a:cubicBezTo>
                    <a:pt x="76200" y="1131062"/>
                    <a:pt x="380492" y="1435354"/>
                    <a:pt x="755777" y="1435354"/>
                  </a:cubicBezTo>
                  <a:cubicBezTo>
                    <a:pt x="1131062" y="1435354"/>
                    <a:pt x="1435354" y="1131062"/>
                    <a:pt x="1435354" y="755777"/>
                  </a:cubicBezTo>
                  <a:cubicBezTo>
                    <a:pt x="1435354" y="748284"/>
                    <a:pt x="1437640" y="740918"/>
                    <a:pt x="1441704" y="734695"/>
                  </a:cubicBezTo>
                  <a:lnTo>
                    <a:pt x="1473454" y="755777"/>
                  </a:lnTo>
                  <a:lnTo>
                    <a:pt x="1435354" y="755777"/>
                  </a:lnTo>
                  <a:cubicBezTo>
                    <a:pt x="1435481" y="380492"/>
                    <a:pt x="1131189" y="76200"/>
                    <a:pt x="755777" y="76200"/>
                  </a:cubicBezTo>
                  <a:cubicBezTo>
                    <a:pt x="744220" y="76200"/>
                    <a:pt x="733298" y="70993"/>
                    <a:pt x="726059" y="61849"/>
                  </a:cubicBezTo>
                  <a:lnTo>
                    <a:pt x="755777" y="38100"/>
                  </a:lnTo>
                  <a:lnTo>
                    <a:pt x="755777" y="76200"/>
                  </a:lnTo>
                  <a:cubicBezTo>
                    <a:pt x="380492" y="76200"/>
                    <a:pt x="76200" y="380492"/>
                    <a:pt x="76200" y="755777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2100000">
            <a:off x="973655" y="2651455"/>
            <a:ext cx="714289" cy="714289"/>
            <a:chOff x="0" y="0"/>
            <a:chExt cx="952386" cy="9523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876173" cy="876173"/>
            </a:xfrm>
            <a:custGeom>
              <a:avLst/>
              <a:gdLst/>
              <a:ahLst/>
              <a:cxnLst/>
              <a:rect r="r" b="b" t="t" l="l"/>
              <a:pathLst>
                <a:path h="876173" w="876173">
                  <a:moveTo>
                    <a:pt x="0" y="0"/>
                  </a:moveTo>
                  <a:lnTo>
                    <a:pt x="876173" y="0"/>
                  </a:lnTo>
                  <a:lnTo>
                    <a:pt x="876173" y="876173"/>
                  </a:lnTo>
                  <a:lnTo>
                    <a:pt x="0" y="876173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914273" cy="952373"/>
            </a:xfrm>
            <a:custGeom>
              <a:avLst/>
              <a:gdLst/>
              <a:ahLst/>
              <a:cxnLst/>
              <a:rect r="r" b="b" t="t" l="l"/>
              <a:pathLst>
                <a:path h="952373" w="914273">
                  <a:moveTo>
                    <a:pt x="0" y="0"/>
                  </a:moveTo>
                  <a:lnTo>
                    <a:pt x="876173" y="0"/>
                  </a:lnTo>
                  <a:cubicBezTo>
                    <a:pt x="897255" y="0"/>
                    <a:pt x="914273" y="17018"/>
                    <a:pt x="914273" y="38100"/>
                  </a:cubicBezTo>
                  <a:lnTo>
                    <a:pt x="914273" y="914273"/>
                  </a:lnTo>
                  <a:cubicBezTo>
                    <a:pt x="914273" y="935355"/>
                    <a:pt x="897255" y="952373"/>
                    <a:pt x="876173" y="952373"/>
                  </a:cubicBezTo>
                  <a:lnTo>
                    <a:pt x="0" y="952373"/>
                  </a:lnTo>
                  <a:lnTo>
                    <a:pt x="0" y="876173"/>
                  </a:lnTo>
                  <a:lnTo>
                    <a:pt x="876173" y="876173"/>
                  </a:lnTo>
                  <a:lnTo>
                    <a:pt x="876173" y="914273"/>
                  </a:lnTo>
                  <a:lnTo>
                    <a:pt x="838073" y="914273"/>
                  </a:lnTo>
                  <a:lnTo>
                    <a:pt x="838073" y="38100"/>
                  </a:lnTo>
                  <a:lnTo>
                    <a:pt x="876173" y="38100"/>
                  </a:lnTo>
                  <a:lnTo>
                    <a:pt x="876173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9126" y="549126"/>
            <a:ext cx="2760678" cy="691391"/>
            <a:chOff x="0" y="0"/>
            <a:chExt cx="3680904" cy="92185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579241" cy="820293"/>
            </a:xfrm>
            <a:custGeom>
              <a:avLst/>
              <a:gdLst/>
              <a:ahLst/>
              <a:cxnLst/>
              <a:rect r="r" b="b" t="t" l="l"/>
              <a:pathLst>
                <a:path h="820293" w="3579241">
                  <a:moveTo>
                    <a:pt x="0" y="0"/>
                  </a:moveTo>
                  <a:lnTo>
                    <a:pt x="3579241" y="0"/>
                  </a:lnTo>
                  <a:lnTo>
                    <a:pt x="3579241" y="820293"/>
                  </a:lnTo>
                  <a:lnTo>
                    <a:pt x="0" y="820293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630041" cy="921893"/>
            </a:xfrm>
            <a:custGeom>
              <a:avLst/>
              <a:gdLst/>
              <a:ahLst/>
              <a:cxnLst/>
              <a:rect r="r" b="b" t="t" l="l"/>
              <a:pathLst>
                <a:path h="921893" w="3630041">
                  <a:moveTo>
                    <a:pt x="0" y="0"/>
                  </a:moveTo>
                  <a:lnTo>
                    <a:pt x="3579241" y="0"/>
                  </a:lnTo>
                  <a:cubicBezTo>
                    <a:pt x="3607308" y="0"/>
                    <a:pt x="3630041" y="22733"/>
                    <a:pt x="3630041" y="50800"/>
                  </a:cubicBezTo>
                  <a:lnTo>
                    <a:pt x="3630041" y="871093"/>
                  </a:lnTo>
                  <a:cubicBezTo>
                    <a:pt x="3630041" y="899160"/>
                    <a:pt x="3607308" y="921893"/>
                    <a:pt x="3579241" y="921893"/>
                  </a:cubicBezTo>
                  <a:lnTo>
                    <a:pt x="0" y="921893"/>
                  </a:lnTo>
                  <a:lnTo>
                    <a:pt x="0" y="820293"/>
                  </a:lnTo>
                  <a:lnTo>
                    <a:pt x="3579241" y="820293"/>
                  </a:lnTo>
                  <a:lnTo>
                    <a:pt x="3579241" y="871093"/>
                  </a:lnTo>
                  <a:lnTo>
                    <a:pt x="3528441" y="871093"/>
                  </a:lnTo>
                  <a:lnTo>
                    <a:pt x="3528441" y="50800"/>
                  </a:lnTo>
                  <a:lnTo>
                    <a:pt x="3579241" y="50800"/>
                  </a:lnTo>
                  <a:lnTo>
                    <a:pt x="357924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59270" y="559270"/>
            <a:ext cx="2740400" cy="559270"/>
            <a:chOff x="0" y="0"/>
            <a:chExt cx="3653866" cy="745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53872" cy="745688"/>
            </a:xfrm>
            <a:custGeom>
              <a:avLst/>
              <a:gdLst/>
              <a:ahLst/>
              <a:cxnLst/>
              <a:rect r="r" b="b" t="t" l="l"/>
              <a:pathLst>
                <a:path h="745688" w="3653872">
                  <a:moveTo>
                    <a:pt x="0" y="0"/>
                  </a:moveTo>
                  <a:lnTo>
                    <a:pt x="3653872" y="0"/>
                  </a:lnTo>
                  <a:lnTo>
                    <a:pt x="3653872" y="745688"/>
                  </a:lnTo>
                  <a:lnTo>
                    <a:pt x="0" y="745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653866" cy="831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7"/>
                </a:lnSpc>
              </a:pPr>
              <a:r>
                <a:rPr lang="en-US" sz="1761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INDUSTRY ANALYSIS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59270" y="1398165"/>
            <a:ext cx="17505026" cy="671122"/>
            <a:chOff x="0" y="0"/>
            <a:chExt cx="23340035" cy="8948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40036" cy="894826"/>
            </a:xfrm>
            <a:custGeom>
              <a:avLst/>
              <a:gdLst/>
              <a:ahLst/>
              <a:cxnLst/>
              <a:rect r="r" b="b" t="t" l="l"/>
              <a:pathLst>
                <a:path h="894826" w="23340036">
                  <a:moveTo>
                    <a:pt x="0" y="0"/>
                  </a:moveTo>
                  <a:lnTo>
                    <a:pt x="23340036" y="0"/>
                  </a:lnTo>
                  <a:lnTo>
                    <a:pt x="23340036" y="894826"/>
                  </a:lnTo>
                  <a:lnTo>
                    <a:pt x="0" y="894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8234" r="0" b="-45823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0"/>
              <a:ext cx="23340035" cy="7995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73"/>
                </a:lnSpc>
              </a:pPr>
              <a:r>
                <a:rPr lang="en-US" sz="5284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Literature Survey — Industry Comparison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49126" y="2282857"/>
            <a:ext cx="8437226" cy="8017774"/>
            <a:chOff x="0" y="0"/>
            <a:chExt cx="11249635" cy="106903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11148060" cy="10588752"/>
            </a:xfrm>
            <a:custGeom>
              <a:avLst/>
              <a:gdLst/>
              <a:ahLst/>
              <a:cxnLst/>
              <a:rect r="r" b="b" t="t" l="l"/>
              <a:pathLst>
                <a:path h="10588752" w="11148060">
                  <a:moveTo>
                    <a:pt x="0" y="0"/>
                  </a:moveTo>
                  <a:lnTo>
                    <a:pt x="11148060" y="0"/>
                  </a:lnTo>
                  <a:lnTo>
                    <a:pt x="11148060" y="10588752"/>
                  </a:lnTo>
                  <a:lnTo>
                    <a:pt x="0" y="10588752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11198860" cy="10690352"/>
            </a:xfrm>
            <a:custGeom>
              <a:avLst/>
              <a:gdLst/>
              <a:ahLst/>
              <a:cxnLst/>
              <a:rect r="r" b="b" t="t" l="l"/>
              <a:pathLst>
                <a:path h="10690352" w="11198860">
                  <a:moveTo>
                    <a:pt x="0" y="0"/>
                  </a:moveTo>
                  <a:lnTo>
                    <a:pt x="11148060" y="0"/>
                  </a:lnTo>
                  <a:cubicBezTo>
                    <a:pt x="11176127" y="0"/>
                    <a:pt x="11198860" y="22733"/>
                    <a:pt x="11198860" y="50800"/>
                  </a:cubicBezTo>
                  <a:lnTo>
                    <a:pt x="11198860" y="10639552"/>
                  </a:lnTo>
                  <a:cubicBezTo>
                    <a:pt x="11198860" y="10667619"/>
                    <a:pt x="11176127" y="10690352"/>
                    <a:pt x="11148060" y="10690352"/>
                  </a:cubicBezTo>
                  <a:lnTo>
                    <a:pt x="0" y="10690352"/>
                  </a:lnTo>
                  <a:lnTo>
                    <a:pt x="0" y="10588752"/>
                  </a:lnTo>
                  <a:lnTo>
                    <a:pt x="11148060" y="10588752"/>
                  </a:lnTo>
                  <a:lnTo>
                    <a:pt x="11148060" y="10639552"/>
                  </a:lnTo>
                  <a:lnTo>
                    <a:pt x="11097260" y="10639552"/>
                  </a:lnTo>
                  <a:lnTo>
                    <a:pt x="11097260" y="50800"/>
                  </a:lnTo>
                  <a:lnTo>
                    <a:pt x="11148060" y="50800"/>
                  </a:lnTo>
                  <a:lnTo>
                    <a:pt x="1114806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84692" y="2618413"/>
            <a:ext cx="803243" cy="803243"/>
            <a:chOff x="0" y="0"/>
            <a:chExt cx="1070991" cy="1070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969391" cy="969391"/>
            </a:xfrm>
            <a:custGeom>
              <a:avLst/>
              <a:gdLst/>
              <a:ahLst/>
              <a:cxnLst/>
              <a:rect r="r" b="b" t="t" l="l"/>
              <a:pathLst>
                <a:path h="969391" w="969391">
                  <a:moveTo>
                    <a:pt x="0" y="0"/>
                  </a:moveTo>
                  <a:lnTo>
                    <a:pt x="969391" y="0"/>
                  </a:lnTo>
                  <a:lnTo>
                    <a:pt x="969391" y="969391"/>
                  </a:lnTo>
                  <a:lnTo>
                    <a:pt x="0" y="969391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020191" cy="1070991"/>
            </a:xfrm>
            <a:custGeom>
              <a:avLst/>
              <a:gdLst/>
              <a:ahLst/>
              <a:cxnLst/>
              <a:rect r="r" b="b" t="t" l="l"/>
              <a:pathLst>
                <a:path h="1070991" w="1020191">
                  <a:moveTo>
                    <a:pt x="0" y="0"/>
                  </a:moveTo>
                  <a:lnTo>
                    <a:pt x="969391" y="0"/>
                  </a:lnTo>
                  <a:cubicBezTo>
                    <a:pt x="997458" y="0"/>
                    <a:pt x="1020191" y="22733"/>
                    <a:pt x="1020191" y="50800"/>
                  </a:cubicBezTo>
                  <a:lnTo>
                    <a:pt x="1020191" y="1020191"/>
                  </a:lnTo>
                  <a:cubicBezTo>
                    <a:pt x="1020191" y="1048258"/>
                    <a:pt x="997458" y="1070991"/>
                    <a:pt x="969391" y="1070991"/>
                  </a:cubicBezTo>
                  <a:lnTo>
                    <a:pt x="0" y="1070991"/>
                  </a:lnTo>
                  <a:lnTo>
                    <a:pt x="0" y="969391"/>
                  </a:lnTo>
                  <a:lnTo>
                    <a:pt x="969391" y="969391"/>
                  </a:lnTo>
                  <a:lnTo>
                    <a:pt x="969391" y="1020191"/>
                  </a:lnTo>
                  <a:lnTo>
                    <a:pt x="918591" y="1020191"/>
                  </a:lnTo>
                  <a:lnTo>
                    <a:pt x="918591" y="50800"/>
                  </a:lnTo>
                  <a:lnTo>
                    <a:pt x="969391" y="50800"/>
                  </a:lnTo>
                  <a:lnTo>
                    <a:pt x="96939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60478" y="2852261"/>
            <a:ext cx="251670" cy="335556"/>
          </a:xfrm>
          <a:custGeom>
            <a:avLst/>
            <a:gdLst/>
            <a:ahLst/>
            <a:cxnLst/>
            <a:rect r="r" b="b" t="t" l="l"/>
            <a:pathLst>
              <a:path h="335556" w="251670">
                <a:moveTo>
                  <a:pt x="0" y="0"/>
                </a:moveTo>
                <a:lnTo>
                  <a:pt x="251670" y="0"/>
                </a:lnTo>
                <a:lnTo>
                  <a:pt x="251670" y="335556"/>
                </a:lnTo>
                <a:lnTo>
                  <a:pt x="0" y="335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845574" y="2768365"/>
            <a:ext cx="3733105" cy="503339"/>
            <a:chOff x="0" y="0"/>
            <a:chExt cx="4977473" cy="67111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977468" cy="671120"/>
            </a:xfrm>
            <a:custGeom>
              <a:avLst/>
              <a:gdLst/>
              <a:ahLst/>
              <a:cxnLst/>
              <a:rect r="r" b="b" t="t" l="l"/>
              <a:pathLst>
                <a:path h="671120" w="4977468">
                  <a:moveTo>
                    <a:pt x="0" y="0"/>
                  </a:moveTo>
                  <a:lnTo>
                    <a:pt x="4977468" y="0"/>
                  </a:lnTo>
                  <a:lnTo>
                    <a:pt x="4977468" y="671120"/>
                  </a:lnTo>
                  <a:lnTo>
                    <a:pt x="0" y="67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514" r="0" b="-9451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4977473" cy="699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3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Similar Companies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87225" y="3752802"/>
            <a:ext cx="7761037" cy="1720967"/>
            <a:chOff x="0" y="0"/>
            <a:chExt cx="10348049" cy="229462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38100" y="38100"/>
              <a:ext cx="10271887" cy="2218436"/>
            </a:xfrm>
            <a:custGeom>
              <a:avLst/>
              <a:gdLst/>
              <a:ahLst/>
              <a:cxnLst/>
              <a:rect r="r" b="b" t="t" l="l"/>
              <a:pathLst>
                <a:path h="2218436" w="10271887">
                  <a:moveTo>
                    <a:pt x="0" y="0"/>
                  </a:moveTo>
                  <a:lnTo>
                    <a:pt x="10271887" y="0"/>
                  </a:lnTo>
                  <a:lnTo>
                    <a:pt x="10271887" y="2218436"/>
                  </a:lnTo>
                  <a:lnTo>
                    <a:pt x="0" y="2218436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8100" y="0"/>
              <a:ext cx="10309987" cy="2294636"/>
            </a:xfrm>
            <a:custGeom>
              <a:avLst/>
              <a:gdLst/>
              <a:ahLst/>
              <a:cxnLst/>
              <a:rect r="r" b="b" t="t" l="l"/>
              <a:pathLst>
                <a:path h="2294636" w="10309987">
                  <a:moveTo>
                    <a:pt x="0" y="0"/>
                  </a:moveTo>
                  <a:lnTo>
                    <a:pt x="10271887" y="0"/>
                  </a:lnTo>
                  <a:cubicBezTo>
                    <a:pt x="10292969" y="0"/>
                    <a:pt x="10309987" y="17018"/>
                    <a:pt x="10309987" y="38100"/>
                  </a:cubicBezTo>
                  <a:lnTo>
                    <a:pt x="10309987" y="2256536"/>
                  </a:lnTo>
                  <a:cubicBezTo>
                    <a:pt x="10309987" y="2277618"/>
                    <a:pt x="10292969" y="2294636"/>
                    <a:pt x="10271887" y="2294636"/>
                  </a:cubicBezTo>
                  <a:lnTo>
                    <a:pt x="0" y="2294636"/>
                  </a:lnTo>
                  <a:lnTo>
                    <a:pt x="0" y="2218436"/>
                  </a:lnTo>
                  <a:lnTo>
                    <a:pt x="10271887" y="2218436"/>
                  </a:lnTo>
                  <a:lnTo>
                    <a:pt x="10271887" y="2256536"/>
                  </a:lnTo>
                  <a:lnTo>
                    <a:pt x="10233787" y="2256536"/>
                  </a:lnTo>
                  <a:lnTo>
                    <a:pt x="10233787" y="38100"/>
                  </a:lnTo>
                  <a:lnTo>
                    <a:pt x="10271887" y="38100"/>
                  </a:lnTo>
                  <a:lnTo>
                    <a:pt x="1027188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50344" y="4155738"/>
            <a:ext cx="915095" cy="915095"/>
            <a:chOff x="0" y="0"/>
            <a:chExt cx="1220127" cy="12201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50800" y="5080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50800" y="0"/>
              <a:ext cx="1169289" cy="1220089"/>
            </a:xfrm>
            <a:custGeom>
              <a:avLst/>
              <a:gdLst/>
              <a:ahLst/>
              <a:cxnLst/>
              <a:rect r="r" b="b" t="t" l="l"/>
              <a:pathLst>
                <a:path h="1220089" w="1169289">
                  <a:moveTo>
                    <a:pt x="0" y="0"/>
                  </a:moveTo>
                  <a:lnTo>
                    <a:pt x="1118489" y="0"/>
                  </a:lnTo>
                  <a:cubicBezTo>
                    <a:pt x="1146556" y="0"/>
                    <a:pt x="1169289" y="22733"/>
                    <a:pt x="1169289" y="50800"/>
                  </a:cubicBezTo>
                  <a:lnTo>
                    <a:pt x="1169289" y="1169289"/>
                  </a:lnTo>
                  <a:cubicBezTo>
                    <a:pt x="1169289" y="1197356"/>
                    <a:pt x="1146556" y="1220089"/>
                    <a:pt x="1118489" y="1220089"/>
                  </a:cubicBezTo>
                  <a:lnTo>
                    <a:pt x="0" y="1220089"/>
                  </a:lnTo>
                  <a:lnTo>
                    <a:pt x="0" y="1118489"/>
                  </a:lnTo>
                  <a:lnTo>
                    <a:pt x="1118489" y="1118489"/>
                  </a:lnTo>
                  <a:lnTo>
                    <a:pt x="1118489" y="1169289"/>
                  </a:lnTo>
                  <a:lnTo>
                    <a:pt x="1067689" y="1169289"/>
                  </a:lnTo>
                  <a:lnTo>
                    <a:pt x="1067689" y="50800"/>
                  </a:lnTo>
                  <a:lnTo>
                    <a:pt x="1118489" y="50800"/>
                  </a:lnTo>
                  <a:lnTo>
                    <a:pt x="111848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427874" y="4403569"/>
            <a:ext cx="367017" cy="419452"/>
          </a:xfrm>
          <a:custGeom>
            <a:avLst/>
            <a:gdLst/>
            <a:ahLst/>
            <a:cxnLst/>
            <a:rect r="r" b="b" t="t" l="l"/>
            <a:pathLst>
              <a:path h="419452" w="367017">
                <a:moveTo>
                  <a:pt x="0" y="0"/>
                </a:moveTo>
                <a:lnTo>
                  <a:pt x="367017" y="0"/>
                </a:lnTo>
                <a:lnTo>
                  <a:pt x="367017" y="419453"/>
                </a:lnTo>
                <a:lnTo>
                  <a:pt x="0" y="4194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2279009" y="4026056"/>
            <a:ext cx="6263783" cy="447408"/>
            <a:chOff x="0" y="0"/>
            <a:chExt cx="8351710" cy="59654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351706" cy="596550"/>
            </a:xfrm>
            <a:custGeom>
              <a:avLst/>
              <a:gdLst/>
              <a:ahLst/>
              <a:cxnLst/>
              <a:rect r="r" b="b" t="t" l="l"/>
              <a:pathLst>
                <a:path h="596550" w="8351706">
                  <a:moveTo>
                    <a:pt x="0" y="0"/>
                  </a:moveTo>
                  <a:lnTo>
                    <a:pt x="8351706" y="0"/>
                  </a:lnTo>
                  <a:lnTo>
                    <a:pt x="8351706" y="596550"/>
                  </a:lnTo>
                  <a:lnTo>
                    <a:pt x="0" y="596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1" r="0" b="-22279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351710" cy="6441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6"/>
                </a:lnSpc>
              </a:pPr>
              <a:r>
                <a:rPr lang="en-US" sz="264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Amazon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279009" y="4529404"/>
            <a:ext cx="6207852" cy="671122"/>
            <a:chOff x="0" y="0"/>
            <a:chExt cx="8277136" cy="89482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277138" cy="894826"/>
            </a:xfrm>
            <a:custGeom>
              <a:avLst/>
              <a:gdLst/>
              <a:ahLst/>
              <a:cxnLst/>
              <a:rect r="r" b="b" t="t" l="l"/>
              <a:pathLst>
                <a:path h="894826" w="8277138">
                  <a:moveTo>
                    <a:pt x="0" y="0"/>
                  </a:moveTo>
                  <a:lnTo>
                    <a:pt x="8277138" y="0"/>
                  </a:lnTo>
                  <a:lnTo>
                    <a:pt x="8277138" y="894826"/>
                  </a:lnTo>
                  <a:lnTo>
                    <a:pt x="0" y="894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85725"/>
              <a:ext cx="8277136" cy="980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7"/>
                </a:lnSpc>
              </a:pPr>
              <a:r>
                <a:rPr lang="en-US" sz="176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Uses </a:t>
              </a:r>
              <a:r>
                <a:rPr lang="en-US" sz="176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machine learning algorithms</a:t>
              </a:r>
              <a:r>
                <a:rPr lang="en-US" sz="176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for route optimization and predictive logistics with real-time tracking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87225" y="5932846"/>
            <a:ext cx="7761037" cy="1720967"/>
            <a:chOff x="0" y="0"/>
            <a:chExt cx="10348049" cy="2294623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38100" y="38100"/>
              <a:ext cx="10271887" cy="2218436"/>
            </a:xfrm>
            <a:custGeom>
              <a:avLst/>
              <a:gdLst/>
              <a:ahLst/>
              <a:cxnLst/>
              <a:rect r="r" b="b" t="t" l="l"/>
              <a:pathLst>
                <a:path h="2218436" w="10271887">
                  <a:moveTo>
                    <a:pt x="0" y="0"/>
                  </a:moveTo>
                  <a:lnTo>
                    <a:pt x="10271887" y="0"/>
                  </a:lnTo>
                  <a:lnTo>
                    <a:pt x="10271887" y="2218436"/>
                  </a:lnTo>
                  <a:lnTo>
                    <a:pt x="0" y="2218436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8100" y="0"/>
              <a:ext cx="10309987" cy="2294636"/>
            </a:xfrm>
            <a:custGeom>
              <a:avLst/>
              <a:gdLst/>
              <a:ahLst/>
              <a:cxnLst/>
              <a:rect r="r" b="b" t="t" l="l"/>
              <a:pathLst>
                <a:path h="2294636" w="10309987">
                  <a:moveTo>
                    <a:pt x="0" y="0"/>
                  </a:moveTo>
                  <a:lnTo>
                    <a:pt x="10271887" y="0"/>
                  </a:lnTo>
                  <a:cubicBezTo>
                    <a:pt x="10292969" y="0"/>
                    <a:pt x="10309987" y="17018"/>
                    <a:pt x="10309987" y="38100"/>
                  </a:cubicBezTo>
                  <a:lnTo>
                    <a:pt x="10309987" y="2256536"/>
                  </a:lnTo>
                  <a:cubicBezTo>
                    <a:pt x="10309987" y="2277618"/>
                    <a:pt x="10292969" y="2294636"/>
                    <a:pt x="10271887" y="2294636"/>
                  </a:cubicBezTo>
                  <a:lnTo>
                    <a:pt x="0" y="2294636"/>
                  </a:lnTo>
                  <a:lnTo>
                    <a:pt x="0" y="2218436"/>
                  </a:lnTo>
                  <a:lnTo>
                    <a:pt x="10271887" y="2218436"/>
                  </a:lnTo>
                  <a:lnTo>
                    <a:pt x="10271887" y="2256536"/>
                  </a:lnTo>
                  <a:lnTo>
                    <a:pt x="10233787" y="2256536"/>
                  </a:lnTo>
                  <a:lnTo>
                    <a:pt x="10233787" y="38100"/>
                  </a:lnTo>
                  <a:lnTo>
                    <a:pt x="10271887" y="38100"/>
                  </a:lnTo>
                  <a:lnTo>
                    <a:pt x="1027188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50344" y="6335782"/>
            <a:ext cx="915095" cy="915095"/>
            <a:chOff x="0" y="0"/>
            <a:chExt cx="1220127" cy="122012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50800" y="5080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0800" y="0"/>
              <a:ext cx="1169289" cy="1220089"/>
            </a:xfrm>
            <a:custGeom>
              <a:avLst/>
              <a:gdLst/>
              <a:ahLst/>
              <a:cxnLst/>
              <a:rect r="r" b="b" t="t" l="l"/>
              <a:pathLst>
                <a:path h="1220089" w="1169289">
                  <a:moveTo>
                    <a:pt x="0" y="0"/>
                  </a:moveTo>
                  <a:lnTo>
                    <a:pt x="1118489" y="0"/>
                  </a:lnTo>
                  <a:cubicBezTo>
                    <a:pt x="1146556" y="0"/>
                    <a:pt x="1169289" y="22733"/>
                    <a:pt x="1169289" y="50800"/>
                  </a:cubicBezTo>
                  <a:lnTo>
                    <a:pt x="1169289" y="1169289"/>
                  </a:lnTo>
                  <a:cubicBezTo>
                    <a:pt x="1169289" y="1197356"/>
                    <a:pt x="1146556" y="1220089"/>
                    <a:pt x="1118489" y="1220089"/>
                  </a:cubicBezTo>
                  <a:lnTo>
                    <a:pt x="0" y="1220089"/>
                  </a:lnTo>
                  <a:lnTo>
                    <a:pt x="0" y="1118489"/>
                  </a:lnTo>
                  <a:lnTo>
                    <a:pt x="1118489" y="1118489"/>
                  </a:lnTo>
                  <a:lnTo>
                    <a:pt x="1118489" y="1169289"/>
                  </a:lnTo>
                  <a:lnTo>
                    <a:pt x="1067689" y="1169289"/>
                  </a:lnTo>
                  <a:lnTo>
                    <a:pt x="1067689" y="50800"/>
                  </a:lnTo>
                  <a:lnTo>
                    <a:pt x="1118489" y="50800"/>
                  </a:lnTo>
                  <a:lnTo>
                    <a:pt x="111848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1349226" y="6583613"/>
            <a:ext cx="524313" cy="419452"/>
          </a:xfrm>
          <a:custGeom>
            <a:avLst/>
            <a:gdLst/>
            <a:ahLst/>
            <a:cxnLst/>
            <a:rect r="r" b="b" t="t" l="l"/>
            <a:pathLst>
              <a:path h="419452" w="524313">
                <a:moveTo>
                  <a:pt x="0" y="0"/>
                </a:moveTo>
                <a:lnTo>
                  <a:pt x="524313" y="0"/>
                </a:lnTo>
                <a:lnTo>
                  <a:pt x="524313" y="419453"/>
                </a:lnTo>
                <a:lnTo>
                  <a:pt x="0" y="41945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2279009" y="6206109"/>
            <a:ext cx="6263783" cy="447408"/>
            <a:chOff x="0" y="0"/>
            <a:chExt cx="8351710" cy="59654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351706" cy="596550"/>
            </a:xfrm>
            <a:custGeom>
              <a:avLst/>
              <a:gdLst/>
              <a:ahLst/>
              <a:cxnLst/>
              <a:rect r="r" b="b" t="t" l="l"/>
              <a:pathLst>
                <a:path h="596550" w="8351706">
                  <a:moveTo>
                    <a:pt x="0" y="0"/>
                  </a:moveTo>
                  <a:lnTo>
                    <a:pt x="8351706" y="0"/>
                  </a:lnTo>
                  <a:lnTo>
                    <a:pt x="8351706" y="596550"/>
                  </a:lnTo>
                  <a:lnTo>
                    <a:pt x="0" y="596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1" r="0" b="-22279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8351710" cy="6441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6"/>
                </a:lnSpc>
              </a:pPr>
              <a:r>
                <a:rPr lang="en-US" sz="264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FedEx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279009" y="6709448"/>
            <a:ext cx="6207852" cy="671122"/>
            <a:chOff x="0" y="0"/>
            <a:chExt cx="8277136" cy="89482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77138" cy="894826"/>
            </a:xfrm>
            <a:custGeom>
              <a:avLst/>
              <a:gdLst/>
              <a:ahLst/>
              <a:cxnLst/>
              <a:rect r="r" b="b" t="t" l="l"/>
              <a:pathLst>
                <a:path h="894826" w="8277138">
                  <a:moveTo>
                    <a:pt x="0" y="0"/>
                  </a:moveTo>
                  <a:lnTo>
                    <a:pt x="8277138" y="0"/>
                  </a:lnTo>
                  <a:lnTo>
                    <a:pt x="8277138" y="894826"/>
                  </a:lnTo>
                  <a:lnTo>
                    <a:pt x="0" y="894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8277136" cy="980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7"/>
                </a:lnSpc>
              </a:pPr>
              <a:r>
                <a:rPr lang="en-US" sz="176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Implements </a:t>
              </a:r>
              <a:r>
                <a:rPr lang="en-US" sz="176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advanced network optimization</a:t>
              </a:r>
              <a:r>
                <a:rPr lang="en-US" sz="176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dynamic routing and comprehensive fleet management systems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887225" y="8112681"/>
            <a:ext cx="7761037" cy="1720967"/>
            <a:chOff x="0" y="0"/>
            <a:chExt cx="10348049" cy="229462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38100" y="38100"/>
              <a:ext cx="10271887" cy="2218436"/>
            </a:xfrm>
            <a:custGeom>
              <a:avLst/>
              <a:gdLst/>
              <a:ahLst/>
              <a:cxnLst/>
              <a:rect r="r" b="b" t="t" l="l"/>
              <a:pathLst>
                <a:path h="2218436" w="10271887">
                  <a:moveTo>
                    <a:pt x="0" y="0"/>
                  </a:moveTo>
                  <a:lnTo>
                    <a:pt x="10271887" y="0"/>
                  </a:lnTo>
                  <a:lnTo>
                    <a:pt x="10271887" y="2218436"/>
                  </a:lnTo>
                  <a:lnTo>
                    <a:pt x="0" y="2218436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8100" y="0"/>
              <a:ext cx="10309987" cy="2294636"/>
            </a:xfrm>
            <a:custGeom>
              <a:avLst/>
              <a:gdLst/>
              <a:ahLst/>
              <a:cxnLst/>
              <a:rect r="r" b="b" t="t" l="l"/>
              <a:pathLst>
                <a:path h="2294636" w="10309987">
                  <a:moveTo>
                    <a:pt x="0" y="0"/>
                  </a:moveTo>
                  <a:lnTo>
                    <a:pt x="10271887" y="0"/>
                  </a:lnTo>
                  <a:cubicBezTo>
                    <a:pt x="10292969" y="0"/>
                    <a:pt x="10309987" y="17018"/>
                    <a:pt x="10309987" y="38100"/>
                  </a:cubicBezTo>
                  <a:lnTo>
                    <a:pt x="10309987" y="2256536"/>
                  </a:lnTo>
                  <a:cubicBezTo>
                    <a:pt x="10309987" y="2277618"/>
                    <a:pt x="10292969" y="2294636"/>
                    <a:pt x="10271887" y="2294636"/>
                  </a:cubicBezTo>
                  <a:lnTo>
                    <a:pt x="0" y="2294636"/>
                  </a:lnTo>
                  <a:lnTo>
                    <a:pt x="0" y="2218436"/>
                  </a:lnTo>
                  <a:lnTo>
                    <a:pt x="10271887" y="2218436"/>
                  </a:lnTo>
                  <a:lnTo>
                    <a:pt x="10271887" y="2256536"/>
                  </a:lnTo>
                  <a:lnTo>
                    <a:pt x="10233787" y="2256536"/>
                  </a:lnTo>
                  <a:lnTo>
                    <a:pt x="10233787" y="38100"/>
                  </a:lnTo>
                  <a:lnTo>
                    <a:pt x="10271887" y="38100"/>
                  </a:lnTo>
                  <a:lnTo>
                    <a:pt x="1027188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150344" y="8515617"/>
            <a:ext cx="915095" cy="915095"/>
            <a:chOff x="0" y="0"/>
            <a:chExt cx="1220127" cy="122012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50800" y="50800"/>
              <a:ext cx="1118489" cy="1118489"/>
            </a:xfrm>
            <a:custGeom>
              <a:avLst/>
              <a:gdLst/>
              <a:ahLst/>
              <a:cxnLst/>
              <a:rect r="r" b="b" t="t" l="l"/>
              <a:pathLst>
                <a:path h="1118489" w="1118489">
                  <a:moveTo>
                    <a:pt x="0" y="0"/>
                  </a:moveTo>
                  <a:lnTo>
                    <a:pt x="1118489" y="0"/>
                  </a:lnTo>
                  <a:lnTo>
                    <a:pt x="1118489" y="1118489"/>
                  </a:lnTo>
                  <a:lnTo>
                    <a:pt x="0" y="1118489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50800" y="0"/>
              <a:ext cx="1169289" cy="1220089"/>
            </a:xfrm>
            <a:custGeom>
              <a:avLst/>
              <a:gdLst/>
              <a:ahLst/>
              <a:cxnLst/>
              <a:rect r="r" b="b" t="t" l="l"/>
              <a:pathLst>
                <a:path h="1220089" w="1169289">
                  <a:moveTo>
                    <a:pt x="0" y="0"/>
                  </a:moveTo>
                  <a:lnTo>
                    <a:pt x="1118489" y="0"/>
                  </a:lnTo>
                  <a:cubicBezTo>
                    <a:pt x="1146556" y="0"/>
                    <a:pt x="1169289" y="22733"/>
                    <a:pt x="1169289" y="50800"/>
                  </a:cubicBezTo>
                  <a:lnTo>
                    <a:pt x="1169289" y="1169289"/>
                  </a:lnTo>
                  <a:cubicBezTo>
                    <a:pt x="1169289" y="1197356"/>
                    <a:pt x="1146556" y="1220089"/>
                    <a:pt x="1118489" y="1220089"/>
                  </a:cubicBezTo>
                  <a:lnTo>
                    <a:pt x="0" y="1220089"/>
                  </a:lnTo>
                  <a:lnTo>
                    <a:pt x="0" y="1118489"/>
                  </a:lnTo>
                  <a:lnTo>
                    <a:pt x="1118489" y="1118489"/>
                  </a:lnTo>
                  <a:lnTo>
                    <a:pt x="1118489" y="1169289"/>
                  </a:lnTo>
                  <a:lnTo>
                    <a:pt x="1067689" y="1169289"/>
                  </a:lnTo>
                  <a:lnTo>
                    <a:pt x="1067689" y="50800"/>
                  </a:lnTo>
                  <a:lnTo>
                    <a:pt x="1118489" y="50800"/>
                  </a:lnTo>
                  <a:lnTo>
                    <a:pt x="1118489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427874" y="8763438"/>
            <a:ext cx="367017" cy="419452"/>
            <a:chOff x="0" y="0"/>
            <a:chExt cx="489356" cy="55927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17399"/>
              <a:ext cx="489331" cy="506857"/>
            </a:xfrm>
            <a:custGeom>
              <a:avLst/>
              <a:gdLst/>
              <a:ahLst/>
              <a:cxnLst/>
              <a:rect r="r" b="b" t="t" l="l"/>
              <a:pathLst>
                <a:path h="506857" w="489331">
                  <a:moveTo>
                    <a:pt x="403479" y="122428"/>
                  </a:moveTo>
                  <a:lnTo>
                    <a:pt x="366014" y="69977"/>
                  </a:lnTo>
                  <a:lnTo>
                    <a:pt x="123444" y="69977"/>
                  </a:lnTo>
                  <a:lnTo>
                    <a:pt x="85979" y="122428"/>
                  </a:lnTo>
                  <a:lnTo>
                    <a:pt x="403479" y="122428"/>
                  </a:lnTo>
                  <a:close/>
                  <a:moveTo>
                    <a:pt x="0" y="144780"/>
                  </a:moveTo>
                  <a:cubicBezTo>
                    <a:pt x="0" y="130302"/>
                    <a:pt x="4572" y="116078"/>
                    <a:pt x="12954" y="104140"/>
                  </a:cubicBezTo>
                  <a:lnTo>
                    <a:pt x="66548" y="29337"/>
                  </a:lnTo>
                  <a:cubicBezTo>
                    <a:pt x="79629" y="10922"/>
                    <a:pt x="100838" y="0"/>
                    <a:pt x="123317" y="0"/>
                  </a:cubicBezTo>
                  <a:lnTo>
                    <a:pt x="365887" y="0"/>
                  </a:lnTo>
                  <a:cubicBezTo>
                    <a:pt x="388493" y="0"/>
                    <a:pt x="409702" y="10922"/>
                    <a:pt x="422783" y="29337"/>
                  </a:cubicBezTo>
                  <a:lnTo>
                    <a:pt x="476250" y="104140"/>
                  </a:lnTo>
                  <a:cubicBezTo>
                    <a:pt x="484759" y="116078"/>
                    <a:pt x="489204" y="130302"/>
                    <a:pt x="489204" y="144780"/>
                  </a:cubicBezTo>
                  <a:lnTo>
                    <a:pt x="489331" y="437007"/>
                  </a:lnTo>
                  <a:cubicBezTo>
                    <a:pt x="489331" y="475615"/>
                    <a:pt x="457962" y="506857"/>
                    <a:pt x="419481" y="506857"/>
                  </a:cubicBezTo>
                  <a:lnTo>
                    <a:pt x="69850" y="506857"/>
                  </a:lnTo>
                  <a:cubicBezTo>
                    <a:pt x="31242" y="506857"/>
                    <a:pt x="0" y="475488"/>
                    <a:pt x="0" y="437007"/>
                  </a:cubicBezTo>
                  <a:lnTo>
                    <a:pt x="0" y="14478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279009" y="8385934"/>
            <a:ext cx="6263783" cy="447408"/>
            <a:chOff x="0" y="0"/>
            <a:chExt cx="8351710" cy="59654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351706" cy="596550"/>
            </a:xfrm>
            <a:custGeom>
              <a:avLst/>
              <a:gdLst/>
              <a:ahLst/>
              <a:cxnLst/>
              <a:rect r="r" b="b" t="t" l="l"/>
              <a:pathLst>
                <a:path h="596550" w="8351706">
                  <a:moveTo>
                    <a:pt x="0" y="0"/>
                  </a:moveTo>
                  <a:lnTo>
                    <a:pt x="8351706" y="0"/>
                  </a:lnTo>
                  <a:lnTo>
                    <a:pt x="8351706" y="596550"/>
                  </a:lnTo>
                  <a:lnTo>
                    <a:pt x="0" y="596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1" r="0" b="-22279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8351710" cy="6441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6"/>
                </a:lnSpc>
              </a:pPr>
              <a:r>
                <a:rPr lang="en-US" sz="264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Blue Dart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279009" y="8889273"/>
            <a:ext cx="6207852" cy="671122"/>
            <a:chOff x="0" y="0"/>
            <a:chExt cx="8277136" cy="89482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77138" cy="894826"/>
            </a:xfrm>
            <a:custGeom>
              <a:avLst/>
              <a:gdLst/>
              <a:ahLst/>
              <a:cxnLst/>
              <a:rect r="r" b="b" t="t" l="l"/>
              <a:pathLst>
                <a:path h="894826" w="8277138">
                  <a:moveTo>
                    <a:pt x="0" y="0"/>
                  </a:moveTo>
                  <a:lnTo>
                    <a:pt x="8277138" y="0"/>
                  </a:lnTo>
                  <a:lnTo>
                    <a:pt x="8277138" y="894826"/>
                  </a:lnTo>
                  <a:lnTo>
                    <a:pt x="0" y="8948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236" r="0" b="-13023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85725"/>
              <a:ext cx="8277136" cy="9805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47"/>
                </a:lnSpc>
              </a:pPr>
              <a:r>
                <a:rPr lang="en-US" sz="176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Employs </a:t>
              </a:r>
              <a:r>
                <a:rPr lang="en-US" sz="176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proprietary routing systems</a:t>
              </a:r>
              <a:r>
                <a:rPr lang="en-US" sz="1761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GPS tracking and automated dispatch for express deliveries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304696" y="2282857"/>
            <a:ext cx="8437226" cy="8017774"/>
            <a:chOff x="0" y="0"/>
            <a:chExt cx="11249635" cy="1069036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50800" y="50800"/>
              <a:ext cx="11148060" cy="10588752"/>
            </a:xfrm>
            <a:custGeom>
              <a:avLst/>
              <a:gdLst/>
              <a:ahLst/>
              <a:cxnLst/>
              <a:rect r="r" b="b" t="t" l="l"/>
              <a:pathLst>
                <a:path h="10588752" w="11148060">
                  <a:moveTo>
                    <a:pt x="0" y="0"/>
                  </a:moveTo>
                  <a:lnTo>
                    <a:pt x="11148060" y="0"/>
                  </a:lnTo>
                  <a:lnTo>
                    <a:pt x="11148060" y="10588752"/>
                  </a:lnTo>
                  <a:lnTo>
                    <a:pt x="0" y="10588752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50800" y="0"/>
              <a:ext cx="11198860" cy="10690352"/>
            </a:xfrm>
            <a:custGeom>
              <a:avLst/>
              <a:gdLst/>
              <a:ahLst/>
              <a:cxnLst/>
              <a:rect r="r" b="b" t="t" l="l"/>
              <a:pathLst>
                <a:path h="10690352" w="11198860">
                  <a:moveTo>
                    <a:pt x="0" y="0"/>
                  </a:moveTo>
                  <a:lnTo>
                    <a:pt x="11148060" y="0"/>
                  </a:lnTo>
                  <a:cubicBezTo>
                    <a:pt x="11176127" y="0"/>
                    <a:pt x="11198860" y="22733"/>
                    <a:pt x="11198860" y="50800"/>
                  </a:cubicBezTo>
                  <a:lnTo>
                    <a:pt x="11198860" y="10639552"/>
                  </a:lnTo>
                  <a:cubicBezTo>
                    <a:pt x="11198860" y="10667619"/>
                    <a:pt x="11176127" y="10690352"/>
                    <a:pt x="11148060" y="10690352"/>
                  </a:cubicBezTo>
                  <a:lnTo>
                    <a:pt x="0" y="10690352"/>
                  </a:lnTo>
                  <a:lnTo>
                    <a:pt x="0" y="10588752"/>
                  </a:lnTo>
                  <a:lnTo>
                    <a:pt x="11148060" y="10588752"/>
                  </a:lnTo>
                  <a:lnTo>
                    <a:pt x="11148060" y="10639552"/>
                  </a:lnTo>
                  <a:lnTo>
                    <a:pt x="11097260" y="10639552"/>
                  </a:lnTo>
                  <a:lnTo>
                    <a:pt x="11097260" y="50800"/>
                  </a:lnTo>
                  <a:lnTo>
                    <a:pt x="11148060" y="50800"/>
                  </a:lnTo>
                  <a:lnTo>
                    <a:pt x="1114806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640262" y="2618413"/>
            <a:ext cx="803243" cy="803243"/>
            <a:chOff x="0" y="0"/>
            <a:chExt cx="1070991" cy="107099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50800" y="50800"/>
              <a:ext cx="969391" cy="969391"/>
            </a:xfrm>
            <a:custGeom>
              <a:avLst/>
              <a:gdLst/>
              <a:ahLst/>
              <a:cxnLst/>
              <a:rect r="r" b="b" t="t" l="l"/>
              <a:pathLst>
                <a:path h="969391" w="969391">
                  <a:moveTo>
                    <a:pt x="0" y="0"/>
                  </a:moveTo>
                  <a:lnTo>
                    <a:pt x="969391" y="0"/>
                  </a:lnTo>
                  <a:lnTo>
                    <a:pt x="969391" y="969391"/>
                  </a:lnTo>
                  <a:lnTo>
                    <a:pt x="0" y="969391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50800" y="0"/>
              <a:ext cx="1020191" cy="1070991"/>
            </a:xfrm>
            <a:custGeom>
              <a:avLst/>
              <a:gdLst/>
              <a:ahLst/>
              <a:cxnLst/>
              <a:rect r="r" b="b" t="t" l="l"/>
              <a:pathLst>
                <a:path h="1070991" w="1020191">
                  <a:moveTo>
                    <a:pt x="0" y="0"/>
                  </a:moveTo>
                  <a:lnTo>
                    <a:pt x="969391" y="0"/>
                  </a:lnTo>
                  <a:cubicBezTo>
                    <a:pt x="997458" y="0"/>
                    <a:pt x="1020191" y="22733"/>
                    <a:pt x="1020191" y="50800"/>
                  </a:cubicBezTo>
                  <a:lnTo>
                    <a:pt x="1020191" y="1020191"/>
                  </a:lnTo>
                  <a:cubicBezTo>
                    <a:pt x="1020191" y="1048258"/>
                    <a:pt x="997458" y="1070991"/>
                    <a:pt x="969391" y="1070991"/>
                  </a:cubicBezTo>
                  <a:lnTo>
                    <a:pt x="0" y="1070991"/>
                  </a:lnTo>
                  <a:lnTo>
                    <a:pt x="0" y="969391"/>
                  </a:lnTo>
                  <a:lnTo>
                    <a:pt x="969391" y="969391"/>
                  </a:lnTo>
                  <a:lnTo>
                    <a:pt x="969391" y="1020191"/>
                  </a:lnTo>
                  <a:lnTo>
                    <a:pt x="918591" y="1020191"/>
                  </a:lnTo>
                  <a:lnTo>
                    <a:pt x="918591" y="50800"/>
                  </a:lnTo>
                  <a:lnTo>
                    <a:pt x="969391" y="50800"/>
                  </a:lnTo>
                  <a:lnTo>
                    <a:pt x="969391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9853136" y="2852261"/>
            <a:ext cx="377504" cy="335556"/>
          </a:xfrm>
          <a:custGeom>
            <a:avLst/>
            <a:gdLst/>
            <a:ahLst/>
            <a:cxnLst/>
            <a:rect r="r" b="b" t="t" l="l"/>
            <a:pathLst>
              <a:path h="335556" w="377504">
                <a:moveTo>
                  <a:pt x="0" y="0"/>
                </a:moveTo>
                <a:lnTo>
                  <a:pt x="377505" y="0"/>
                </a:lnTo>
                <a:lnTo>
                  <a:pt x="377505" y="335556"/>
                </a:lnTo>
                <a:lnTo>
                  <a:pt x="0" y="3355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0601154" y="2768365"/>
            <a:ext cx="3649208" cy="503339"/>
            <a:chOff x="0" y="0"/>
            <a:chExt cx="4865611" cy="67111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865614" cy="671120"/>
            </a:xfrm>
            <a:custGeom>
              <a:avLst/>
              <a:gdLst/>
              <a:ahLst/>
              <a:cxnLst/>
              <a:rect r="r" b="b" t="t" l="l"/>
              <a:pathLst>
                <a:path h="671120" w="4865614">
                  <a:moveTo>
                    <a:pt x="0" y="0"/>
                  </a:moveTo>
                  <a:lnTo>
                    <a:pt x="4865614" y="0"/>
                  </a:lnTo>
                  <a:lnTo>
                    <a:pt x="4865614" y="671120"/>
                  </a:lnTo>
                  <a:lnTo>
                    <a:pt x="0" y="67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266" r="0" b="-9126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4865611" cy="6996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3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Advantage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40262" y="3625091"/>
            <a:ext cx="7766114" cy="4774035"/>
            <a:chOff x="0" y="0"/>
            <a:chExt cx="10354818" cy="63653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800" y="50800"/>
              <a:ext cx="10253218" cy="6263767"/>
            </a:xfrm>
            <a:custGeom>
              <a:avLst/>
              <a:gdLst/>
              <a:ahLst/>
              <a:cxnLst/>
              <a:rect r="r" b="b" t="t" l="l"/>
              <a:pathLst>
                <a:path h="6263767" w="10253218">
                  <a:moveTo>
                    <a:pt x="0" y="0"/>
                  </a:moveTo>
                  <a:lnTo>
                    <a:pt x="10253218" y="0"/>
                  </a:lnTo>
                  <a:lnTo>
                    <a:pt x="10253218" y="6263767"/>
                  </a:lnTo>
                  <a:lnTo>
                    <a:pt x="0" y="6263767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50800" y="0"/>
              <a:ext cx="10304018" cy="6365367"/>
            </a:xfrm>
            <a:custGeom>
              <a:avLst/>
              <a:gdLst/>
              <a:ahLst/>
              <a:cxnLst/>
              <a:rect r="r" b="b" t="t" l="l"/>
              <a:pathLst>
                <a:path h="6365367" w="10304018">
                  <a:moveTo>
                    <a:pt x="0" y="0"/>
                  </a:moveTo>
                  <a:lnTo>
                    <a:pt x="10253218" y="0"/>
                  </a:lnTo>
                  <a:cubicBezTo>
                    <a:pt x="10281286" y="0"/>
                    <a:pt x="10304018" y="22733"/>
                    <a:pt x="10304018" y="50800"/>
                  </a:cubicBezTo>
                  <a:lnTo>
                    <a:pt x="10304018" y="6314567"/>
                  </a:lnTo>
                  <a:cubicBezTo>
                    <a:pt x="10304018" y="6342634"/>
                    <a:pt x="10281286" y="6365367"/>
                    <a:pt x="10253218" y="6365367"/>
                  </a:cubicBezTo>
                  <a:lnTo>
                    <a:pt x="0" y="6365367"/>
                  </a:lnTo>
                  <a:lnTo>
                    <a:pt x="0" y="6263767"/>
                  </a:lnTo>
                  <a:lnTo>
                    <a:pt x="10253218" y="6263767"/>
                  </a:lnTo>
                  <a:lnTo>
                    <a:pt x="10253218" y="6314567"/>
                  </a:lnTo>
                  <a:lnTo>
                    <a:pt x="10202418" y="6314567"/>
                  </a:lnTo>
                  <a:lnTo>
                    <a:pt x="10202418" y="50800"/>
                  </a:lnTo>
                  <a:lnTo>
                    <a:pt x="10253218" y="50800"/>
                  </a:lnTo>
                  <a:lnTo>
                    <a:pt x="1025321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985953" y="3970792"/>
            <a:ext cx="7242496" cy="447408"/>
            <a:chOff x="0" y="0"/>
            <a:chExt cx="9656661" cy="5965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656660" cy="596550"/>
            </a:xfrm>
            <a:custGeom>
              <a:avLst/>
              <a:gdLst/>
              <a:ahLst/>
              <a:cxnLst/>
              <a:rect r="r" b="b" t="t" l="l"/>
              <a:pathLst>
                <a:path h="596550" w="9656660">
                  <a:moveTo>
                    <a:pt x="0" y="0"/>
                  </a:moveTo>
                  <a:lnTo>
                    <a:pt x="9656660" y="0"/>
                  </a:lnTo>
                  <a:lnTo>
                    <a:pt x="9656660" y="596550"/>
                  </a:lnTo>
                  <a:lnTo>
                    <a:pt x="0" y="596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5414" r="0" b="-26541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656661" cy="6441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86"/>
                </a:lnSpc>
              </a:pPr>
              <a:r>
                <a:rPr lang="en-US" sz="2641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Combines DAA + Visualization + Tracking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985953" y="4585983"/>
            <a:ext cx="7200548" cy="1230382"/>
            <a:chOff x="0" y="0"/>
            <a:chExt cx="9600730" cy="164051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600734" cy="1640514"/>
            </a:xfrm>
            <a:custGeom>
              <a:avLst/>
              <a:gdLst/>
              <a:ahLst/>
              <a:cxnLst/>
              <a:rect r="r" b="b" t="t" l="l"/>
              <a:pathLst>
                <a:path h="1640514" w="9600734">
                  <a:moveTo>
                    <a:pt x="0" y="0"/>
                  </a:moveTo>
                  <a:lnTo>
                    <a:pt x="9600734" y="0"/>
                  </a:lnTo>
                  <a:lnTo>
                    <a:pt x="9600734" y="1640514"/>
                  </a:lnTo>
                  <a:lnTo>
                    <a:pt x="0" y="16405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031" r="0" b="-64031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14300"/>
              <a:ext cx="9600730" cy="17548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8"/>
                </a:lnSpc>
              </a:pPr>
              <a:r>
                <a:rPr lang="en-US" sz="1981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Unlike existing solutions that focus on individual aspects, our system </a:t>
              </a:r>
              <a:r>
                <a:rPr lang="en-US" sz="1981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integrates three critical components</a:t>
              </a:r>
              <a:r>
                <a:rPr lang="en-US" sz="1981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 into a unified platform: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978352" y="6028973"/>
            <a:ext cx="574472" cy="574472"/>
            <a:chOff x="0" y="0"/>
            <a:chExt cx="765962" cy="76596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38100" y="38100"/>
              <a:ext cx="689737" cy="689737"/>
            </a:xfrm>
            <a:custGeom>
              <a:avLst/>
              <a:gdLst/>
              <a:ahLst/>
              <a:cxnLst/>
              <a:rect r="r" b="b" t="t" l="l"/>
              <a:pathLst>
                <a:path h="689737" w="689737">
                  <a:moveTo>
                    <a:pt x="0" y="0"/>
                  </a:moveTo>
                  <a:lnTo>
                    <a:pt x="689737" y="0"/>
                  </a:lnTo>
                  <a:lnTo>
                    <a:pt x="689737" y="689737"/>
                  </a:lnTo>
                  <a:lnTo>
                    <a:pt x="0" y="689737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38100" y="0"/>
              <a:ext cx="727837" cy="765937"/>
            </a:xfrm>
            <a:custGeom>
              <a:avLst/>
              <a:gdLst/>
              <a:ahLst/>
              <a:cxnLst/>
              <a:rect r="r" b="b" t="t" l="l"/>
              <a:pathLst>
                <a:path h="765937" w="727837">
                  <a:moveTo>
                    <a:pt x="0" y="0"/>
                  </a:moveTo>
                  <a:lnTo>
                    <a:pt x="689737" y="0"/>
                  </a:lnTo>
                  <a:cubicBezTo>
                    <a:pt x="710819" y="0"/>
                    <a:pt x="727837" y="17018"/>
                    <a:pt x="727837" y="38100"/>
                  </a:cubicBezTo>
                  <a:lnTo>
                    <a:pt x="727837" y="727837"/>
                  </a:lnTo>
                  <a:cubicBezTo>
                    <a:pt x="727837" y="748919"/>
                    <a:pt x="710819" y="765937"/>
                    <a:pt x="689737" y="765937"/>
                  </a:cubicBezTo>
                  <a:lnTo>
                    <a:pt x="0" y="765937"/>
                  </a:lnTo>
                  <a:lnTo>
                    <a:pt x="0" y="689737"/>
                  </a:lnTo>
                  <a:lnTo>
                    <a:pt x="689737" y="689737"/>
                  </a:lnTo>
                  <a:lnTo>
                    <a:pt x="689737" y="727837"/>
                  </a:lnTo>
                  <a:lnTo>
                    <a:pt x="651637" y="727837"/>
                  </a:lnTo>
                  <a:lnTo>
                    <a:pt x="651637" y="38100"/>
                  </a:lnTo>
                  <a:lnTo>
                    <a:pt x="689737" y="38100"/>
                  </a:lnTo>
                  <a:lnTo>
                    <a:pt x="68973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92" id="92"/>
          <p:cNvSpPr/>
          <p:nvPr/>
        </p:nvSpPr>
        <p:spPr>
          <a:xfrm flipH="false" flipV="false" rot="0">
            <a:off x="10153736" y="6204356"/>
            <a:ext cx="223704" cy="223704"/>
          </a:xfrm>
          <a:custGeom>
            <a:avLst/>
            <a:gdLst/>
            <a:ahLst/>
            <a:cxnLst/>
            <a:rect r="r" b="b" t="t" l="l"/>
            <a:pathLst>
              <a:path h="223704" w="223704">
                <a:moveTo>
                  <a:pt x="0" y="0"/>
                </a:moveTo>
                <a:lnTo>
                  <a:pt x="223704" y="0"/>
                </a:lnTo>
                <a:lnTo>
                  <a:pt x="223704" y="223705"/>
                </a:lnTo>
                <a:lnTo>
                  <a:pt x="0" y="2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0713006" y="6120470"/>
            <a:ext cx="2639104" cy="482975"/>
            <a:chOff x="0" y="0"/>
            <a:chExt cx="2852255" cy="521983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852256" cy="521982"/>
            </a:xfrm>
            <a:custGeom>
              <a:avLst/>
              <a:gdLst/>
              <a:ahLst/>
              <a:cxnLst/>
              <a:rect r="r" b="b" t="t" l="l"/>
              <a:pathLst>
                <a:path h="521982" w="2852256">
                  <a:moveTo>
                    <a:pt x="0" y="0"/>
                  </a:moveTo>
                  <a:lnTo>
                    <a:pt x="2852256" y="0"/>
                  </a:lnTo>
                  <a:lnTo>
                    <a:pt x="2852256" y="521982"/>
                  </a:lnTo>
                  <a:lnTo>
                    <a:pt x="0" y="521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471" r="0" b="-56471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85725"/>
              <a:ext cx="2852255" cy="607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1"/>
                </a:lnSpc>
              </a:pPr>
              <a:r>
                <a:rPr lang="en-US" sz="1981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Dijkstra Algorithm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978352" y="6756025"/>
            <a:ext cx="574472" cy="574472"/>
            <a:chOff x="0" y="0"/>
            <a:chExt cx="765962" cy="76596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38100" y="38100"/>
              <a:ext cx="689737" cy="689737"/>
            </a:xfrm>
            <a:custGeom>
              <a:avLst/>
              <a:gdLst/>
              <a:ahLst/>
              <a:cxnLst/>
              <a:rect r="r" b="b" t="t" l="l"/>
              <a:pathLst>
                <a:path h="689737" w="689737">
                  <a:moveTo>
                    <a:pt x="0" y="0"/>
                  </a:moveTo>
                  <a:lnTo>
                    <a:pt x="689737" y="0"/>
                  </a:lnTo>
                  <a:lnTo>
                    <a:pt x="689737" y="689737"/>
                  </a:lnTo>
                  <a:lnTo>
                    <a:pt x="0" y="689737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38100" y="0"/>
              <a:ext cx="727837" cy="765937"/>
            </a:xfrm>
            <a:custGeom>
              <a:avLst/>
              <a:gdLst/>
              <a:ahLst/>
              <a:cxnLst/>
              <a:rect r="r" b="b" t="t" l="l"/>
              <a:pathLst>
                <a:path h="765937" w="727837">
                  <a:moveTo>
                    <a:pt x="0" y="0"/>
                  </a:moveTo>
                  <a:lnTo>
                    <a:pt x="689737" y="0"/>
                  </a:lnTo>
                  <a:cubicBezTo>
                    <a:pt x="710819" y="0"/>
                    <a:pt x="727837" y="17018"/>
                    <a:pt x="727837" y="38100"/>
                  </a:cubicBezTo>
                  <a:lnTo>
                    <a:pt x="727837" y="727837"/>
                  </a:lnTo>
                  <a:cubicBezTo>
                    <a:pt x="727837" y="748919"/>
                    <a:pt x="710819" y="765937"/>
                    <a:pt x="689737" y="765937"/>
                  </a:cubicBezTo>
                  <a:lnTo>
                    <a:pt x="0" y="765937"/>
                  </a:lnTo>
                  <a:lnTo>
                    <a:pt x="0" y="689737"/>
                  </a:lnTo>
                  <a:lnTo>
                    <a:pt x="689737" y="689737"/>
                  </a:lnTo>
                  <a:lnTo>
                    <a:pt x="689737" y="727837"/>
                  </a:lnTo>
                  <a:lnTo>
                    <a:pt x="651637" y="727837"/>
                  </a:lnTo>
                  <a:lnTo>
                    <a:pt x="651637" y="38100"/>
                  </a:lnTo>
                  <a:lnTo>
                    <a:pt x="689737" y="38100"/>
                  </a:lnTo>
                  <a:lnTo>
                    <a:pt x="68973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99" id="99"/>
          <p:cNvSpPr/>
          <p:nvPr/>
        </p:nvSpPr>
        <p:spPr>
          <a:xfrm flipH="false" flipV="false" rot="0">
            <a:off x="10139753" y="6931400"/>
            <a:ext cx="251670" cy="223704"/>
          </a:xfrm>
          <a:custGeom>
            <a:avLst/>
            <a:gdLst/>
            <a:ahLst/>
            <a:cxnLst/>
            <a:rect r="r" b="b" t="t" l="l"/>
            <a:pathLst>
              <a:path h="223704" w="251670">
                <a:moveTo>
                  <a:pt x="0" y="0"/>
                </a:moveTo>
                <a:lnTo>
                  <a:pt x="251670" y="0"/>
                </a:lnTo>
                <a:lnTo>
                  <a:pt x="251670" y="223704"/>
                </a:lnTo>
                <a:lnTo>
                  <a:pt x="0" y="2237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10713006" y="6847513"/>
            <a:ext cx="3179908" cy="442973"/>
            <a:chOff x="0" y="0"/>
            <a:chExt cx="3747084" cy="521983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747082" cy="521982"/>
            </a:xfrm>
            <a:custGeom>
              <a:avLst/>
              <a:gdLst/>
              <a:ahLst/>
              <a:cxnLst/>
              <a:rect r="r" b="b" t="t" l="l"/>
              <a:pathLst>
                <a:path h="521982" w="3747082">
                  <a:moveTo>
                    <a:pt x="0" y="0"/>
                  </a:moveTo>
                  <a:lnTo>
                    <a:pt x="3747082" y="0"/>
                  </a:lnTo>
                  <a:lnTo>
                    <a:pt x="3747082" y="521982"/>
                  </a:lnTo>
                  <a:lnTo>
                    <a:pt x="0" y="521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874" r="0" b="-8987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85725"/>
              <a:ext cx="3747084" cy="607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1"/>
                </a:lnSpc>
              </a:pPr>
              <a:r>
                <a:rPr lang="en-US" sz="1981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Interactive Visualization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978352" y="7483069"/>
            <a:ext cx="574472" cy="574472"/>
            <a:chOff x="0" y="0"/>
            <a:chExt cx="765962" cy="76596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38100" y="38100"/>
              <a:ext cx="689737" cy="689737"/>
            </a:xfrm>
            <a:custGeom>
              <a:avLst/>
              <a:gdLst/>
              <a:ahLst/>
              <a:cxnLst/>
              <a:rect r="r" b="b" t="t" l="l"/>
              <a:pathLst>
                <a:path h="689737" w="689737">
                  <a:moveTo>
                    <a:pt x="0" y="0"/>
                  </a:moveTo>
                  <a:lnTo>
                    <a:pt x="689737" y="0"/>
                  </a:lnTo>
                  <a:lnTo>
                    <a:pt x="689737" y="689737"/>
                  </a:lnTo>
                  <a:lnTo>
                    <a:pt x="0" y="689737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38100" y="0"/>
              <a:ext cx="727837" cy="765937"/>
            </a:xfrm>
            <a:custGeom>
              <a:avLst/>
              <a:gdLst/>
              <a:ahLst/>
              <a:cxnLst/>
              <a:rect r="r" b="b" t="t" l="l"/>
              <a:pathLst>
                <a:path h="765937" w="727837">
                  <a:moveTo>
                    <a:pt x="0" y="0"/>
                  </a:moveTo>
                  <a:lnTo>
                    <a:pt x="689737" y="0"/>
                  </a:lnTo>
                  <a:cubicBezTo>
                    <a:pt x="710819" y="0"/>
                    <a:pt x="727837" y="17018"/>
                    <a:pt x="727837" y="38100"/>
                  </a:cubicBezTo>
                  <a:lnTo>
                    <a:pt x="727837" y="727837"/>
                  </a:lnTo>
                  <a:cubicBezTo>
                    <a:pt x="727837" y="748919"/>
                    <a:pt x="710819" y="765937"/>
                    <a:pt x="689737" y="765937"/>
                  </a:cubicBezTo>
                  <a:lnTo>
                    <a:pt x="0" y="765937"/>
                  </a:lnTo>
                  <a:lnTo>
                    <a:pt x="0" y="689737"/>
                  </a:lnTo>
                  <a:lnTo>
                    <a:pt x="689737" y="689737"/>
                  </a:lnTo>
                  <a:lnTo>
                    <a:pt x="689737" y="727837"/>
                  </a:lnTo>
                  <a:lnTo>
                    <a:pt x="651637" y="727837"/>
                  </a:lnTo>
                  <a:lnTo>
                    <a:pt x="651637" y="38100"/>
                  </a:lnTo>
                  <a:lnTo>
                    <a:pt x="689737" y="38100"/>
                  </a:lnTo>
                  <a:lnTo>
                    <a:pt x="689737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106" id="106"/>
          <p:cNvSpPr/>
          <p:nvPr/>
        </p:nvSpPr>
        <p:spPr>
          <a:xfrm flipH="false" flipV="false" rot="0">
            <a:off x="10153736" y="7658452"/>
            <a:ext cx="223704" cy="223704"/>
          </a:xfrm>
          <a:custGeom>
            <a:avLst/>
            <a:gdLst/>
            <a:ahLst/>
            <a:cxnLst/>
            <a:rect r="r" b="b" t="t" l="l"/>
            <a:pathLst>
              <a:path h="223704" w="223704">
                <a:moveTo>
                  <a:pt x="0" y="0"/>
                </a:moveTo>
                <a:lnTo>
                  <a:pt x="223704" y="0"/>
                </a:lnTo>
                <a:lnTo>
                  <a:pt x="223704" y="223705"/>
                </a:lnTo>
                <a:lnTo>
                  <a:pt x="0" y="22370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10713006" y="7574556"/>
            <a:ext cx="3012148" cy="517425"/>
            <a:chOff x="0" y="0"/>
            <a:chExt cx="3038678" cy="52198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038678" cy="521982"/>
            </a:xfrm>
            <a:custGeom>
              <a:avLst/>
              <a:gdLst/>
              <a:ahLst/>
              <a:cxnLst/>
              <a:rect r="r" b="b" t="t" l="l"/>
              <a:pathLst>
                <a:path h="521982" w="3038678">
                  <a:moveTo>
                    <a:pt x="0" y="0"/>
                  </a:moveTo>
                  <a:lnTo>
                    <a:pt x="3038678" y="0"/>
                  </a:lnTo>
                  <a:lnTo>
                    <a:pt x="3038678" y="521982"/>
                  </a:lnTo>
                  <a:lnTo>
                    <a:pt x="0" y="52198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430" r="0" b="-6343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85725"/>
              <a:ext cx="3038678" cy="607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91"/>
                </a:lnSpc>
              </a:pPr>
              <a:r>
                <a:rPr lang="en-US" sz="1981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Real-Time Tracking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640262" y="8599065"/>
            <a:ext cx="7766114" cy="1362513"/>
            <a:chOff x="0" y="0"/>
            <a:chExt cx="10354818" cy="1816684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50800" y="50800"/>
              <a:ext cx="10253218" cy="1715135"/>
            </a:xfrm>
            <a:custGeom>
              <a:avLst/>
              <a:gdLst/>
              <a:ahLst/>
              <a:cxnLst/>
              <a:rect r="r" b="b" t="t" l="l"/>
              <a:pathLst>
                <a:path h="1715135" w="10253218">
                  <a:moveTo>
                    <a:pt x="0" y="0"/>
                  </a:moveTo>
                  <a:lnTo>
                    <a:pt x="10253218" y="0"/>
                  </a:lnTo>
                  <a:lnTo>
                    <a:pt x="10253218" y="1715135"/>
                  </a:lnTo>
                  <a:lnTo>
                    <a:pt x="0" y="1715135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50800" y="0"/>
              <a:ext cx="10304018" cy="1816735"/>
            </a:xfrm>
            <a:custGeom>
              <a:avLst/>
              <a:gdLst/>
              <a:ahLst/>
              <a:cxnLst/>
              <a:rect r="r" b="b" t="t" l="l"/>
              <a:pathLst>
                <a:path h="1816735" w="10304018">
                  <a:moveTo>
                    <a:pt x="0" y="0"/>
                  </a:moveTo>
                  <a:lnTo>
                    <a:pt x="10253218" y="0"/>
                  </a:lnTo>
                  <a:cubicBezTo>
                    <a:pt x="10281286" y="0"/>
                    <a:pt x="10304018" y="22733"/>
                    <a:pt x="10304018" y="50800"/>
                  </a:cubicBezTo>
                  <a:lnTo>
                    <a:pt x="10304018" y="1765935"/>
                  </a:lnTo>
                  <a:cubicBezTo>
                    <a:pt x="10304018" y="1794002"/>
                    <a:pt x="10281286" y="1816735"/>
                    <a:pt x="10253218" y="1816735"/>
                  </a:cubicBezTo>
                  <a:lnTo>
                    <a:pt x="0" y="1816735"/>
                  </a:lnTo>
                  <a:lnTo>
                    <a:pt x="0" y="1715135"/>
                  </a:lnTo>
                  <a:lnTo>
                    <a:pt x="10253218" y="1715135"/>
                  </a:lnTo>
                  <a:lnTo>
                    <a:pt x="10253218" y="1765935"/>
                  </a:lnTo>
                  <a:lnTo>
                    <a:pt x="10202418" y="1765935"/>
                  </a:lnTo>
                  <a:lnTo>
                    <a:pt x="10202418" y="50800"/>
                  </a:lnTo>
                  <a:lnTo>
                    <a:pt x="10253218" y="50800"/>
                  </a:lnTo>
                  <a:lnTo>
                    <a:pt x="10253218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113" id="113"/>
          <p:cNvSpPr/>
          <p:nvPr/>
        </p:nvSpPr>
        <p:spPr>
          <a:xfrm flipH="false" flipV="false" rot="0">
            <a:off x="10636758" y="8958739"/>
            <a:ext cx="188757" cy="251670"/>
          </a:xfrm>
          <a:custGeom>
            <a:avLst/>
            <a:gdLst/>
            <a:ahLst/>
            <a:cxnLst/>
            <a:rect r="r" b="b" t="t" l="l"/>
            <a:pathLst>
              <a:path h="251670" w="188757">
                <a:moveTo>
                  <a:pt x="0" y="0"/>
                </a:moveTo>
                <a:lnTo>
                  <a:pt x="188757" y="0"/>
                </a:lnTo>
                <a:lnTo>
                  <a:pt x="188757" y="251669"/>
                </a:lnTo>
                <a:lnTo>
                  <a:pt x="0" y="25166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10270788" y="8888835"/>
            <a:ext cx="6908730" cy="782974"/>
            <a:chOff x="0" y="0"/>
            <a:chExt cx="9211640" cy="1043965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211642" cy="1043964"/>
            </a:xfrm>
            <a:custGeom>
              <a:avLst/>
              <a:gdLst/>
              <a:ahLst/>
              <a:cxnLst/>
              <a:rect r="r" b="b" t="t" l="l"/>
              <a:pathLst>
                <a:path h="1043964" w="9211642">
                  <a:moveTo>
                    <a:pt x="0" y="0"/>
                  </a:moveTo>
                  <a:lnTo>
                    <a:pt x="9211642" y="0"/>
                  </a:lnTo>
                  <a:lnTo>
                    <a:pt x="9211642" y="1043964"/>
                  </a:lnTo>
                  <a:lnTo>
                    <a:pt x="0" y="10439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930" r="0" b="-12193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85725"/>
              <a:ext cx="9211640" cy="1129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91"/>
                </a:lnSpc>
              </a:pPr>
              <a:r>
                <a:rPr lang="en-US" sz="1981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Holistic approach providing end-to-end logistics optimization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708981" y="-435769"/>
            <a:ext cx="1443038" cy="1443038"/>
            <a:chOff x="0" y="0"/>
            <a:chExt cx="1924050" cy="1924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847850" cy="1847850"/>
            </a:xfrm>
            <a:custGeom>
              <a:avLst/>
              <a:gdLst/>
              <a:ahLst/>
              <a:cxnLst/>
              <a:rect r="r" b="b" t="t" l="l"/>
              <a:pathLst>
                <a:path h="1847850" w="1847850">
                  <a:moveTo>
                    <a:pt x="0" y="923925"/>
                  </a:moveTo>
                  <a:cubicBezTo>
                    <a:pt x="0" y="413639"/>
                    <a:pt x="413639" y="0"/>
                    <a:pt x="923925" y="0"/>
                  </a:cubicBezTo>
                  <a:cubicBezTo>
                    <a:pt x="1434211" y="0"/>
                    <a:pt x="1847850" y="413639"/>
                    <a:pt x="1847850" y="923925"/>
                  </a:cubicBezTo>
                  <a:cubicBezTo>
                    <a:pt x="1847850" y="1434211"/>
                    <a:pt x="1434211" y="1847850"/>
                    <a:pt x="923925" y="1847850"/>
                  </a:cubicBezTo>
                  <a:cubicBezTo>
                    <a:pt x="413639" y="1847850"/>
                    <a:pt x="0" y="1434211"/>
                    <a:pt x="0" y="923925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4050" cy="1924050"/>
            </a:xfrm>
            <a:custGeom>
              <a:avLst/>
              <a:gdLst/>
              <a:ahLst/>
              <a:cxnLst/>
              <a:rect r="r" b="b" t="t" l="l"/>
              <a:pathLst>
                <a:path h="1924050" w="1924050">
                  <a:moveTo>
                    <a:pt x="0" y="962025"/>
                  </a:moveTo>
                  <a:cubicBezTo>
                    <a:pt x="0" y="430657"/>
                    <a:pt x="430657" y="0"/>
                    <a:pt x="962025" y="0"/>
                  </a:cubicBezTo>
                  <a:cubicBezTo>
                    <a:pt x="969137" y="0"/>
                    <a:pt x="976122" y="2032"/>
                    <a:pt x="982218" y="5842"/>
                  </a:cubicBezTo>
                  <a:lnTo>
                    <a:pt x="962025" y="38100"/>
                  </a:lnTo>
                  <a:lnTo>
                    <a:pt x="962025" y="0"/>
                  </a:lnTo>
                  <a:lnTo>
                    <a:pt x="962025" y="38100"/>
                  </a:lnTo>
                  <a:lnTo>
                    <a:pt x="962025" y="0"/>
                  </a:lnTo>
                  <a:cubicBezTo>
                    <a:pt x="1493393" y="0"/>
                    <a:pt x="1924050" y="430657"/>
                    <a:pt x="1924050" y="962025"/>
                  </a:cubicBezTo>
                  <a:cubicBezTo>
                    <a:pt x="1924050" y="976503"/>
                    <a:pt x="1915922" y="989711"/>
                    <a:pt x="1902968" y="996061"/>
                  </a:cubicBezTo>
                  <a:lnTo>
                    <a:pt x="1885950" y="962025"/>
                  </a:lnTo>
                  <a:lnTo>
                    <a:pt x="1924050" y="962025"/>
                  </a:lnTo>
                  <a:cubicBezTo>
                    <a:pt x="1924050" y="1493393"/>
                    <a:pt x="1493393" y="1924050"/>
                    <a:pt x="962025" y="1924050"/>
                  </a:cubicBezTo>
                  <a:lnTo>
                    <a:pt x="962025" y="1885950"/>
                  </a:lnTo>
                  <a:lnTo>
                    <a:pt x="962025" y="1924050"/>
                  </a:lnTo>
                  <a:lnTo>
                    <a:pt x="962025" y="1885950"/>
                  </a:lnTo>
                  <a:lnTo>
                    <a:pt x="962025" y="1924050"/>
                  </a:lnTo>
                  <a:cubicBezTo>
                    <a:pt x="430657" y="1924050"/>
                    <a:pt x="0" y="1493393"/>
                    <a:pt x="0" y="962025"/>
                  </a:cubicBezTo>
                  <a:cubicBezTo>
                    <a:pt x="0" y="954913"/>
                    <a:pt x="2032" y="947928"/>
                    <a:pt x="5842" y="941832"/>
                  </a:cubicBezTo>
                  <a:lnTo>
                    <a:pt x="38100" y="962025"/>
                  </a:lnTo>
                  <a:lnTo>
                    <a:pt x="0" y="962025"/>
                  </a:lnTo>
                  <a:moveTo>
                    <a:pt x="76200" y="962025"/>
                  </a:moveTo>
                  <a:cubicBezTo>
                    <a:pt x="76200" y="969137"/>
                    <a:pt x="74168" y="976122"/>
                    <a:pt x="70358" y="982218"/>
                  </a:cubicBezTo>
                  <a:lnTo>
                    <a:pt x="38100" y="962025"/>
                  </a:lnTo>
                  <a:lnTo>
                    <a:pt x="76200" y="962025"/>
                  </a:lnTo>
                  <a:cubicBezTo>
                    <a:pt x="76200" y="1451229"/>
                    <a:pt x="472821" y="1847850"/>
                    <a:pt x="962025" y="1847850"/>
                  </a:cubicBezTo>
                  <a:cubicBezTo>
                    <a:pt x="1451229" y="1847850"/>
                    <a:pt x="1847850" y="1451229"/>
                    <a:pt x="1847850" y="962025"/>
                  </a:cubicBezTo>
                  <a:cubicBezTo>
                    <a:pt x="1847850" y="947547"/>
                    <a:pt x="1855978" y="934339"/>
                    <a:pt x="1868932" y="927989"/>
                  </a:cubicBezTo>
                  <a:lnTo>
                    <a:pt x="1885950" y="962025"/>
                  </a:lnTo>
                  <a:lnTo>
                    <a:pt x="1847850" y="962025"/>
                  </a:lnTo>
                  <a:cubicBezTo>
                    <a:pt x="1847850" y="472821"/>
                    <a:pt x="1451229" y="76200"/>
                    <a:pt x="962025" y="76200"/>
                  </a:cubicBezTo>
                  <a:cubicBezTo>
                    <a:pt x="954913" y="76200"/>
                    <a:pt x="947928" y="74168"/>
                    <a:pt x="941832" y="70358"/>
                  </a:cubicBezTo>
                  <a:lnTo>
                    <a:pt x="962025" y="38100"/>
                  </a:lnTo>
                  <a:lnTo>
                    <a:pt x="962025" y="76200"/>
                  </a:lnTo>
                  <a:cubicBezTo>
                    <a:pt x="472821" y="76200"/>
                    <a:pt x="76200" y="472821"/>
                    <a:pt x="76200" y="962025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1800000">
            <a:off x="667074" y="8382314"/>
            <a:ext cx="1014412" cy="1014412"/>
            <a:chOff x="0" y="0"/>
            <a:chExt cx="1352550" cy="13525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276350" cy="1276350"/>
            </a:xfrm>
            <a:custGeom>
              <a:avLst/>
              <a:gdLst/>
              <a:ahLst/>
              <a:cxnLst/>
              <a:rect r="r" b="b" t="t" l="l"/>
              <a:pathLst>
                <a:path h="1276350" w="1276350">
                  <a:moveTo>
                    <a:pt x="0" y="0"/>
                  </a:moveTo>
                  <a:lnTo>
                    <a:pt x="1276350" y="0"/>
                  </a:lnTo>
                  <a:lnTo>
                    <a:pt x="1276350" y="1276350"/>
                  </a:lnTo>
                  <a:lnTo>
                    <a:pt x="0" y="127635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00" y="0"/>
              <a:ext cx="1314450" cy="1352550"/>
            </a:xfrm>
            <a:custGeom>
              <a:avLst/>
              <a:gdLst/>
              <a:ahLst/>
              <a:cxnLst/>
              <a:rect r="r" b="b" t="t" l="l"/>
              <a:pathLst>
                <a:path h="1352550" w="1314450">
                  <a:moveTo>
                    <a:pt x="0" y="0"/>
                  </a:moveTo>
                  <a:lnTo>
                    <a:pt x="1276350" y="0"/>
                  </a:lnTo>
                  <a:cubicBezTo>
                    <a:pt x="1297432" y="0"/>
                    <a:pt x="1314450" y="17018"/>
                    <a:pt x="1314450" y="38100"/>
                  </a:cubicBezTo>
                  <a:lnTo>
                    <a:pt x="1314450" y="1314450"/>
                  </a:lnTo>
                  <a:cubicBezTo>
                    <a:pt x="1314450" y="1335532"/>
                    <a:pt x="1297432" y="1352550"/>
                    <a:pt x="1276350" y="1352550"/>
                  </a:cubicBezTo>
                  <a:lnTo>
                    <a:pt x="0" y="1352550"/>
                  </a:lnTo>
                  <a:lnTo>
                    <a:pt x="0" y="1276350"/>
                  </a:lnTo>
                  <a:lnTo>
                    <a:pt x="1276350" y="1276350"/>
                  </a:lnTo>
                  <a:lnTo>
                    <a:pt x="1276350" y="1314450"/>
                  </a:lnTo>
                  <a:lnTo>
                    <a:pt x="1238250" y="1314450"/>
                  </a:lnTo>
                  <a:lnTo>
                    <a:pt x="1238250" y="38100"/>
                  </a:lnTo>
                  <a:lnTo>
                    <a:pt x="1276350" y="38100"/>
                  </a:lnTo>
                  <a:lnTo>
                    <a:pt x="12763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900000">
            <a:off x="16771830" y="2484330"/>
            <a:ext cx="728662" cy="728662"/>
            <a:chOff x="0" y="0"/>
            <a:chExt cx="971550" cy="9715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895350" cy="895350"/>
            </a:xfrm>
            <a:custGeom>
              <a:avLst/>
              <a:gdLst/>
              <a:ahLst/>
              <a:cxnLst/>
              <a:rect r="r" b="b" t="t" l="l"/>
              <a:pathLst>
                <a:path h="895350" w="895350">
                  <a:moveTo>
                    <a:pt x="0" y="0"/>
                  </a:moveTo>
                  <a:lnTo>
                    <a:pt x="895350" y="0"/>
                  </a:lnTo>
                  <a:lnTo>
                    <a:pt x="895350" y="895350"/>
                  </a:lnTo>
                  <a:lnTo>
                    <a:pt x="0" y="89535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933450" cy="971550"/>
            </a:xfrm>
            <a:custGeom>
              <a:avLst/>
              <a:gdLst/>
              <a:ahLst/>
              <a:cxnLst/>
              <a:rect r="r" b="b" t="t" l="l"/>
              <a:pathLst>
                <a:path h="971550" w="933450">
                  <a:moveTo>
                    <a:pt x="0" y="0"/>
                  </a:moveTo>
                  <a:lnTo>
                    <a:pt x="895350" y="0"/>
                  </a:lnTo>
                  <a:cubicBezTo>
                    <a:pt x="916432" y="0"/>
                    <a:pt x="933450" y="17018"/>
                    <a:pt x="933450" y="38100"/>
                  </a:cubicBezTo>
                  <a:lnTo>
                    <a:pt x="933450" y="933450"/>
                  </a:lnTo>
                  <a:cubicBezTo>
                    <a:pt x="933450" y="954532"/>
                    <a:pt x="916432" y="971550"/>
                    <a:pt x="895350" y="971550"/>
                  </a:cubicBezTo>
                  <a:lnTo>
                    <a:pt x="0" y="971550"/>
                  </a:lnTo>
                  <a:lnTo>
                    <a:pt x="0" y="895350"/>
                  </a:lnTo>
                  <a:lnTo>
                    <a:pt x="895350" y="895350"/>
                  </a:lnTo>
                  <a:lnTo>
                    <a:pt x="895350" y="933450"/>
                  </a:lnTo>
                  <a:lnTo>
                    <a:pt x="857250" y="933450"/>
                  </a:lnTo>
                  <a:lnTo>
                    <a:pt x="857250" y="38100"/>
                  </a:lnTo>
                  <a:lnTo>
                    <a:pt x="895350" y="38100"/>
                  </a:lnTo>
                  <a:lnTo>
                    <a:pt x="8953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1975" y="561975"/>
            <a:ext cx="2362200" cy="704850"/>
            <a:chOff x="0" y="0"/>
            <a:chExt cx="3149600" cy="93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048000" cy="838200"/>
            </a:xfrm>
            <a:custGeom>
              <a:avLst/>
              <a:gdLst/>
              <a:ahLst/>
              <a:cxnLst/>
              <a:rect r="r" b="b" t="t" l="l"/>
              <a:pathLst>
                <a:path h="838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838200"/>
                  </a:lnTo>
                  <a:lnTo>
                    <a:pt x="0" y="8382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098800" cy="939800"/>
            </a:xfrm>
            <a:custGeom>
              <a:avLst/>
              <a:gdLst/>
              <a:ahLst/>
              <a:cxnLst/>
              <a:rect r="r" b="b" t="t" l="l"/>
              <a:pathLst>
                <a:path h="939800" w="3098800">
                  <a:moveTo>
                    <a:pt x="0" y="0"/>
                  </a:moveTo>
                  <a:lnTo>
                    <a:pt x="3048000" y="0"/>
                  </a:lnTo>
                  <a:cubicBezTo>
                    <a:pt x="3076067" y="0"/>
                    <a:pt x="3098800" y="22733"/>
                    <a:pt x="3098800" y="50800"/>
                  </a:cubicBezTo>
                  <a:lnTo>
                    <a:pt x="3098800" y="889000"/>
                  </a:lnTo>
                  <a:cubicBezTo>
                    <a:pt x="3098800" y="917067"/>
                    <a:pt x="3076067" y="939800"/>
                    <a:pt x="3048000" y="939800"/>
                  </a:cubicBezTo>
                  <a:lnTo>
                    <a:pt x="0" y="939800"/>
                  </a:lnTo>
                  <a:lnTo>
                    <a:pt x="0" y="838200"/>
                  </a:lnTo>
                  <a:lnTo>
                    <a:pt x="3048000" y="838200"/>
                  </a:lnTo>
                  <a:lnTo>
                    <a:pt x="3048000" y="889000"/>
                  </a:lnTo>
                  <a:lnTo>
                    <a:pt x="2997200" y="889000"/>
                  </a:lnTo>
                  <a:lnTo>
                    <a:pt x="2997200" y="50800"/>
                  </a:lnTo>
                  <a:lnTo>
                    <a:pt x="3048000" y="50800"/>
                  </a:lnTo>
                  <a:lnTo>
                    <a:pt x="304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1500" y="571500"/>
            <a:ext cx="2343150" cy="571500"/>
            <a:chOff x="0" y="0"/>
            <a:chExt cx="31242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4200" cy="762000"/>
            </a:xfrm>
            <a:custGeom>
              <a:avLst/>
              <a:gdLst/>
              <a:ahLst/>
              <a:cxnLst/>
              <a:rect r="r" b="b" t="t" l="l"/>
              <a:pathLst>
                <a:path h="7620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1242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PROJECT GOALS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1500" y="1428750"/>
            <a:ext cx="17487900" cy="685800"/>
            <a:chOff x="0" y="0"/>
            <a:chExt cx="23317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1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0"/>
              <a:ext cx="233172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Objectives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1975" y="2333625"/>
            <a:ext cx="3219450" cy="6191250"/>
            <a:chOff x="0" y="0"/>
            <a:chExt cx="4292600" cy="825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90675" y="2676525"/>
            <a:ext cx="1162050" cy="1162050"/>
            <a:chOff x="0" y="0"/>
            <a:chExt cx="1549400" cy="1549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939976" y="2971800"/>
            <a:ext cx="714375" cy="571500"/>
            <a:chOff x="0" y="0"/>
            <a:chExt cx="952500" cy="762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2500" cy="762000"/>
            </a:xfrm>
            <a:custGeom>
              <a:avLst/>
              <a:gdLst/>
              <a:ahLst/>
              <a:cxnLst/>
              <a:rect r="r" b="b" t="t" l="l"/>
              <a:pathLst>
                <a:path h="76200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2642" t="0" r="-52642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28575"/>
              <a:ext cx="9525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42962" y="4000500"/>
            <a:ext cx="2657475" cy="800100"/>
            <a:chOff x="0" y="0"/>
            <a:chExt cx="3543300" cy="1066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43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8" r="0" b="-1471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354330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Optimize Courier Routes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14400" y="5029200"/>
            <a:ext cx="2628900" cy="2114550"/>
            <a:chOff x="0" y="0"/>
            <a:chExt cx="3505200" cy="2819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505200" cy="2819400"/>
            </a:xfrm>
            <a:custGeom>
              <a:avLst/>
              <a:gdLst/>
              <a:ahLst/>
              <a:cxnLst/>
              <a:rect r="r" b="b" t="t" l="l"/>
              <a:pathLst>
                <a:path h="28194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2819400"/>
                  </a:lnTo>
                  <a:lnTo>
                    <a:pt x="0" y="2819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00" t="0" r="-5320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3505200" cy="2924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Implement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Dijkstra's algorithm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to calculate shortest paths, reducing travel distance by 30-40%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09638" y="7310438"/>
            <a:ext cx="2524125" cy="866775"/>
            <a:chOff x="0" y="0"/>
            <a:chExt cx="3365500" cy="11557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25400" y="25400"/>
              <a:ext cx="33147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1104900"/>
                  </a:lnTo>
                  <a:lnTo>
                    <a:pt x="0" y="1104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400" y="0"/>
              <a:ext cx="3340100" cy="1155700"/>
            </a:xfrm>
            <a:custGeom>
              <a:avLst/>
              <a:gdLst/>
              <a:ahLst/>
              <a:cxnLst/>
              <a:rect r="r" b="b" t="t" l="l"/>
              <a:pathLst>
                <a:path h="1155700" w="3340100">
                  <a:moveTo>
                    <a:pt x="0" y="0"/>
                  </a:moveTo>
                  <a:lnTo>
                    <a:pt x="3314700" y="0"/>
                  </a:lnTo>
                  <a:cubicBezTo>
                    <a:pt x="3328670" y="0"/>
                    <a:pt x="3340100" y="11430"/>
                    <a:pt x="3340100" y="25400"/>
                  </a:cubicBezTo>
                  <a:lnTo>
                    <a:pt x="3340100" y="1130300"/>
                  </a:lnTo>
                  <a:cubicBezTo>
                    <a:pt x="3340100" y="1144270"/>
                    <a:pt x="3328670" y="1155700"/>
                    <a:pt x="3314700" y="1155700"/>
                  </a:cubicBezTo>
                  <a:lnTo>
                    <a:pt x="0" y="1155700"/>
                  </a:lnTo>
                  <a:lnTo>
                    <a:pt x="0" y="1104900"/>
                  </a:lnTo>
                  <a:lnTo>
                    <a:pt x="3314700" y="1104900"/>
                  </a:lnTo>
                  <a:lnTo>
                    <a:pt x="3314700" y="1130300"/>
                  </a:lnTo>
                  <a:lnTo>
                    <a:pt x="3289300" y="1130300"/>
                  </a:lnTo>
                  <a:lnTo>
                    <a:pt x="3289300" y="25400"/>
                  </a:lnTo>
                  <a:lnTo>
                    <a:pt x="3314700" y="25400"/>
                  </a:lnTo>
                  <a:lnTo>
                    <a:pt x="33147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1508893" y="7515225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307306" y="7458075"/>
            <a:ext cx="2028825" cy="571500"/>
            <a:chOff x="0" y="0"/>
            <a:chExt cx="2705100" cy="762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705100" cy="762000"/>
            </a:xfrm>
            <a:custGeom>
              <a:avLst/>
              <a:gdLst/>
              <a:ahLst/>
              <a:cxnLst/>
              <a:rect r="r" b="b" t="t" l="l"/>
              <a:pathLst>
                <a:path h="7620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171" r="0" b="-1917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705100" cy="809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Algorithmic Optimization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048125" y="2333625"/>
            <a:ext cx="3219450" cy="6191250"/>
            <a:chOff x="0" y="0"/>
            <a:chExt cx="4292600" cy="8255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5076825" y="2676525"/>
            <a:ext cx="1162050" cy="1162050"/>
            <a:chOff x="0" y="0"/>
            <a:chExt cx="1549400" cy="1549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362051" y="2971800"/>
            <a:ext cx="842962" cy="571500"/>
            <a:chOff x="0" y="0"/>
            <a:chExt cx="1123950" cy="762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23950" cy="762000"/>
            </a:xfrm>
            <a:custGeom>
              <a:avLst/>
              <a:gdLst/>
              <a:ahLst/>
              <a:cxnLst/>
              <a:rect r="r" b="b" t="t" l="l"/>
              <a:pathLst>
                <a:path h="762000" w="1123950">
                  <a:moveTo>
                    <a:pt x="0" y="0"/>
                  </a:moveTo>
                  <a:lnTo>
                    <a:pt x="1123950" y="0"/>
                  </a:lnTo>
                  <a:lnTo>
                    <a:pt x="1123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985" t="0" r="-36985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28575"/>
              <a:ext cx="1123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361259" y="4000500"/>
            <a:ext cx="2955471" cy="457200"/>
            <a:chOff x="0" y="0"/>
            <a:chExt cx="3448050" cy="533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48050" cy="533400"/>
            </a:xfrm>
            <a:custGeom>
              <a:avLst/>
              <a:gdLst/>
              <a:ahLst/>
              <a:cxnLst/>
              <a:rect r="r" b="b" t="t" l="l"/>
              <a:pathLst>
                <a:path h="53340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56" r="0" b="-75956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34480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Reduce Fuel Usage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400550" y="4629150"/>
            <a:ext cx="2628900" cy="2800350"/>
            <a:chOff x="0" y="0"/>
            <a:chExt cx="3505200" cy="3733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052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733800"/>
                  </a:lnTo>
                  <a:lnTo>
                    <a:pt x="0" y="373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671" t="0" r="-86671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04775"/>
              <a:ext cx="3505200" cy="3838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Minimize fuel consumption through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efficient routing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, achieving 20-25% cost savings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4395788" y="7596188"/>
            <a:ext cx="2524125" cy="581025"/>
            <a:chOff x="0" y="0"/>
            <a:chExt cx="3365500" cy="7747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5400" y="25400"/>
              <a:ext cx="3314700" cy="723900"/>
            </a:xfrm>
            <a:custGeom>
              <a:avLst/>
              <a:gdLst/>
              <a:ahLst/>
              <a:cxnLst/>
              <a:rect r="r" b="b" t="t" l="l"/>
              <a:pathLst>
                <a:path h="7239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723900"/>
                  </a:lnTo>
                  <a:lnTo>
                    <a:pt x="0" y="7239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5400" y="0"/>
              <a:ext cx="3340100" cy="774700"/>
            </a:xfrm>
            <a:custGeom>
              <a:avLst/>
              <a:gdLst/>
              <a:ahLst/>
              <a:cxnLst/>
              <a:rect r="r" b="b" t="t" l="l"/>
              <a:pathLst>
                <a:path h="774700" w="3340100">
                  <a:moveTo>
                    <a:pt x="0" y="0"/>
                  </a:moveTo>
                  <a:lnTo>
                    <a:pt x="3314700" y="0"/>
                  </a:lnTo>
                  <a:cubicBezTo>
                    <a:pt x="3328670" y="0"/>
                    <a:pt x="3340100" y="11430"/>
                    <a:pt x="3340100" y="25400"/>
                  </a:cubicBezTo>
                  <a:lnTo>
                    <a:pt x="3340100" y="749300"/>
                  </a:lnTo>
                  <a:cubicBezTo>
                    <a:pt x="3340100" y="763270"/>
                    <a:pt x="3328670" y="774700"/>
                    <a:pt x="331470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3314700" y="723900"/>
                  </a:lnTo>
                  <a:lnTo>
                    <a:pt x="3314700" y="749300"/>
                  </a:lnTo>
                  <a:lnTo>
                    <a:pt x="3289300" y="749300"/>
                  </a:lnTo>
                  <a:lnTo>
                    <a:pt x="3289300" y="25400"/>
                  </a:lnTo>
                  <a:lnTo>
                    <a:pt x="3314700" y="25400"/>
                  </a:lnTo>
                  <a:lnTo>
                    <a:pt x="33147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4949276" y="7800975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4793456" y="7743825"/>
            <a:ext cx="2028825" cy="285750"/>
            <a:chOff x="0" y="0"/>
            <a:chExt cx="2705100" cy="3810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705100" cy="381000"/>
            </a:xfrm>
            <a:custGeom>
              <a:avLst/>
              <a:gdLst/>
              <a:ahLst/>
              <a:cxnLst/>
              <a:rect r="r" b="b" t="t" l="l"/>
              <a:pathLst>
                <a:path h="3810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27051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Eco-Friendly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534275" y="2333625"/>
            <a:ext cx="3219450" cy="6191250"/>
            <a:chOff x="0" y="0"/>
            <a:chExt cx="4292600" cy="82550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8562975" y="2676525"/>
            <a:ext cx="1162050" cy="1162050"/>
            <a:chOff x="0" y="0"/>
            <a:chExt cx="1549400" cy="1549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844629" y="2971800"/>
            <a:ext cx="857250" cy="571500"/>
            <a:chOff x="0" y="0"/>
            <a:chExt cx="1143000" cy="7620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143000" cy="762000"/>
            </a:xfrm>
            <a:custGeom>
              <a:avLst/>
              <a:gdLst/>
              <a:ahLst/>
              <a:cxnLst/>
              <a:rect r="r" b="b" t="t" l="l"/>
              <a:pathLst>
                <a:path h="762000" w="1143000">
                  <a:moveTo>
                    <a:pt x="0" y="0"/>
                  </a:moveTo>
                  <a:lnTo>
                    <a:pt x="1143000" y="0"/>
                  </a:lnTo>
                  <a:lnTo>
                    <a:pt x="1143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28575"/>
              <a:ext cx="114300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03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815262" y="4000500"/>
            <a:ext cx="2657475" cy="800100"/>
            <a:chOff x="0" y="0"/>
            <a:chExt cx="3543300" cy="1066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543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8" r="0" b="-14718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354330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Improve Delivery Efficiency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886700" y="5029200"/>
            <a:ext cx="2628900" cy="2400300"/>
            <a:chOff x="0" y="0"/>
            <a:chExt cx="3505200" cy="3200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5052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46" t="0" r="-67146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04775"/>
              <a:ext cx="3505200" cy="330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Increase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deliveries per route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by 35% through intelligent scheduling and load optimization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7881938" y="7596188"/>
            <a:ext cx="2524125" cy="581025"/>
            <a:chOff x="0" y="0"/>
            <a:chExt cx="3365500" cy="7747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25400" y="25400"/>
              <a:ext cx="3314700" cy="723900"/>
            </a:xfrm>
            <a:custGeom>
              <a:avLst/>
              <a:gdLst/>
              <a:ahLst/>
              <a:cxnLst/>
              <a:rect r="r" b="b" t="t" l="l"/>
              <a:pathLst>
                <a:path h="7239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25400" y="0"/>
              <a:ext cx="3340100" cy="774700"/>
            </a:xfrm>
            <a:custGeom>
              <a:avLst/>
              <a:gdLst/>
              <a:ahLst/>
              <a:cxnLst/>
              <a:rect r="r" b="b" t="t" l="l"/>
              <a:pathLst>
                <a:path h="774700" w="3340100">
                  <a:moveTo>
                    <a:pt x="0" y="0"/>
                  </a:moveTo>
                  <a:lnTo>
                    <a:pt x="3314700" y="0"/>
                  </a:lnTo>
                  <a:cubicBezTo>
                    <a:pt x="3328670" y="0"/>
                    <a:pt x="3340100" y="11430"/>
                    <a:pt x="3340100" y="25400"/>
                  </a:cubicBezTo>
                  <a:lnTo>
                    <a:pt x="3340100" y="749300"/>
                  </a:lnTo>
                  <a:cubicBezTo>
                    <a:pt x="3340100" y="763270"/>
                    <a:pt x="3328670" y="774700"/>
                    <a:pt x="331470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3314700" y="723900"/>
                  </a:lnTo>
                  <a:lnTo>
                    <a:pt x="3314700" y="749300"/>
                  </a:lnTo>
                  <a:lnTo>
                    <a:pt x="3289300" y="749300"/>
                  </a:lnTo>
                  <a:lnTo>
                    <a:pt x="3289300" y="25400"/>
                  </a:lnTo>
                  <a:lnTo>
                    <a:pt x="3314700" y="25400"/>
                  </a:lnTo>
                  <a:lnTo>
                    <a:pt x="33147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82" id="82"/>
          <p:cNvSpPr/>
          <p:nvPr/>
        </p:nvSpPr>
        <p:spPr>
          <a:xfrm flipH="false" flipV="false" rot="0">
            <a:off x="8134721" y="7800975"/>
            <a:ext cx="200025" cy="200025"/>
          </a:xfrm>
          <a:custGeom>
            <a:avLst/>
            <a:gdLst/>
            <a:ahLst/>
            <a:cxnLst/>
            <a:rect r="r" b="b" t="t" l="l"/>
            <a:pathLst>
              <a:path h="200025" w="200025">
                <a:moveTo>
                  <a:pt x="0" y="0"/>
                </a:moveTo>
                <a:lnTo>
                  <a:pt x="200025" y="0"/>
                </a:lnTo>
                <a:lnTo>
                  <a:pt x="200025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8279606" y="7743825"/>
            <a:ext cx="2028825" cy="285750"/>
            <a:chOff x="0" y="0"/>
            <a:chExt cx="2705100" cy="381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705100" cy="381000"/>
            </a:xfrm>
            <a:custGeom>
              <a:avLst/>
              <a:gdLst/>
              <a:ahLst/>
              <a:cxnLst/>
              <a:rect r="r" b="b" t="t" l="l"/>
              <a:pathLst>
                <a:path h="3810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27051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Performance Boost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1020425" y="2333625"/>
            <a:ext cx="3219450" cy="6191250"/>
            <a:chOff x="0" y="0"/>
            <a:chExt cx="4292600" cy="8255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2049125" y="2676525"/>
            <a:ext cx="1162050" cy="1162050"/>
            <a:chOff x="0" y="0"/>
            <a:chExt cx="1549400" cy="15494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338818" y="2971800"/>
            <a:ext cx="842962" cy="571500"/>
            <a:chOff x="0" y="0"/>
            <a:chExt cx="1123950" cy="7620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123950" cy="762000"/>
            </a:xfrm>
            <a:custGeom>
              <a:avLst/>
              <a:gdLst/>
              <a:ahLst/>
              <a:cxnLst/>
              <a:rect r="r" b="b" t="t" l="l"/>
              <a:pathLst>
                <a:path h="762000" w="1123950">
                  <a:moveTo>
                    <a:pt x="0" y="0"/>
                  </a:moveTo>
                  <a:lnTo>
                    <a:pt x="1123950" y="0"/>
                  </a:lnTo>
                  <a:lnTo>
                    <a:pt x="11239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985" t="0" r="-36985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28575"/>
              <a:ext cx="11239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04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301412" y="4000500"/>
            <a:ext cx="2657475" cy="800100"/>
            <a:chOff x="0" y="0"/>
            <a:chExt cx="3543300" cy="1066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543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8" r="0" b="-1471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66675"/>
              <a:ext cx="354330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Implement DAA Algorithms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372850" y="5029200"/>
            <a:ext cx="2628900" cy="2400300"/>
            <a:chOff x="0" y="0"/>
            <a:chExt cx="3505200" cy="320040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5052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46" t="0" r="-67146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104775"/>
              <a:ext cx="3505200" cy="330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Apply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theory and Dijkstra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for scalable, maintainable route optimization engine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368088" y="7596188"/>
            <a:ext cx="2524125" cy="581025"/>
            <a:chOff x="0" y="0"/>
            <a:chExt cx="3365500" cy="7747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25400" y="25400"/>
              <a:ext cx="3314700" cy="723900"/>
            </a:xfrm>
            <a:custGeom>
              <a:avLst/>
              <a:gdLst/>
              <a:ahLst/>
              <a:cxnLst/>
              <a:rect r="r" b="b" t="t" l="l"/>
              <a:pathLst>
                <a:path h="7239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25400" y="0"/>
              <a:ext cx="3340100" cy="774700"/>
            </a:xfrm>
            <a:custGeom>
              <a:avLst/>
              <a:gdLst/>
              <a:ahLst/>
              <a:cxnLst/>
              <a:rect r="r" b="b" t="t" l="l"/>
              <a:pathLst>
                <a:path h="774700" w="3340100">
                  <a:moveTo>
                    <a:pt x="0" y="0"/>
                  </a:moveTo>
                  <a:lnTo>
                    <a:pt x="3314700" y="0"/>
                  </a:lnTo>
                  <a:cubicBezTo>
                    <a:pt x="3328670" y="0"/>
                    <a:pt x="3340100" y="11430"/>
                    <a:pt x="3340100" y="25400"/>
                  </a:cubicBezTo>
                  <a:lnTo>
                    <a:pt x="3340100" y="749300"/>
                  </a:lnTo>
                  <a:cubicBezTo>
                    <a:pt x="3340100" y="763270"/>
                    <a:pt x="3328670" y="774700"/>
                    <a:pt x="331470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3314700" y="723900"/>
                  </a:lnTo>
                  <a:lnTo>
                    <a:pt x="3314700" y="749300"/>
                  </a:lnTo>
                  <a:lnTo>
                    <a:pt x="3289300" y="749300"/>
                  </a:lnTo>
                  <a:lnTo>
                    <a:pt x="3289300" y="25400"/>
                  </a:lnTo>
                  <a:lnTo>
                    <a:pt x="3314700" y="25400"/>
                  </a:lnTo>
                  <a:lnTo>
                    <a:pt x="33147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04" id="104"/>
          <p:cNvSpPr/>
          <p:nvPr/>
        </p:nvSpPr>
        <p:spPr>
          <a:xfrm flipH="false" flipV="false" rot="0">
            <a:off x="11540509" y="7800975"/>
            <a:ext cx="225028" cy="200025"/>
          </a:xfrm>
          <a:custGeom>
            <a:avLst/>
            <a:gdLst/>
            <a:ahLst/>
            <a:cxnLst/>
            <a:rect r="r" b="b" t="t" l="l"/>
            <a:pathLst>
              <a:path h="200025" w="225028">
                <a:moveTo>
                  <a:pt x="0" y="0"/>
                </a:moveTo>
                <a:lnTo>
                  <a:pt x="225028" y="0"/>
                </a:lnTo>
                <a:lnTo>
                  <a:pt x="22502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11765756" y="7743825"/>
            <a:ext cx="2028825" cy="285750"/>
            <a:chOff x="0" y="0"/>
            <a:chExt cx="2705100" cy="3810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705100" cy="381000"/>
            </a:xfrm>
            <a:custGeom>
              <a:avLst/>
              <a:gdLst/>
              <a:ahLst/>
              <a:cxnLst/>
              <a:rect r="r" b="b" t="t" l="l"/>
              <a:pathLst>
                <a:path h="3810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27051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Technical Excellence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4506575" y="2333625"/>
            <a:ext cx="3219450" cy="6191250"/>
            <a:chOff x="0" y="0"/>
            <a:chExt cx="4292600" cy="825500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5535275" y="2676525"/>
            <a:ext cx="1162050" cy="1162050"/>
            <a:chOff x="0" y="0"/>
            <a:chExt cx="1549400" cy="15494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5807557" y="2971800"/>
            <a:ext cx="871538" cy="571500"/>
            <a:chOff x="0" y="0"/>
            <a:chExt cx="1162050" cy="7620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162050" cy="762000"/>
            </a:xfrm>
            <a:custGeom>
              <a:avLst/>
              <a:gdLst/>
              <a:ahLst/>
              <a:cxnLst/>
              <a:rect r="r" b="b" t="t" l="l"/>
              <a:pathLst>
                <a:path h="762000" w="1162050">
                  <a:moveTo>
                    <a:pt x="0" y="0"/>
                  </a:moveTo>
                  <a:lnTo>
                    <a:pt x="1162050" y="0"/>
                  </a:lnTo>
                  <a:lnTo>
                    <a:pt x="11620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133" t="0" r="-34133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28575"/>
              <a:ext cx="1162050" cy="733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05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4787562" y="4000500"/>
            <a:ext cx="2657475" cy="800100"/>
            <a:chOff x="0" y="0"/>
            <a:chExt cx="3543300" cy="10668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3543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8" r="0" b="-14718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66675"/>
              <a:ext cx="354330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Provide Real-Time Monitoring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4859000" y="5029200"/>
            <a:ext cx="2628900" cy="2400300"/>
            <a:chOff x="0" y="0"/>
            <a:chExt cx="3505200" cy="32004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35052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46" t="0" r="-67146" b="0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104775"/>
              <a:ext cx="3505200" cy="330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Build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interactive dashboard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live tracking, analytics, and automated reporting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854238" y="7596188"/>
            <a:ext cx="2524125" cy="581025"/>
            <a:chOff x="0" y="0"/>
            <a:chExt cx="3365500" cy="7747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25400" y="25400"/>
              <a:ext cx="3314700" cy="723900"/>
            </a:xfrm>
            <a:custGeom>
              <a:avLst/>
              <a:gdLst/>
              <a:ahLst/>
              <a:cxnLst/>
              <a:rect r="r" b="b" t="t" l="l"/>
              <a:pathLst>
                <a:path h="723900" w="3314700">
                  <a:moveTo>
                    <a:pt x="0" y="0"/>
                  </a:moveTo>
                  <a:lnTo>
                    <a:pt x="3314700" y="0"/>
                  </a:lnTo>
                  <a:lnTo>
                    <a:pt x="3314700" y="723900"/>
                  </a:lnTo>
                  <a:lnTo>
                    <a:pt x="0" y="7239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25400" y="0"/>
              <a:ext cx="3340100" cy="774700"/>
            </a:xfrm>
            <a:custGeom>
              <a:avLst/>
              <a:gdLst/>
              <a:ahLst/>
              <a:cxnLst/>
              <a:rect r="r" b="b" t="t" l="l"/>
              <a:pathLst>
                <a:path h="774700" w="3340100">
                  <a:moveTo>
                    <a:pt x="0" y="0"/>
                  </a:moveTo>
                  <a:lnTo>
                    <a:pt x="3314700" y="0"/>
                  </a:lnTo>
                  <a:cubicBezTo>
                    <a:pt x="3328670" y="0"/>
                    <a:pt x="3340100" y="11430"/>
                    <a:pt x="3340100" y="25400"/>
                  </a:cubicBezTo>
                  <a:lnTo>
                    <a:pt x="3340100" y="749300"/>
                  </a:lnTo>
                  <a:cubicBezTo>
                    <a:pt x="3340100" y="763270"/>
                    <a:pt x="3328670" y="774700"/>
                    <a:pt x="331470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3314700" y="723900"/>
                  </a:lnTo>
                  <a:lnTo>
                    <a:pt x="3314700" y="749300"/>
                  </a:lnTo>
                  <a:lnTo>
                    <a:pt x="3289300" y="749300"/>
                  </a:lnTo>
                  <a:lnTo>
                    <a:pt x="3289300" y="25400"/>
                  </a:lnTo>
                  <a:lnTo>
                    <a:pt x="3314700" y="25400"/>
                  </a:lnTo>
                  <a:lnTo>
                    <a:pt x="33147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26" id="126"/>
          <p:cNvSpPr/>
          <p:nvPr/>
        </p:nvSpPr>
        <p:spPr>
          <a:xfrm flipH="false" flipV="false" rot="0">
            <a:off x="15578957" y="7800975"/>
            <a:ext cx="225028" cy="200025"/>
          </a:xfrm>
          <a:custGeom>
            <a:avLst/>
            <a:gdLst/>
            <a:ahLst/>
            <a:cxnLst/>
            <a:rect r="r" b="b" t="t" l="l"/>
            <a:pathLst>
              <a:path h="200025" w="225028">
                <a:moveTo>
                  <a:pt x="0" y="0"/>
                </a:moveTo>
                <a:lnTo>
                  <a:pt x="225028" y="0"/>
                </a:lnTo>
                <a:lnTo>
                  <a:pt x="225028" y="200025"/>
                </a:lnTo>
                <a:lnTo>
                  <a:pt x="0" y="2000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7" id="127"/>
          <p:cNvGrpSpPr/>
          <p:nvPr/>
        </p:nvGrpSpPr>
        <p:grpSpPr>
          <a:xfrm rot="0">
            <a:off x="15251906" y="7743825"/>
            <a:ext cx="2028825" cy="285750"/>
            <a:chOff x="0" y="0"/>
            <a:chExt cx="2705100" cy="3810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2705100" cy="381000"/>
            </a:xfrm>
            <a:custGeom>
              <a:avLst/>
              <a:gdLst/>
              <a:ahLst/>
              <a:cxnLst/>
              <a:rect r="r" b="b" t="t" l="l"/>
              <a:pathLst>
                <a:path h="381000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27051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Visibility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561975" y="8734425"/>
            <a:ext cx="17164050" cy="990600"/>
            <a:chOff x="0" y="0"/>
            <a:chExt cx="22885400" cy="13208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50800" y="50800"/>
              <a:ext cx="22783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783800">
                  <a:moveTo>
                    <a:pt x="0" y="0"/>
                  </a:moveTo>
                  <a:lnTo>
                    <a:pt x="22783800" y="0"/>
                  </a:lnTo>
                  <a:lnTo>
                    <a:pt x="22783800" y="1219200"/>
                  </a:lnTo>
                  <a:lnTo>
                    <a:pt x="0" y="1219200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50800" y="0"/>
              <a:ext cx="228346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2834600">
                  <a:moveTo>
                    <a:pt x="0" y="0"/>
                  </a:moveTo>
                  <a:lnTo>
                    <a:pt x="22783800" y="0"/>
                  </a:lnTo>
                  <a:cubicBezTo>
                    <a:pt x="22811867" y="0"/>
                    <a:pt x="22834600" y="22733"/>
                    <a:pt x="22834600" y="50800"/>
                  </a:cubicBezTo>
                  <a:lnTo>
                    <a:pt x="22834600" y="1270000"/>
                  </a:lnTo>
                  <a:cubicBezTo>
                    <a:pt x="22834600" y="1298067"/>
                    <a:pt x="22811867" y="1320800"/>
                    <a:pt x="22783800" y="1320800"/>
                  </a:cubicBezTo>
                  <a:lnTo>
                    <a:pt x="0" y="1320800"/>
                  </a:lnTo>
                  <a:lnTo>
                    <a:pt x="0" y="1219200"/>
                  </a:lnTo>
                  <a:lnTo>
                    <a:pt x="22783800" y="1219200"/>
                  </a:lnTo>
                  <a:lnTo>
                    <a:pt x="22783800" y="1270000"/>
                  </a:lnTo>
                  <a:lnTo>
                    <a:pt x="22733000" y="1270000"/>
                  </a:lnTo>
                  <a:lnTo>
                    <a:pt x="22733000" y="50800"/>
                  </a:lnTo>
                  <a:lnTo>
                    <a:pt x="22783800" y="50800"/>
                  </a:lnTo>
                  <a:lnTo>
                    <a:pt x="22783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33" id="133"/>
          <p:cNvSpPr/>
          <p:nvPr/>
        </p:nvSpPr>
        <p:spPr>
          <a:xfrm flipH="false" flipV="false" rot="0">
            <a:off x="2658142" y="90725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4" id="134"/>
          <p:cNvGrpSpPr/>
          <p:nvPr/>
        </p:nvGrpSpPr>
        <p:grpSpPr>
          <a:xfrm rot="0">
            <a:off x="1708918" y="9015412"/>
            <a:ext cx="16273462" cy="400050"/>
            <a:chOff x="0" y="0"/>
            <a:chExt cx="21697950" cy="5334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1697950" cy="533400"/>
            </a:xfrm>
            <a:custGeom>
              <a:avLst/>
              <a:gdLst/>
              <a:ahLst/>
              <a:cxnLst/>
              <a:rect r="r" b="b" t="t" l="l"/>
              <a:pathLst>
                <a:path h="533400" w="21697950">
                  <a:moveTo>
                    <a:pt x="0" y="0"/>
                  </a:moveTo>
                  <a:lnTo>
                    <a:pt x="21697950" y="0"/>
                  </a:lnTo>
                  <a:lnTo>
                    <a:pt x="21697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2623" r="0" b="-742623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66675"/>
              <a:ext cx="216979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All objectives align with creating an intelligent, efficient, and scalable logistics optimization system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500000">
            <a:off x="15806871" y="90621"/>
            <a:ext cx="1157288" cy="1157288"/>
            <a:chOff x="0" y="0"/>
            <a:chExt cx="1543050" cy="1543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4668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466850">
                  <a:moveTo>
                    <a:pt x="0" y="0"/>
                  </a:moveTo>
                  <a:lnTo>
                    <a:pt x="1466850" y="0"/>
                  </a:lnTo>
                  <a:lnTo>
                    <a:pt x="1466850" y="1466850"/>
                  </a:lnTo>
                  <a:lnTo>
                    <a:pt x="0" y="146685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8100" y="0"/>
              <a:ext cx="15049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04950">
                  <a:moveTo>
                    <a:pt x="0" y="0"/>
                  </a:moveTo>
                  <a:lnTo>
                    <a:pt x="1466850" y="0"/>
                  </a:lnTo>
                  <a:cubicBezTo>
                    <a:pt x="1487932" y="0"/>
                    <a:pt x="1504950" y="17018"/>
                    <a:pt x="1504950" y="38100"/>
                  </a:cubicBezTo>
                  <a:lnTo>
                    <a:pt x="1504950" y="1504950"/>
                  </a:lnTo>
                  <a:cubicBezTo>
                    <a:pt x="1504950" y="1526032"/>
                    <a:pt x="1487932" y="1543050"/>
                    <a:pt x="1466850" y="1543050"/>
                  </a:cubicBezTo>
                  <a:lnTo>
                    <a:pt x="0" y="1543050"/>
                  </a:lnTo>
                  <a:lnTo>
                    <a:pt x="0" y="1466850"/>
                  </a:lnTo>
                  <a:lnTo>
                    <a:pt x="1466850" y="1466850"/>
                  </a:lnTo>
                  <a:lnTo>
                    <a:pt x="1466850" y="1504950"/>
                  </a:lnTo>
                  <a:lnTo>
                    <a:pt x="1428750" y="1504950"/>
                  </a:lnTo>
                  <a:lnTo>
                    <a:pt x="1428750" y="38100"/>
                  </a:lnTo>
                  <a:lnTo>
                    <a:pt x="1466850" y="38100"/>
                  </a:lnTo>
                  <a:lnTo>
                    <a:pt x="14668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07231" y="8422481"/>
            <a:ext cx="871538" cy="871538"/>
            <a:chOff x="0" y="0"/>
            <a:chExt cx="1162050" cy="11620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085850" cy="1085850"/>
            </a:xfrm>
            <a:custGeom>
              <a:avLst/>
              <a:gdLst/>
              <a:ahLst/>
              <a:cxnLst/>
              <a:rect r="r" b="b" t="t" l="l"/>
              <a:pathLst>
                <a:path h="1085850" w="1085850">
                  <a:moveTo>
                    <a:pt x="0" y="542925"/>
                  </a:moveTo>
                  <a:cubicBezTo>
                    <a:pt x="0" y="243078"/>
                    <a:pt x="243078" y="0"/>
                    <a:pt x="542925" y="0"/>
                  </a:cubicBezTo>
                  <a:cubicBezTo>
                    <a:pt x="842772" y="0"/>
                    <a:pt x="1085850" y="243078"/>
                    <a:pt x="1085850" y="542925"/>
                  </a:cubicBezTo>
                  <a:cubicBezTo>
                    <a:pt x="1085850" y="842772"/>
                    <a:pt x="842772" y="1085850"/>
                    <a:pt x="542925" y="1085850"/>
                  </a:cubicBezTo>
                  <a:cubicBezTo>
                    <a:pt x="243078" y="1085850"/>
                    <a:pt x="0" y="842772"/>
                    <a:pt x="0" y="542925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62050" cy="1162050"/>
            </a:xfrm>
            <a:custGeom>
              <a:avLst/>
              <a:gdLst/>
              <a:ahLst/>
              <a:cxnLst/>
              <a:rect r="r" b="b" t="t" l="l"/>
              <a:pathLst>
                <a:path h="1162050" w="1162050">
                  <a:moveTo>
                    <a:pt x="0" y="581025"/>
                  </a:moveTo>
                  <a:cubicBezTo>
                    <a:pt x="0" y="260096"/>
                    <a:pt x="260096" y="0"/>
                    <a:pt x="581025" y="0"/>
                  </a:cubicBezTo>
                  <a:cubicBezTo>
                    <a:pt x="592201" y="0"/>
                    <a:pt x="602869" y="4953"/>
                    <a:pt x="610108" y="13589"/>
                  </a:cubicBezTo>
                  <a:lnTo>
                    <a:pt x="581025" y="38100"/>
                  </a:lnTo>
                  <a:lnTo>
                    <a:pt x="581025" y="0"/>
                  </a:lnTo>
                  <a:lnTo>
                    <a:pt x="581025" y="38100"/>
                  </a:lnTo>
                  <a:lnTo>
                    <a:pt x="581025" y="0"/>
                  </a:lnTo>
                  <a:cubicBezTo>
                    <a:pt x="901954" y="0"/>
                    <a:pt x="1162050" y="260096"/>
                    <a:pt x="1162050" y="581025"/>
                  </a:cubicBezTo>
                  <a:cubicBezTo>
                    <a:pt x="1162050" y="598551"/>
                    <a:pt x="1150112" y="613791"/>
                    <a:pt x="1133221" y="617982"/>
                  </a:cubicBezTo>
                  <a:lnTo>
                    <a:pt x="1123950" y="581025"/>
                  </a:lnTo>
                  <a:lnTo>
                    <a:pt x="1162050" y="581025"/>
                  </a:lnTo>
                  <a:cubicBezTo>
                    <a:pt x="1162050" y="901954"/>
                    <a:pt x="901954" y="1162050"/>
                    <a:pt x="581025" y="1162050"/>
                  </a:cubicBezTo>
                  <a:lnTo>
                    <a:pt x="581025" y="1123950"/>
                  </a:lnTo>
                  <a:lnTo>
                    <a:pt x="581025" y="1162050"/>
                  </a:lnTo>
                  <a:cubicBezTo>
                    <a:pt x="260096" y="1162050"/>
                    <a:pt x="0" y="901954"/>
                    <a:pt x="0" y="581025"/>
                  </a:cubicBezTo>
                  <a:lnTo>
                    <a:pt x="38100" y="581025"/>
                  </a:lnTo>
                  <a:lnTo>
                    <a:pt x="0" y="581025"/>
                  </a:lnTo>
                  <a:moveTo>
                    <a:pt x="76200" y="581025"/>
                  </a:moveTo>
                  <a:lnTo>
                    <a:pt x="38100" y="581025"/>
                  </a:lnTo>
                  <a:lnTo>
                    <a:pt x="76200" y="581025"/>
                  </a:lnTo>
                  <a:cubicBezTo>
                    <a:pt x="76200" y="859790"/>
                    <a:pt x="302260" y="1085850"/>
                    <a:pt x="581025" y="1085850"/>
                  </a:cubicBezTo>
                  <a:cubicBezTo>
                    <a:pt x="859790" y="1085850"/>
                    <a:pt x="1085850" y="859790"/>
                    <a:pt x="1085850" y="581025"/>
                  </a:cubicBezTo>
                  <a:cubicBezTo>
                    <a:pt x="1085850" y="563499"/>
                    <a:pt x="1097788" y="548259"/>
                    <a:pt x="1114679" y="544068"/>
                  </a:cubicBezTo>
                  <a:lnTo>
                    <a:pt x="1123950" y="581025"/>
                  </a:lnTo>
                  <a:lnTo>
                    <a:pt x="1085850" y="581025"/>
                  </a:lnTo>
                  <a:cubicBezTo>
                    <a:pt x="1085850" y="302260"/>
                    <a:pt x="859790" y="76200"/>
                    <a:pt x="581025" y="76200"/>
                  </a:cubicBezTo>
                  <a:cubicBezTo>
                    <a:pt x="569849" y="76200"/>
                    <a:pt x="559181" y="71247"/>
                    <a:pt x="551942" y="62611"/>
                  </a:cubicBezTo>
                  <a:lnTo>
                    <a:pt x="581025" y="38100"/>
                  </a:lnTo>
                  <a:lnTo>
                    <a:pt x="581025" y="76200"/>
                  </a:lnTo>
                  <a:cubicBezTo>
                    <a:pt x="302260" y="76200"/>
                    <a:pt x="76200" y="302260"/>
                    <a:pt x="76200" y="581025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2400000">
            <a:off x="290055" y="3004680"/>
            <a:ext cx="657225" cy="657225"/>
            <a:chOff x="0" y="0"/>
            <a:chExt cx="8763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838200" cy="876300"/>
            </a:xfrm>
            <a:custGeom>
              <a:avLst/>
              <a:gdLst/>
              <a:ahLst/>
              <a:cxnLst/>
              <a:rect r="r" b="b" t="t" l="l"/>
              <a:pathLst>
                <a:path h="876300" w="838200">
                  <a:moveTo>
                    <a:pt x="0" y="0"/>
                  </a:moveTo>
                  <a:lnTo>
                    <a:pt x="800100" y="0"/>
                  </a:lnTo>
                  <a:cubicBezTo>
                    <a:pt x="821182" y="0"/>
                    <a:pt x="838200" y="17018"/>
                    <a:pt x="838200" y="38100"/>
                  </a:cubicBezTo>
                  <a:lnTo>
                    <a:pt x="838200" y="838200"/>
                  </a:lnTo>
                  <a:cubicBezTo>
                    <a:pt x="838200" y="859282"/>
                    <a:pt x="821182" y="876300"/>
                    <a:pt x="800100" y="876300"/>
                  </a:cubicBezTo>
                  <a:lnTo>
                    <a:pt x="0" y="876300"/>
                  </a:lnTo>
                  <a:lnTo>
                    <a:pt x="0" y="800100"/>
                  </a:lnTo>
                  <a:lnTo>
                    <a:pt x="800100" y="800100"/>
                  </a:lnTo>
                  <a:lnTo>
                    <a:pt x="800100" y="838200"/>
                  </a:lnTo>
                  <a:lnTo>
                    <a:pt x="762000" y="838200"/>
                  </a:lnTo>
                  <a:lnTo>
                    <a:pt x="762000" y="38100"/>
                  </a:lnTo>
                  <a:lnTo>
                    <a:pt x="800100" y="38100"/>
                  </a:lnTo>
                  <a:lnTo>
                    <a:pt x="800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1975" y="561975"/>
            <a:ext cx="2962275" cy="704850"/>
            <a:chOff x="0" y="0"/>
            <a:chExt cx="3949700" cy="93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848100" cy="838200"/>
            </a:xfrm>
            <a:custGeom>
              <a:avLst/>
              <a:gdLst/>
              <a:ahLst/>
              <a:cxnLst/>
              <a:rect r="r" b="b" t="t" l="l"/>
              <a:pathLst>
                <a:path h="838200" w="3848100">
                  <a:moveTo>
                    <a:pt x="0" y="0"/>
                  </a:moveTo>
                  <a:lnTo>
                    <a:pt x="3848100" y="0"/>
                  </a:lnTo>
                  <a:lnTo>
                    <a:pt x="3848100" y="838200"/>
                  </a:lnTo>
                  <a:lnTo>
                    <a:pt x="0" y="8382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898900" cy="939800"/>
            </a:xfrm>
            <a:custGeom>
              <a:avLst/>
              <a:gdLst/>
              <a:ahLst/>
              <a:cxnLst/>
              <a:rect r="r" b="b" t="t" l="l"/>
              <a:pathLst>
                <a:path h="939800" w="3898900">
                  <a:moveTo>
                    <a:pt x="0" y="0"/>
                  </a:moveTo>
                  <a:lnTo>
                    <a:pt x="3848100" y="0"/>
                  </a:lnTo>
                  <a:cubicBezTo>
                    <a:pt x="3876167" y="0"/>
                    <a:pt x="3898900" y="22733"/>
                    <a:pt x="3898900" y="50800"/>
                  </a:cubicBezTo>
                  <a:lnTo>
                    <a:pt x="3898900" y="889000"/>
                  </a:lnTo>
                  <a:cubicBezTo>
                    <a:pt x="3898900" y="917067"/>
                    <a:pt x="3876167" y="939800"/>
                    <a:pt x="3848100" y="939800"/>
                  </a:cubicBezTo>
                  <a:lnTo>
                    <a:pt x="0" y="939800"/>
                  </a:lnTo>
                  <a:lnTo>
                    <a:pt x="0" y="838200"/>
                  </a:lnTo>
                  <a:lnTo>
                    <a:pt x="3848100" y="838200"/>
                  </a:lnTo>
                  <a:lnTo>
                    <a:pt x="3848100" y="889000"/>
                  </a:lnTo>
                  <a:lnTo>
                    <a:pt x="3797300" y="889000"/>
                  </a:lnTo>
                  <a:lnTo>
                    <a:pt x="3797300" y="50800"/>
                  </a:lnTo>
                  <a:lnTo>
                    <a:pt x="3848100" y="50800"/>
                  </a:lnTo>
                  <a:lnTo>
                    <a:pt x="38481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1500" y="571500"/>
            <a:ext cx="2943225" cy="571500"/>
            <a:chOff x="0" y="0"/>
            <a:chExt cx="39243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24300" cy="762000"/>
            </a:xfrm>
            <a:custGeom>
              <a:avLst/>
              <a:gdLst/>
              <a:ahLst/>
              <a:cxnLst/>
              <a:rect r="r" b="b" t="t" l="l"/>
              <a:pathLst>
                <a:path h="762000" w="3924300">
                  <a:moveTo>
                    <a:pt x="0" y="0"/>
                  </a:moveTo>
                  <a:lnTo>
                    <a:pt x="3924300" y="0"/>
                  </a:lnTo>
                  <a:lnTo>
                    <a:pt x="39243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347" r="0" b="-5034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9243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CAPABILITIES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1500" y="1428750"/>
            <a:ext cx="17487900" cy="685800"/>
            <a:chOff x="0" y="0"/>
            <a:chExt cx="23317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1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0"/>
              <a:ext cx="233172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Features — Core Functionality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1975" y="2333625"/>
            <a:ext cx="3219450" cy="6191250"/>
            <a:chOff x="0" y="0"/>
            <a:chExt cx="4292600" cy="825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90675" y="2676525"/>
            <a:ext cx="1162050" cy="1162050"/>
            <a:chOff x="0" y="0"/>
            <a:chExt cx="1549400" cy="1549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960959" y="30432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707231" y="4000500"/>
            <a:ext cx="2757707" cy="426607"/>
            <a:chOff x="0" y="0"/>
            <a:chExt cx="344805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48050" cy="533400"/>
            </a:xfrm>
            <a:custGeom>
              <a:avLst/>
              <a:gdLst/>
              <a:ahLst/>
              <a:cxnLst/>
              <a:rect r="r" b="b" t="t" l="l"/>
              <a:pathLst>
                <a:path h="533400" w="3448050">
                  <a:moveTo>
                    <a:pt x="0" y="0"/>
                  </a:moveTo>
                  <a:lnTo>
                    <a:pt x="3448050" y="0"/>
                  </a:lnTo>
                  <a:lnTo>
                    <a:pt x="34480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956" r="0" b="-7595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34480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Route Optimization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4629150"/>
            <a:ext cx="2628900" cy="2800350"/>
            <a:chOff x="0" y="0"/>
            <a:chExt cx="3505200" cy="3733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052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733800"/>
                  </a:lnTo>
                  <a:lnTo>
                    <a:pt x="0" y="373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671" t="0" r="-8667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3505200" cy="3838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Dijkstra algorithm calculates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shortest delivery paths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real-time graph visualization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57696" y="7596188"/>
            <a:ext cx="1423988" cy="581025"/>
            <a:chOff x="0" y="0"/>
            <a:chExt cx="1898650" cy="774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48209" y="7800975"/>
            <a:ext cx="200025" cy="200025"/>
            <a:chOff x="0" y="0"/>
            <a:chExt cx="266700" cy="266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019671" y="7743825"/>
            <a:ext cx="700088" cy="285750"/>
            <a:chOff x="0" y="0"/>
            <a:chExt cx="933450" cy="381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048125" y="2333625"/>
            <a:ext cx="3219450" cy="6191250"/>
            <a:chOff x="0" y="0"/>
            <a:chExt cx="4292600" cy="8255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076825" y="2676525"/>
            <a:ext cx="1162050" cy="1162050"/>
            <a:chOff x="0" y="0"/>
            <a:chExt cx="1549400" cy="1549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5447109" y="30432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4329112" y="4000500"/>
            <a:ext cx="2657475" cy="800100"/>
            <a:chOff x="0" y="0"/>
            <a:chExt cx="3543300" cy="1066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543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8" r="0" b="-1471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354330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Delivery Management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400550" y="5029200"/>
            <a:ext cx="2628900" cy="2400300"/>
            <a:chOff x="0" y="0"/>
            <a:chExt cx="3505200" cy="3200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052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46" t="0" r="-67146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04775"/>
              <a:ext cx="3505200" cy="330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Complete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CRUD operations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for shipments with status tracking and scheduling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943846" y="7596188"/>
            <a:ext cx="1423988" cy="581025"/>
            <a:chOff x="0" y="0"/>
            <a:chExt cx="1898650" cy="774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234359" y="7800975"/>
            <a:ext cx="200025" cy="200025"/>
            <a:chOff x="0" y="0"/>
            <a:chExt cx="266700" cy="2667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505821" y="7743825"/>
            <a:ext cx="700088" cy="285750"/>
            <a:chOff x="0" y="0"/>
            <a:chExt cx="933450" cy="381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534275" y="2333625"/>
            <a:ext cx="3219450" cy="6191250"/>
            <a:chOff x="0" y="0"/>
            <a:chExt cx="4292600" cy="8255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562975" y="2676525"/>
            <a:ext cx="1162050" cy="1162050"/>
            <a:chOff x="0" y="0"/>
            <a:chExt cx="1549400" cy="1549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8906475" y="3043238"/>
            <a:ext cx="482203" cy="428625"/>
          </a:xfrm>
          <a:custGeom>
            <a:avLst/>
            <a:gdLst/>
            <a:ahLst/>
            <a:cxnLst/>
            <a:rect r="r" b="b" t="t" l="l"/>
            <a:pathLst>
              <a:path h="428625" w="482203">
                <a:moveTo>
                  <a:pt x="0" y="0"/>
                </a:moveTo>
                <a:lnTo>
                  <a:pt x="482203" y="0"/>
                </a:lnTo>
                <a:lnTo>
                  <a:pt x="482203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7885805" y="4000500"/>
            <a:ext cx="2514600" cy="400050"/>
            <a:chOff x="0" y="0"/>
            <a:chExt cx="3352800" cy="533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352800" cy="533400"/>
            </a:xfrm>
            <a:custGeom>
              <a:avLst/>
              <a:gdLst/>
              <a:ahLst/>
              <a:cxnLst/>
              <a:rect r="r" b="b" t="t" l="l"/>
              <a:pathLst>
                <a:path h="533400" w="3352800">
                  <a:moveTo>
                    <a:pt x="0" y="0"/>
                  </a:moveTo>
                  <a:lnTo>
                    <a:pt x="3352800" y="0"/>
                  </a:lnTo>
                  <a:lnTo>
                    <a:pt x="33528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66675"/>
              <a:ext cx="33528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Fleet Management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886700" y="4629150"/>
            <a:ext cx="2628900" cy="2800350"/>
            <a:chOff x="0" y="0"/>
            <a:chExt cx="3505200" cy="3733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052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733800"/>
                  </a:lnTo>
                  <a:lnTo>
                    <a:pt x="0" y="373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671" t="0" r="-86671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04775"/>
              <a:ext cx="3505200" cy="3838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Manage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trucks and vehicles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maintenance tracking and capacity monitoring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429996" y="7596188"/>
            <a:ext cx="1423988" cy="581025"/>
            <a:chOff x="0" y="0"/>
            <a:chExt cx="1898650" cy="7747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720509" y="7800975"/>
            <a:ext cx="200025" cy="200025"/>
            <a:chOff x="0" y="0"/>
            <a:chExt cx="266700" cy="2667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991971" y="7743825"/>
            <a:ext cx="700088" cy="285750"/>
            <a:chOff x="0" y="0"/>
            <a:chExt cx="933450" cy="381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020425" y="2333625"/>
            <a:ext cx="3219450" cy="6191250"/>
            <a:chOff x="0" y="0"/>
            <a:chExt cx="4292600" cy="8255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049125" y="2676525"/>
            <a:ext cx="1162050" cy="1162050"/>
            <a:chOff x="0" y="0"/>
            <a:chExt cx="1549400" cy="1549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12365831" y="3043238"/>
            <a:ext cx="535781" cy="428625"/>
          </a:xfrm>
          <a:custGeom>
            <a:avLst/>
            <a:gdLst/>
            <a:ahLst/>
            <a:cxnLst/>
            <a:rect r="r" b="b" t="t" l="l"/>
            <a:pathLst>
              <a:path h="428625" w="535781">
                <a:moveTo>
                  <a:pt x="0" y="0"/>
                </a:moveTo>
                <a:lnTo>
                  <a:pt x="535781" y="0"/>
                </a:lnTo>
                <a:lnTo>
                  <a:pt x="535781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1306175" y="4000500"/>
            <a:ext cx="2587076" cy="409255"/>
            <a:chOff x="0" y="0"/>
            <a:chExt cx="3371850" cy="5334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371850" cy="533400"/>
            </a:xfrm>
            <a:custGeom>
              <a:avLst/>
              <a:gdLst/>
              <a:ahLst/>
              <a:cxnLst/>
              <a:rect r="r" b="b" t="t" l="l"/>
              <a:pathLst>
                <a:path h="533400" w="3371850">
                  <a:moveTo>
                    <a:pt x="0" y="0"/>
                  </a:moveTo>
                  <a:lnTo>
                    <a:pt x="3371850" y="0"/>
                  </a:lnTo>
                  <a:lnTo>
                    <a:pt x="3371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173" r="0" b="-73173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66675"/>
              <a:ext cx="33718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Shipment Tracking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372850" y="4629150"/>
            <a:ext cx="2628900" cy="2800350"/>
            <a:chOff x="0" y="0"/>
            <a:chExt cx="3505200" cy="37338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5052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733800"/>
                  </a:lnTo>
                  <a:lnTo>
                    <a:pt x="0" y="373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671" t="0" r="-86671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04775"/>
              <a:ext cx="3505200" cy="3838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Real-time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GPS tracking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interactive maps and location updates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916146" y="7596188"/>
            <a:ext cx="1423988" cy="581025"/>
            <a:chOff x="0" y="0"/>
            <a:chExt cx="1898650" cy="7747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206659" y="7800975"/>
            <a:ext cx="200025" cy="200025"/>
            <a:chOff x="0" y="0"/>
            <a:chExt cx="266700" cy="2667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478121" y="7743825"/>
            <a:ext cx="700088" cy="285750"/>
            <a:chOff x="0" y="0"/>
            <a:chExt cx="933450" cy="3810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506575" y="2333625"/>
            <a:ext cx="3219450" cy="6191250"/>
            <a:chOff x="0" y="0"/>
            <a:chExt cx="4292600" cy="8255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535275" y="2676525"/>
            <a:ext cx="1162050" cy="1162050"/>
            <a:chOff x="0" y="0"/>
            <a:chExt cx="1549400" cy="1549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10" id="110"/>
          <p:cNvSpPr/>
          <p:nvPr/>
        </p:nvSpPr>
        <p:spPr>
          <a:xfrm flipH="false" flipV="false" rot="0">
            <a:off x="15851981" y="3043238"/>
            <a:ext cx="535781" cy="428625"/>
          </a:xfrm>
          <a:custGeom>
            <a:avLst/>
            <a:gdLst/>
            <a:ahLst/>
            <a:cxnLst/>
            <a:rect r="r" b="b" t="t" l="l"/>
            <a:pathLst>
              <a:path h="428625" w="535781">
                <a:moveTo>
                  <a:pt x="0" y="0"/>
                </a:moveTo>
                <a:lnTo>
                  <a:pt x="535781" y="0"/>
                </a:lnTo>
                <a:lnTo>
                  <a:pt x="535781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14794040" y="4000500"/>
            <a:ext cx="2643188" cy="400050"/>
            <a:chOff x="0" y="0"/>
            <a:chExt cx="3524250" cy="5334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24250" cy="533400"/>
            </a:xfrm>
            <a:custGeom>
              <a:avLst/>
              <a:gdLst/>
              <a:ahLst/>
              <a:cxnLst/>
              <a:rect r="r" b="b" t="t" l="l"/>
              <a:pathLst>
                <a:path h="533400" w="3524250">
                  <a:moveTo>
                    <a:pt x="0" y="0"/>
                  </a:moveTo>
                  <a:lnTo>
                    <a:pt x="3524250" y="0"/>
                  </a:lnTo>
                  <a:lnTo>
                    <a:pt x="35242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740" r="0" b="-78740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66675"/>
              <a:ext cx="35242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Agent Management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859000" y="4629150"/>
            <a:ext cx="2628900" cy="2800350"/>
            <a:chOff x="0" y="0"/>
            <a:chExt cx="3505200" cy="3733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5052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733800"/>
                  </a:lnTo>
                  <a:lnTo>
                    <a:pt x="0" y="373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671" t="0" r="-86671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04775"/>
              <a:ext cx="3505200" cy="3838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Track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delivery agents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assignment, performance metrics, and availability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402296" y="7596188"/>
            <a:ext cx="1423988" cy="581025"/>
            <a:chOff x="0" y="0"/>
            <a:chExt cx="1898650" cy="7747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5692809" y="7800975"/>
            <a:ext cx="200025" cy="200025"/>
            <a:chOff x="0" y="0"/>
            <a:chExt cx="266700" cy="2667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5964271" y="7743825"/>
            <a:ext cx="700088" cy="285750"/>
            <a:chOff x="0" y="0"/>
            <a:chExt cx="933450" cy="3810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561975" y="8734425"/>
            <a:ext cx="17164050" cy="990600"/>
            <a:chOff x="0" y="0"/>
            <a:chExt cx="22885400" cy="13208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50800" y="50800"/>
              <a:ext cx="22783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783800">
                  <a:moveTo>
                    <a:pt x="0" y="0"/>
                  </a:moveTo>
                  <a:lnTo>
                    <a:pt x="22783800" y="0"/>
                  </a:lnTo>
                  <a:lnTo>
                    <a:pt x="22783800" y="1219200"/>
                  </a:lnTo>
                  <a:lnTo>
                    <a:pt x="0" y="12192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50800" y="0"/>
              <a:ext cx="228346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2834600">
                  <a:moveTo>
                    <a:pt x="0" y="0"/>
                  </a:moveTo>
                  <a:lnTo>
                    <a:pt x="22783800" y="0"/>
                  </a:lnTo>
                  <a:cubicBezTo>
                    <a:pt x="22811867" y="0"/>
                    <a:pt x="22834600" y="22733"/>
                    <a:pt x="22834600" y="50800"/>
                  </a:cubicBezTo>
                  <a:lnTo>
                    <a:pt x="22834600" y="1270000"/>
                  </a:lnTo>
                  <a:cubicBezTo>
                    <a:pt x="22834600" y="1298067"/>
                    <a:pt x="22811867" y="1320800"/>
                    <a:pt x="22783800" y="1320800"/>
                  </a:cubicBezTo>
                  <a:lnTo>
                    <a:pt x="0" y="1320800"/>
                  </a:lnTo>
                  <a:lnTo>
                    <a:pt x="0" y="1219200"/>
                  </a:lnTo>
                  <a:lnTo>
                    <a:pt x="22783800" y="1219200"/>
                  </a:lnTo>
                  <a:lnTo>
                    <a:pt x="22783800" y="1270000"/>
                  </a:lnTo>
                  <a:lnTo>
                    <a:pt x="22733000" y="1270000"/>
                  </a:lnTo>
                  <a:lnTo>
                    <a:pt x="22733000" y="50800"/>
                  </a:lnTo>
                  <a:lnTo>
                    <a:pt x="22783800" y="50800"/>
                  </a:lnTo>
                  <a:lnTo>
                    <a:pt x="22783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28" id="128"/>
          <p:cNvSpPr/>
          <p:nvPr/>
        </p:nvSpPr>
        <p:spPr>
          <a:xfrm flipH="false" flipV="false" rot="0">
            <a:off x="2630691" y="9072562"/>
            <a:ext cx="357188" cy="285750"/>
          </a:xfrm>
          <a:custGeom>
            <a:avLst/>
            <a:gdLst/>
            <a:ahLst/>
            <a:cxnLst/>
            <a:rect r="r" b="b" t="t" l="l"/>
            <a:pathLst>
              <a:path h="285750" w="357188">
                <a:moveTo>
                  <a:pt x="0" y="0"/>
                </a:moveTo>
                <a:lnTo>
                  <a:pt x="357187" y="0"/>
                </a:lnTo>
                <a:lnTo>
                  <a:pt x="357187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9" id="129"/>
          <p:cNvGrpSpPr/>
          <p:nvPr/>
        </p:nvGrpSpPr>
        <p:grpSpPr>
          <a:xfrm rot="0">
            <a:off x="1717253" y="9058275"/>
            <a:ext cx="16273462" cy="400050"/>
            <a:chOff x="0" y="0"/>
            <a:chExt cx="21697950" cy="5334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697950" cy="533400"/>
            </a:xfrm>
            <a:custGeom>
              <a:avLst/>
              <a:gdLst/>
              <a:ahLst/>
              <a:cxnLst/>
              <a:rect r="r" b="b" t="t" l="l"/>
              <a:pathLst>
                <a:path h="533400" w="21697950">
                  <a:moveTo>
                    <a:pt x="0" y="0"/>
                  </a:moveTo>
                  <a:lnTo>
                    <a:pt x="21697950" y="0"/>
                  </a:lnTo>
                  <a:lnTo>
                    <a:pt x="21697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2623" r="0" b="-742623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66675"/>
              <a:ext cx="216979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Core functionality provides complete logistics operations management from planning to execution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37606" y="-292894"/>
            <a:ext cx="1300162" cy="1300162"/>
            <a:chOff x="0" y="0"/>
            <a:chExt cx="1733550" cy="1733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657350" cy="1657350"/>
            </a:xfrm>
            <a:custGeom>
              <a:avLst/>
              <a:gdLst/>
              <a:ahLst/>
              <a:cxnLst/>
              <a:rect r="r" b="b" t="t" l="l"/>
              <a:pathLst>
                <a:path h="1657350" w="1657350">
                  <a:moveTo>
                    <a:pt x="0" y="828675"/>
                  </a:moveTo>
                  <a:cubicBezTo>
                    <a:pt x="0" y="370967"/>
                    <a:pt x="370967" y="0"/>
                    <a:pt x="828675" y="0"/>
                  </a:cubicBezTo>
                  <a:cubicBezTo>
                    <a:pt x="1286383" y="0"/>
                    <a:pt x="1657350" y="370967"/>
                    <a:pt x="1657350" y="828675"/>
                  </a:cubicBezTo>
                  <a:cubicBezTo>
                    <a:pt x="1657350" y="1286383"/>
                    <a:pt x="1286383" y="1657350"/>
                    <a:pt x="828675" y="1657350"/>
                  </a:cubicBezTo>
                  <a:cubicBezTo>
                    <a:pt x="370967" y="1657350"/>
                    <a:pt x="0" y="1286383"/>
                    <a:pt x="0" y="828675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33550" cy="1733550"/>
            </a:xfrm>
            <a:custGeom>
              <a:avLst/>
              <a:gdLst/>
              <a:ahLst/>
              <a:cxnLst/>
              <a:rect r="r" b="b" t="t" l="l"/>
              <a:pathLst>
                <a:path h="1733550" w="1733550">
                  <a:moveTo>
                    <a:pt x="0" y="866775"/>
                  </a:moveTo>
                  <a:cubicBezTo>
                    <a:pt x="0" y="388112"/>
                    <a:pt x="388112" y="0"/>
                    <a:pt x="866775" y="0"/>
                  </a:cubicBezTo>
                  <a:cubicBezTo>
                    <a:pt x="873887" y="0"/>
                    <a:pt x="880872" y="2032"/>
                    <a:pt x="886968" y="5842"/>
                  </a:cubicBezTo>
                  <a:lnTo>
                    <a:pt x="866775" y="38100"/>
                  </a:lnTo>
                  <a:lnTo>
                    <a:pt x="866775" y="0"/>
                  </a:lnTo>
                  <a:lnTo>
                    <a:pt x="866775" y="38100"/>
                  </a:lnTo>
                  <a:lnTo>
                    <a:pt x="866775" y="0"/>
                  </a:lnTo>
                  <a:cubicBezTo>
                    <a:pt x="1345438" y="0"/>
                    <a:pt x="1733550" y="388112"/>
                    <a:pt x="1733550" y="866775"/>
                  </a:cubicBezTo>
                  <a:cubicBezTo>
                    <a:pt x="1733550" y="876935"/>
                    <a:pt x="1729486" y="886587"/>
                    <a:pt x="1722374" y="893699"/>
                  </a:cubicBezTo>
                  <a:lnTo>
                    <a:pt x="1695450" y="866775"/>
                  </a:lnTo>
                  <a:lnTo>
                    <a:pt x="1733550" y="866775"/>
                  </a:lnTo>
                  <a:cubicBezTo>
                    <a:pt x="1733550" y="1345438"/>
                    <a:pt x="1345438" y="1733550"/>
                    <a:pt x="866775" y="1733550"/>
                  </a:cubicBezTo>
                  <a:lnTo>
                    <a:pt x="866775" y="1695450"/>
                  </a:lnTo>
                  <a:lnTo>
                    <a:pt x="866775" y="1733550"/>
                  </a:lnTo>
                  <a:cubicBezTo>
                    <a:pt x="388112" y="1733550"/>
                    <a:pt x="0" y="1345438"/>
                    <a:pt x="0" y="866775"/>
                  </a:cubicBezTo>
                  <a:moveTo>
                    <a:pt x="76200" y="866775"/>
                  </a:moveTo>
                  <a:lnTo>
                    <a:pt x="38100" y="866775"/>
                  </a:lnTo>
                  <a:lnTo>
                    <a:pt x="76200" y="866775"/>
                  </a:lnTo>
                  <a:cubicBezTo>
                    <a:pt x="76200" y="1303401"/>
                    <a:pt x="430149" y="1657350"/>
                    <a:pt x="866775" y="1657350"/>
                  </a:cubicBezTo>
                  <a:cubicBezTo>
                    <a:pt x="1303401" y="1657350"/>
                    <a:pt x="1657350" y="1303401"/>
                    <a:pt x="1657350" y="866775"/>
                  </a:cubicBezTo>
                  <a:cubicBezTo>
                    <a:pt x="1657350" y="856615"/>
                    <a:pt x="1661414" y="846963"/>
                    <a:pt x="1668526" y="839851"/>
                  </a:cubicBezTo>
                  <a:lnTo>
                    <a:pt x="1695450" y="866775"/>
                  </a:lnTo>
                  <a:lnTo>
                    <a:pt x="1657350" y="866775"/>
                  </a:lnTo>
                  <a:cubicBezTo>
                    <a:pt x="1657350" y="430149"/>
                    <a:pt x="1303401" y="76200"/>
                    <a:pt x="866775" y="76200"/>
                  </a:cubicBezTo>
                  <a:cubicBezTo>
                    <a:pt x="859663" y="76200"/>
                    <a:pt x="852678" y="74168"/>
                    <a:pt x="846582" y="70358"/>
                  </a:cubicBezTo>
                  <a:lnTo>
                    <a:pt x="866775" y="38100"/>
                  </a:lnTo>
                  <a:lnTo>
                    <a:pt x="866775" y="76200"/>
                  </a:lnTo>
                  <a:cubicBezTo>
                    <a:pt x="430149" y="76200"/>
                    <a:pt x="76200" y="430149"/>
                    <a:pt x="76200" y="866775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1800000">
            <a:off x="465830" y="8395392"/>
            <a:ext cx="942975" cy="942975"/>
            <a:chOff x="0" y="0"/>
            <a:chExt cx="1257300" cy="1257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1811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181100">
                  <a:moveTo>
                    <a:pt x="0" y="0"/>
                  </a:moveTo>
                  <a:lnTo>
                    <a:pt x="1181100" y="0"/>
                  </a:lnTo>
                  <a:lnTo>
                    <a:pt x="1181100" y="1181100"/>
                  </a:lnTo>
                  <a:lnTo>
                    <a:pt x="0" y="11811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00" y="0"/>
              <a:ext cx="12192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219200">
                  <a:moveTo>
                    <a:pt x="0" y="0"/>
                  </a:moveTo>
                  <a:lnTo>
                    <a:pt x="1181100" y="0"/>
                  </a:lnTo>
                  <a:cubicBezTo>
                    <a:pt x="1202182" y="0"/>
                    <a:pt x="1219200" y="17018"/>
                    <a:pt x="1219200" y="38100"/>
                  </a:cubicBezTo>
                  <a:lnTo>
                    <a:pt x="1219200" y="1219200"/>
                  </a:lnTo>
                  <a:cubicBezTo>
                    <a:pt x="1219200" y="1240282"/>
                    <a:pt x="1202182" y="1257300"/>
                    <a:pt x="1181100" y="1257300"/>
                  </a:cubicBezTo>
                  <a:lnTo>
                    <a:pt x="0" y="1257300"/>
                  </a:lnTo>
                  <a:lnTo>
                    <a:pt x="0" y="1181100"/>
                  </a:lnTo>
                  <a:lnTo>
                    <a:pt x="1181100" y="1181100"/>
                  </a:lnTo>
                  <a:lnTo>
                    <a:pt x="1181100" y="1219200"/>
                  </a:lnTo>
                  <a:lnTo>
                    <a:pt x="1143000" y="1219200"/>
                  </a:lnTo>
                  <a:lnTo>
                    <a:pt x="1143000" y="38100"/>
                  </a:lnTo>
                  <a:lnTo>
                    <a:pt x="1181100" y="38100"/>
                  </a:lnTo>
                  <a:lnTo>
                    <a:pt x="1181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1200000">
            <a:off x="16761543" y="2902668"/>
            <a:ext cx="657225" cy="657225"/>
            <a:chOff x="0" y="0"/>
            <a:chExt cx="876300" cy="876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800100" cy="800100"/>
            </a:xfrm>
            <a:custGeom>
              <a:avLst/>
              <a:gdLst/>
              <a:ahLst/>
              <a:cxnLst/>
              <a:rect r="r" b="b" t="t" l="l"/>
              <a:pathLst>
                <a:path h="800100" w="800100">
                  <a:moveTo>
                    <a:pt x="0" y="0"/>
                  </a:moveTo>
                  <a:lnTo>
                    <a:pt x="800100" y="0"/>
                  </a:lnTo>
                  <a:lnTo>
                    <a:pt x="800100" y="800100"/>
                  </a:lnTo>
                  <a:lnTo>
                    <a:pt x="0" y="8001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838200" cy="876300"/>
            </a:xfrm>
            <a:custGeom>
              <a:avLst/>
              <a:gdLst/>
              <a:ahLst/>
              <a:cxnLst/>
              <a:rect r="r" b="b" t="t" l="l"/>
              <a:pathLst>
                <a:path h="876300" w="838200">
                  <a:moveTo>
                    <a:pt x="0" y="0"/>
                  </a:moveTo>
                  <a:lnTo>
                    <a:pt x="800100" y="0"/>
                  </a:lnTo>
                  <a:cubicBezTo>
                    <a:pt x="821182" y="0"/>
                    <a:pt x="838200" y="17018"/>
                    <a:pt x="838200" y="38100"/>
                  </a:cubicBezTo>
                  <a:lnTo>
                    <a:pt x="838200" y="838200"/>
                  </a:lnTo>
                  <a:cubicBezTo>
                    <a:pt x="838200" y="859282"/>
                    <a:pt x="821182" y="876300"/>
                    <a:pt x="800100" y="876300"/>
                  </a:cubicBezTo>
                  <a:lnTo>
                    <a:pt x="0" y="876300"/>
                  </a:lnTo>
                  <a:lnTo>
                    <a:pt x="0" y="800100"/>
                  </a:lnTo>
                  <a:lnTo>
                    <a:pt x="800100" y="800100"/>
                  </a:lnTo>
                  <a:lnTo>
                    <a:pt x="800100" y="838200"/>
                  </a:lnTo>
                  <a:lnTo>
                    <a:pt x="762000" y="838200"/>
                  </a:lnTo>
                  <a:lnTo>
                    <a:pt x="762000" y="38100"/>
                  </a:lnTo>
                  <a:lnTo>
                    <a:pt x="800100" y="38100"/>
                  </a:lnTo>
                  <a:lnTo>
                    <a:pt x="8001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1975" y="561975"/>
            <a:ext cx="2976562" cy="704850"/>
            <a:chOff x="0" y="0"/>
            <a:chExt cx="3968750" cy="93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867150" cy="838200"/>
            </a:xfrm>
            <a:custGeom>
              <a:avLst/>
              <a:gdLst/>
              <a:ahLst/>
              <a:cxnLst/>
              <a:rect r="r" b="b" t="t" l="l"/>
              <a:pathLst>
                <a:path h="8382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838200"/>
                  </a:lnTo>
                  <a:lnTo>
                    <a:pt x="0" y="8382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917950" cy="939800"/>
            </a:xfrm>
            <a:custGeom>
              <a:avLst/>
              <a:gdLst/>
              <a:ahLst/>
              <a:cxnLst/>
              <a:rect r="r" b="b" t="t" l="l"/>
              <a:pathLst>
                <a:path h="939800" w="3917950">
                  <a:moveTo>
                    <a:pt x="0" y="0"/>
                  </a:moveTo>
                  <a:lnTo>
                    <a:pt x="3867150" y="0"/>
                  </a:lnTo>
                  <a:cubicBezTo>
                    <a:pt x="3895217" y="0"/>
                    <a:pt x="3917950" y="22733"/>
                    <a:pt x="3917950" y="50800"/>
                  </a:cubicBezTo>
                  <a:lnTo>
                    <a:pt x="3917950" y="889000"/>
                  </a:lnTo>
                  <a:cubicBezTo>
                    <a:pt x="3917950" y="917067"/>
                    <a:pt x="3895217" y="939800"/>
                    <a:pt x="3867150" y="939800"/>
                  </a:cubicBezTo>
                  <a:lnTo>
                    <a:pt x="0" y="939800"/>
                  </a:lnTo>
                  <a:lnTo>
                    <a:pt x="0" y="838200"/>
                  </a:lnTo>
                  <a:lnTo>
                    <a:pt x="3867150" y="838200"/>
                  </a:lnTo>
                  <a:lnTo>
                    <a:pt x="3867150" y="889000"/>
                  </a:lnTo>
                  <a:lnTo>
                    <a:pt x="3816350" y="889000"/>
                  </a:lnTo>
                  <a:lnTo>
                    <a:pt x="3816350" y="50800"/>
                  </a:lnTo>
                  <a:lnTo>
                    <a:pt x="3867150" y="50800"/>
                  </a:lnTo>
                  <a:lnTo>
                    <a:pt x="38671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1500" y="571500"/>
            <a:ext cx="2957512" cy="571500"/>
            <a:chOff x="0" y="0"/>
            <a:chExt cx="394335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43350" cy="762000"/>
            </a:xfrm>
            <a:custGeom>
              <a:avLst/>
              <a:gdLst/>
              <a:ahLst/>
              <a:cxnLst/>
              <a:rect r="r" b="b" t="t" l="l"/>
              <a:pathLst>
                <a:path h="762000" w="3943350">
                  <a:moveTo>
                    <a:pt x="0" y="0"/>
                  </a:moveTo>
                  <a:lnTo>
                    <a:pt x="3943350" y="0"/>
                  </a:lnTo>
                  <a:lnTo>
                    <a:pt x="394335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835" r="0" b="-5083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94335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ADVANCED FEATURES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1500" y="1428750"/>
            <a:ext cx="17487900" cy="685800"/>
            <a:chOff x="0" y="0"/>
            <a:chExt cx="23317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1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0"/>
              <a:ext cx="233172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Features — Advanced Capabilities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1975" y="2333625"/>
            <a:ext cx="3219450" cy="6191250"/>
            <a:chOff x="0" y="0"/>
            <a:chExt cx="4292600" cy="8255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590675" y="2676525"/>
            <a:ext cx="1162050" cy="1162050"/>
            <a:chOff x="0" y="0"/>
            <a:chExt cx="1549400" cy="1549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960959" y="30432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842962" y="4000500"/>
            <a:ext cx="2657475" cy="800100"/>
            <a:chOff x="0" y="0"/>
            <a:chExt cx="3543300" cy="1066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43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8" r="0" b="-1471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354330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Analytics Dashboard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5029200"/>
            <a:ext cx="2628900" cy="2400300"/>
            <a:chOff x="0" y="0"/>
            <a:chExt cx="3505200" cy="3200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052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46" t="0" r="-6714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3505200" cy="330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Interactive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 visualization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Chart.js for delivery metrics and KPIs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57696" y="7596188"/>
            <a:ext cx="1423988" cy="581025"/>
            <a:chOff x="0" y="0"/>
            <a:chExt cx="1898650" cy="774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748209" y="7800975"/>
            <a:ext cx="200025" cy="200025"/>
            <a:chOff x="0" y="0"/>
            <a:chExt cx="266700" cy="2667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2019671" y="7743825"/>
            <a:ext cx="700088" cy="285750"/>
            <a:chOff x="0" y="0"/>
            <a:chExt cx="933450" cy="3810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048125" y="2333625"/>
            <a:ext cx="3219450" cy="6191250"/>
            <a:chOff x="0" y="0"/>
            <a:chExt cx="4292600" cy="8255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076825" y="2676525"/>
            <a:ext cx="1162050" cy="1162050"/>
            <a:chOff x="0" y="0"/>
            <a:chExt cx="1549400" cy="1549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5447109" y="30432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4358802" y="4000500"/>
            <a:ext cx="2739653" cy="421485"/>
            <a:chOff x="0" y="0"/>
            <a:chExt cx="3467100" cy="533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467100" cy="533400"/>
            </a:xfrm>
            <a:custGeom>
              <a:avLst/>
              <a:gdLst/>
              <a:ahLst/>
              <a:cxnLst/>
              <a:rect r="r" b="b" t="t" l="l"/>
              <a:pathLst>
                <a:path h="533400" w="3467100">
                  <a:moveTo>
                    <a:pt x="0" y="0"/>
                  </a:moveTo>
                  <a:lnTo>
                    <a:pt x="3467100" y="0"/>
                  </a:lnTo>
                  <a:lnTo>
                    <a:pt x="34671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34671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Visualization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400550" y="4629150"/>
            <a:ext cx="2628900" cy="2800350"/>
            <a:chOff x="0" y="0"/>
            <a:chExt cx="3505200" cy="3733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5052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733800"/>
                  </a:lnTo>
                  <a:lnTo>
                    <a:pt x="0" y="373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671" t="0" r="-86671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04775"/>
              <a:ext cx="3505200" cy="3838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Cytoscape.js integration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for interactive network graphs showing routes and nodes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943846" y="7596188"/>
            <a:ext cx="1423988" cy="581025"/>
            <a:chOff x="0" y="0"/>
            <a:chExt cx="1898650" cy="774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234359" y="7800975"/>
            <a:ext cx="200025" cy="200025"/>
            <a:chOff x="0" y="0"/>
            <a:chExt cx="266700" cy="2667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505821" y="7743825"/>
            <a:ext cx="700088" cy="285750"/>
            <a:chOff x="0" y="0"/>
            <a:chExt cx="933450" cy="381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534275" y="2333625"/>
            <a:ext cx="3219450" cy="6191250"/>
            <a:chOff x="0" y="0"/>
            <a:chExt cx="4292600" cy="82550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8562975" y="2676525"/>
            <a:ext cx="1162050" cy="1162050"/>
            <a:chOff x="0" y="0"/>
            <a:chExt cx="1549400" cy="1549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8" id="68"/>
          <p:cNvSpPr/>
          <p:nvPr/>
        </p:nvSpPr>
        <p:spPr>
          <a:xfrm flipH="false" flipV="false" rot="0">
            <a:off x="8960053" y="3043238"/>
            <a:ext cx="375047" cy="428625"/>
          </a:xfrm>
          <a:custGeom>
            <a:avLst/>
            <a:gdLst/>
            <a:ahLst/>
            <a:cxnLst/>
            <a:rect r="r" b="b" t="t" l="l"/>
            <a:pathLst>
              <a:path h="428625" w="375047">
                <a:moveTo>
                  <a:pt x="0" y="0"/>
                </a:moveTo>
                <a:lnTo>
                  <a:pt x="375047" y="0"/>
                </a:lnTo>
                <a:lnTo>
                  <a:pt x="375047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7954118" y="4000500"/>
            <a:ext cx="2513857" cy="421485"/>
            <a:chOff x="0" y="0"/>
            <a:chExt cx="3181350" cy="533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181350" cy="533400"/>
            </a:xfrm>
            <a:custGeom>
              <a:avLst/>
              <a:gdLst/>
              <a:ahLst/>
              <a:cxnLst/>
              <a:rect r="r" b="b" t="t" l="l"/>
              <a:pathLst>
                <a:path h="533400" w="3181350">
                  <a:moveTo>
                    <a:pt x="0" y="0"/>
                  </a:moveTo>
                  <a:lnTo>
                    <a:pt x="3181350" y="0"/>
                  </a:lnTo>
                  <a:lnTo>
                    <a:pt x="31813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214" r="0" b="-6621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66675"/>
              <a:ext cx="31813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CRUD Operations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886700" y="4629150"/>
            <a:ext cx="2628900" cy="2800350"/>
            <a:chOff x="0" y="0"/>
            <a:chExt cx="3505200" cy="37338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505200" cy="3733800"/>
            </a:xfrm>
            <a:custGeom>
              <a:avLst/>
              <a:gdLst/>
              <a:ahLst/>
              <a:cxnLst/>
              <a:rect r="r" b="b" t="t" l="l"/>
              <a:pathLst>
                <a:path h="37338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733800"/>
                  </a:lnTo>
                  <a:lnTo>
                    <a:pt x="0" y="3733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671" t="0" r="-86671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04775"/>
              <a:ext cx="3505200" cy="3838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Full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Create, Read, Update, Delete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functionality for all data entities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429996" y="7596188"/>
            <a:ext cx="1423988" cy="581025"/>
            <a:chOff x="0" y="0"/>
            <a:chExt cx="1898650" cy="7747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720509" y="7800975"/>
            <a:ext cx="200025" cy="200025"/>
            <a:chOff x="0" y="0"/>
            <a:chExt cx="266700" cy="2667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991971" y="7743825"/>
            <a:ext cx="700088" cy="285750"/>
            <a:chOff x="0" y="0"/>
            <a:chExt cx="933450" cy="381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020425" y="2333625"/>
            <a:ext cx="3219450" cy="6191250"/>
            <a:chOff x="0" y="0"/>
            <a:chExt cx="4292600" cy="8255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2049125" y="2676525"/>
            <a:ext cx="1162050" cy="1162050"/>
            <a:chOff x="0" y="0"/>
            <a:chExt cx="1549400" cy="15494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89" id="89"/>
          <p:cNvSpPr/>
          <p:nvPr/>
        </p:nvSpPr>
        <p:spPr>
          <a:xfrm flipH="false" flipV="false" rot="0">
            <a:off x="12419409" y="30432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1301412" y="4000500"/>
            <a:ext cx="2657475" cy="800100"/>
            <a:chOff x="0" y="0"/>
            <a:chExt cx="3543300" cy="10668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543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8" r="0" b="-14718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66675"/>
              <a:ext cx="354330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Real-Time Monitoring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372850" y="5029200"/>
            <a:ext cx="2628900" cy="2400300"/>
            <a:chOff x="0" y="0"/>
            <a:chExt cx="3505200" cy="32004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5052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46" t="0" r="-67146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04775"/>
              <a:ext cx="3505200" cy="330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Live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shipment tracking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automated alerts and status notifications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1916146" y="7596188"/>
            <a:ext cx="1423988" cy="581025"/>
            <a:chOff x="0" y="0"/>
            <a:chExt cx="1898650" cy="7747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206659" y="7800975"/>
            <a:ext cx="200025" cy="200025"/>
            <a:chOff x="0" y="0"/>
            <a:chExt cx="266700" cy="2667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478121" y="7743825"/>
            <a:ext cx="700088" cy="285750"/>
            <a:chOff x="0" y="0"/>
            <a:chExt cx="933450" cy="3810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4506575" y="2333625"/>
            <a:ext cx="3219450" cy="6191250"/>
            <a:chOff x="0" y="0"/>
            <a:chExt cx="4292600" cy="82550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50800" y="50800"/>
              <a:ext cx="4191000" cy="8153400"/>
            </a:xfrm>
            <a:custGeom>
              <a:avLst/>
              <a:gdLst/>
              <a:ahLst/>
              <a:cxnLst/>
              <a:rect r="r" b="b" t="t" l="l"/>
              <a:pathLst>
                <a:path h="8153400" w="4191000">
                  <a:moveTo>
                    <a:pt x="0" y="0"/>
                  </a:moveTo>
                  <a:lnTo>
                    <a:pt x="4191000" y="0"/>
                  </a:lnTo>
                  <a:lnTo>
                    <a:pt x="4191000" y="8153400"/>
                  </a:lnTo>
                  <a:lnTo>
                    <a:pt x="0" y="81534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50800" y="0"/>
              <a:ext cx="42418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4241800">
                  <a:moveTo>
                    <a:pt x="0" y="0"/>
                  </a:moveTo>
                  <a:lnTo>
                    <a:pt x="4191000" y="0"/>
                  </a:lnTo>
                  <a:cubicBezTo>
                    <a:pt x="4219067" y="0"/>
                    <a:pt x="4241800" y="22733"/>
                    <a:pt x="4241800" y="50800"/>
                  </a:cubicBezTo>
                  <a:lnTo>
                    <a:pt x="4241800" y="8204200"/>
                  </a:lnTo>
                  <a:cubicBezTo>
                    <a:pt x="4241800" y="8232267"/>
                    <a:pt x="4219067" y="8255000"/>
                    <a:pt x="4191000" y="8255000"/>
                  </a:cubicBezTo>
                  <a:lnTo>
                    <a:pt x="0" y="8255000"/>
                  </a:lnTo>
                  <a:lnTo>
                    <a:pt x="0" y="8153400"/>
                  </a:lnTo>
                  <a:lnTo>
                    <a:pt x="4191000" y="8153400"/>
                  </a:lnTo>
                  <a:lnTo>
                    <a:pt x="4191000" y="8204200"/>
                  </a:lnTo>
                  <a:lnTo>
                    <a:pt x="4140200" y="8204200"/>
                  </a:lnTo>
                  <a:lnTo>
                    <a:pt x="4140200" y="50800"/>
                  </a:lnTo>
                  <a:lnTo>
                    <a:pt x="4191000" y="50800"/>
                  </a:lnTo>
                  <a:lnTo>
                    <a:pt x="4191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535275" y="2676525"/>
            <a:ext cx="1162050" cy="1162050"/>
            <a:chOff x="0" y="0"/>
            <a:chExt cx="1549400" cy="15494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10" id="110"/>
          <p:cNvSpPr/>
          <p:nvPr/>
        </p:nvSpPr>
        <p:spPr>
          <a:xfrm flipH="false" flipV="false" rot="0">
            <a:off x="15905559" y="30432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14787562" y="4000500"/>
            <a:ext cx="2657475" cy="800100"/>
            <a:chOff x="0" y="0"/>
            <a:chExt cx="3543300" cy="106680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35433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543300">
                  <a:moveTo>
                    <a:pt x="0" y="0"/>
                  </a:moveTo>
                  <a:lnTo>
                    <a:pt x="3543300" y="0"/>
                  </a:lnTo>
                  <a:lnTo>
                    <a:pt x="3543300" y="1066800"/>
                  </a:lnTo>
                  <a:lnTo>
                    <a:pt x="0" y="106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8" r="0" b="-14718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66675"/>
              <a:ext cx="3543300" cy="1133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Professional Dark UI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14859000" y="5029200"/>
            <a:ext cx="2628900" cy="2400300"/>
            <a:chOff x="0" y="0"/>
            <a:chExt cx="3505200" cy="32004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35052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3505200">
                  <a:moveTo>
                    <a:pt x="0" y="0"/>
                  </a:moveTo>
                  <a:lnTo>
                    <a:pt x="3505200" y="0"/>
                  </a:lnTo>
                  <a:lnTo>
                    <a:pt x="3505200" y="3200400"/>
                  </a:lnTo>
                  <a:lnTo>
                    <a:pt x="0" y="3200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7146" t="0" r="-67146" b="0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04775"/>
              <a:ext cx="3505200" cy="3305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Modern </a:t>
              </a: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dark-themed interface</a:t>
              </a:r>
              <a:r>
                <a:rPr lang="en-US" sz="18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responsive design and intuitive navigation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5402296" y="7596188"/>
            <a:ext cx="1423988" cy="581025"/>
            <a:chOff x="0" y="0"/>
            <a:chExt cx="1898650" cy="7747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25400" y="25400"/>
              <a:ext cx="1847850" cy="723900"/>
            </a:xfrm>
            <a:custGeom>
              <a:avLst/>
              <a:gdLst/>
              <a:ahLst/>
              <a:cxnLst/>
              <a:rect r="r" b="b" t="t" l="l"/>
              <a:pathLst>
                <a:path h="723900" w="1847850">
                  <a:moveTo>
                    <a:pt x="0" y="0"/>
                  </a:moveTo>
                  <a:lnTo>
                    <a:pt x="1847850" y="0"/>
                  </a:lnTo>
                  <a:lnTo>
                    <a:pt x="18478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25400" y="0"/>
              <a:ext cx="1873250" cy="774700"/>
            </a:xfrm>
            <a:custGeom>
              <a:avLst/>
              <a:gdLst/>
              <a:ahLst/>
              <a:cxnLst/>
              <a:rect r="r" b="b" t="t" l="l"/>
              <a:pathLst>
                <a:path h="774700" w="1873250">
                  <a:moveTo>
                    <a:pt x="0" y="0"/>
                  </a:moveTo>
                  <a:lnTo>
                    <a:pt x="1847850" y="0"/>
                  </a:lnTo>
                  <a:cubicBezTo>
                    <a:pt x="1861820" y="0"/>
                    <a:pt x="1873250" y="11430"/>
                    <a:pt x="1873250" y="25400"/>
                  </a:cubicBezTo>
                  <a:lnTo>
                    <a:pt x="1873250" y="749300"/>
                  </a:lnTo>
                  <a:cubicBezTo>
                    <a:pt x="1873250" y="763270"/>
                    <a:pt x="1861820" y="774700"/>
                    <a:pt x="18478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1847850" y="723900"/>
                  </a:lnTo>
                  <a:lnTo>
                    <a:pt x="1847850" y="749300"/>
                  </a:lnTo>
                  <a:lnTo>
                    <a:pt x="1822450" y="749300"/>
                  </a:lnTo>
                  <a:lnTo>
                    <a:pt x="1822450" y="25400"/>
                  </a:lnTo>
                  <a:lnTo>
                    <a:pt x="1847850" y="25400"/>
                  </a:lnTo>
                  <a:lnTo>
                    <a:pt x="18478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5692809" y="7800975"/>
            <a:ext cx="200025" cy="200025"/>
            <a:chOff x="0" y="0"/>
            <a:chExt cx="266700" cy="2667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66700" cy="266700"/>
            </a:xfrm>
            <a:custGeom>
              <a:avLst/>
              <a:gdLst/>
              <a:ahLst/>
              <a:cxnLst/>
              <a:rect r="r" b="b" t="t" l="l"/>
              <a:pathLst>
                <a:path h="266700" w="266700">
                  <a:moveTo>
                    <a:pt x="133350" y="266700"/>
                  </a:moveTo>
                  <a:cubicBezTo>
                    <a:pt x="207010" y="266700"/>
                    <a:pt x="266700" y="207010"/>
                    <a:pt x="266700" y="133350"/>
                  </a:cubicBezTo>
                  <a:cubicBezTo>
                    <a:pt x="266700" y="59690"/>
                    <a:pt x="207010" y="0"/>
                    <a:pt x="133350" y="0"/>
                  </a:cubicBezTo>
                  <a:cubicBezTo>
                    <a:pt x="59690" y="0"/>
                    <a:pt x="0" y="59690"/>
                    <a:pt x="0" y="133350"/>
                  </a:cubicBezTo>
                  <a:cubicBezTo>
                    <a:pt x="0" y="207010"/>
                    <a:pt x="59690" y="266700"/>
                    <a:pt x="133350" y="266700"/>
                  </a:cubicBezTo>
                  <a:close/>
                  <a:moveTo>
                    <a:pt x="177292" y="110744"/>
                  </a:moveTo>
                  <a:lnTo>
                    <a:pt x="135636" y="177419"/>
                  </a:lnTo>
                  <a:cubicBezTo>
                    <a:pt x="133477" y="180848"/>
                    <a:pt x="129667" y="183134"/>
                    <a:pt x="125603" y="183261"/>
                  </a:cubicBezTo>
                  <a:cubicBezTo>
                    <a:pt x="121539" y="183388"/>
                    <a:pt x="117475" y="181610"/>
                    <a:pt x="115062" y="178308"/>
                  </a:cubicBezTo>
                  <a:lnTo>
                    <a:pt x="90043" y="145034"/>
                  </a:lnTo>
                  <a:cubicBezTo>
                    <a:pt x="85852" y="139573"/>
                    <a:pt x="86995" y="131699"/>
                    <a:pt x="92583" y="127508"/>
                  </a:cubicBezTo>
                  <a:cubicBezTo>
                    <a:pt x="98171" y="123317"/>
                    <a:pt x="105918" y="124460"/>
                    <a:pt x="110109" y="130048"/>
                  </a:cubicBezTo>
                  <a:lnTo>
                    <a:pt x="124206" y="148844"/>
                  </a:lnTo>
                  <a:lnTo>
                    <a:pt x="156210" y="97663"/>
                  </a:lnTo>
                  <a:cubicBezTo>
                    <a:pt x="159893" y="91821"/>
                    <a:pt x="167513" y="90043"/>
                    <a:pt x="173482" y="93726"/>
                  </a:cubicBezTo>
                  <a:cubicBezTo>
                    <a:pt x="179451" y="97409"/>
                    <a:pt x="181102" y="105029"/>
                    <a:pt x="177419" y="110998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5964271" y="7743825"/>
            <a:ext cx="700088" cy="285750"/>
            <a:chOff x="0" y="0"/>
            <a:chExt cx="933450" cy="3810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33450" cy="381000"/>
            </a:xfrm>
            <a:custGeom>
              <a:avLst/>
              <a:gdLst/>
              <a:ahLst/>
              <a:cxnLst/>
              <a:rect r="r" b="b" t="t" l="l"/>
              <a:pathLst>
                <a:path h="381000" w="933450">
                  <a:moveTo>
                    <a:pt x="0" y="0"/>
                  </a:moveTo>
                  <a:lnTo>
                    <a:pt x="933450" y="0"/>
                  </a:lnTo>
                  <a:lnTo>
                    <a:pt x="9334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68" t="0" r="-2368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47625"/>
              <a:ext cx="9334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Active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561975" y="8734425"/>
            <a:ext cx="17164050" cy="990600"/>
            <a:chOff x="0" y="0"/>
            <a:chExt cx="22885400" cy="13208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50800" y="50800"/>
              <a:ext cx="22783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783800">
                  <a:moveTo>
                    <a:pt x="0" y="0"/>
                  </a:moveTo>
                  <a:lnTo>
                    <a:pt x="22783800" y="0"/>
                  </a:lnTo>
                  <a:lnTo>
                    <a:pt x="22783800" y="1219200"/>
                  </a:lnTo>
                  <a:lnTo>
                    <a:pt x="0" y="1219200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50800" y="0"/>
              <a:ext cx="228346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22834600">
                  <a:moveTo>
                    <a:pt x="0" y="0"/>
                  </a:moveTo>
                  <a:lnTo>
                    <a:pt x="22783800" y="0"/>
                  </a:lnTo>
                  <a:cubicBezTo>
                    <a:pt x="22811867" y="0"/>
                    <a:pt x="22834600" y="22733"/>
                    <a:pt x="22834600" y="50800"/>
                  </a:cubicBezTo>
                  <a:lnTo>
                    <a:pt x="22834600" y="1270000"/>
                  </a:lnTo>
                  <a:cubicBezTo>
                    <a:pt x="22834600" y="1298067"/>
                    <a:pt x="22811867" y="1320800"/>
                    <a:pt x="22783800" y="1320800"/>
                  </a:cubicBezTo>
                  <a:lnTo>
                    <a:pt x="0" y="1320800"/>
                  </a:lnTo>
                  <a:lnTo>
                    <a:pt x="0" y="1219200"/>
                  </a:lnTo>
                  <a:lnTo>
                    <a:pt x="22783800" y="1219200"/>
                  </a:lnTo>
                  <a:lnTo>
                    <a:pt x="22783800" y="1270000"/>
                  </a:lnTo>
                  <a:lnTo>
                    <a:pt x="22733000" y="1270000"/>
                  </a:lnTo>
                  <a:lnTo>
                    <a:pt x="22733000" y="50800"/>
                  </a:lnTo>
                  <a:lnTo>
                    <a:pt x="22783800" y="50800"/>
                  </a:lnTo>
                  <a:lnTo>
                    <a:pt x="22783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28" id="128"/>
          <p:cNvSpPr/>
          <p:nvPr/>
        </p:nvSpPr>
        <p:spPr>
          <a:xfrm flipH="false" flipV="false" rot="0">
            <a:off x="2783157" y="9072562"/>
            <a:ext cx="285750" cy="285750"/>
          </a:xfrm>
          <a:custGeom>
            <a:avLst/>
            <a:gdLst/>
            <a:ahLst/>
            <a:cxnLst/>
            <a:rect r="r" b="b" t="t" l="l"/>
            <a:pathLst>
              <a:path h="285750" w="285750">
                <a:moveTo>
                  <a:pt x="0" y="0"/>
                </a:moveTo>
                <a:lnTo>
                  <a:pt x="285750" y="0"/>
                </a:lnTo>
                <a:lnTo>
                  <a:pt x="285750" y="285750"/>
                </a:lnTo>
                <a:lnTo>
                  <a:pt x="0" y="28575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9" id="129"/>
          <p:cNvGrpSpPr/>
          <p:nvPr/>
        </p:nvGrpSpPr>
        <p:grpSpPr>
          <a:xfrm rot="0">
            <a:off x="1590675" y="9058275"/>
            <a:ext cx="16273462" cy="400050"/>
            <a:chOff x="0" y="0"/>
            <a:chExt cx="21697950" cy="5334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697950" cy="533400"/>
            </a:xfrm>
            <a:custGeom>
              <a:avLst/>
              <a:gdLst/>
              <a:ahLst/>
              <a:cxnLst/>
              <a:rect r="r" b="b" t="t" l="l"/>
              <a:pathLst>
                <a:path h="533400" w="21697950">
                  <a:moveTo>
                    <a:pt x="0" y="0"/>
                  </a:moveTo>
                  <a:lnTo>
                    <a:pt x="21697950" y="0"/>
                  </a:lnTo>
                  <a:lnTo>
                    <a:pt x="216979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2623" r="0" b="-742623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66675"/>
              <a:ext cx="216979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Advanced capabilities transform raw data into actionable insights with professional presentation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017" y="0"/>
            <a:ext cx="14684278" cy="10160073"/>
          </a:xfrm>
          <a:custGeom>
            <a:avLst/>
            <a:gdLst/>
            <a:ahLst/>
            <a:cxnLst/>
            <a:rect r="r" b="b" t="t" l="l"/>
            <a:pathLst>
              <a:path h="10160073" w="14684278">
                <a:moveTo>
                  <a:pt x="0" y="0"/>
                </a:moveTo>
                <a:lnTo>
                  <a:pt x="14684278" y="0"/>
                </a:lnTo>
                <a:lnTo>
                  <a:pt x="14684278" y="10160073"/>
                </a:lnTo>
                <a:lnTo>
                  <a:pt x="0" y="1016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42991" y="-362502"/>
            <a:ext cx="1364447" cy="1364447"/>
            <a:chOff x="0" y="0"/>
            <a:chExt cx="1819262" cy="1819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742948" cy="1742948"/>
            </a:xfrm>
            <a:custGeom>
              <a:avLst/>
              <a:gdLst/>
              <a:ahLst/>
              <a:cxnLst/>
              <a:rect r="r" b="b" t="t" l="l"/>
              <a:pathLst>
                <a:path h="1742948" w="1742948">
                  <a:moveTo>
                    <a:pt x="0" y="871474"/>
                  </a:moveTo>
                  <a:cubicBezTo>
                    <a:pt x="0" y="390144"/>
                    <a:pt x="390144" y="0"/>
                    <a:pt x="871474" y="0"/>
                  </a:cubicBezTo>
                  <a:cubicBezTo>
                    <a:pt x="1352804" y="0"/>
                    <a:pt x="1742948" y="390144"/>
                    <a:pt x="1742948" y="871474"/>
                  </a:cubicBezTo>
                  <a:cubicBezTo>
                    <a:pt x="1742948" y="1352804"/>
                    <a:pt x="1352804" y="1742948"/>
                    <a:pt x="871474" y="1742948"/>
                  </a:cubicBezTo>
                  <a:cubicBezTo>
                    <a:pt x="390144" y="1742948"/>
                    <a:pt x="0" y="1352931"/>
                    <a:pt x="0" y="871474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19148" cy="1819148"/>
            </a:xfrm>
            <a:custGeom>
              <a:avLst/>
              <a:gdLst/>
              <a:ahLst/>
              <a:cxnLst/>
              <a:rect r="r" b="b" t="t" l="l"/>
              <a:pathLst>
                <a:path h="1819148" w="1819148">
                  <a:moveTo>
                    <a:pt x="0" y="909574"/>
                  </a:moveTo>
                  <a:cubicBezTo>
                    <a:pt x="0" y="407289"/>
                    <a:pt x="407289" y="0"/>
                    <a:pt x="909574" y="0"/>
                  </a:cubicBezTo>
                  <a:cubicBezTo>
                    <a:pt x="930656" y="0"/>
                    <a:pt x="947674" y="17018"/>
                    <a:pt x="947674" y="38100"/>
                  </a:cubicBezTo>
                  <a:lnTo>
                    <a:pt x="909574" y="38100"/>
                  </a:lnTo>
                  <a:lnTo>
                    <a:pt x="909574" y="0"/>
                  </a:lnTo>
                  <a:lnTo>
                    <a:pt x="909574" y="38100"/>
                  </a:lnTo>
                  <a:lnTo>
                    <a:pt x="909574" y="0"/>
                  </a:lnTo>
                  <a:cubicBezTo>
                    <a:pt x="1411986" y="0"/>
                    <a:pt x="1819148" y="407289"/>
                    <a:pt x="1819148" y="909574"/>
                  </a:cubicBezTo>
                  <a:cubicBezTo>
                    <a:pt x="1819148" y="927100"/>
                    <a:pt x="1807210" y="942340"/>
                    <a:pt x="1790319" y="946531"/>
                  </a:cubicBezTo>
                  <a:lnTo>
                    <a:pt x="1781048" y="909574"/>
                  </a:lnTo>
                  <a:lnTo>
                    <a:pt x="1819148" y="909574"/>
                  </a:lnTo>
                  <a:cubicBezTo>
                    <a:pt x="1819148" y="1411986"/>
                    <a:pt x="1411859" y="1819148"/>
                    <a:pt x="909574" y="1819148"/>
                  </a:cubicBezTo>
                  <a:lnTo>
                    <a:pt x="909574" y="1781048"/>
                  </a:lnTo>
                  <a:lnTo>
                    <a:pt x="909574" y="1819148"/>
                  </a:lnTo>
                  <a:cubicBezTo>
                    <a:pt x="407289" y="1819275"/>
                    <a:pt x="0" y="1411986"/>
                    <a:pt x="0" y="909574"/>
                  </a:cubicBezTo>
                  <a:lnTo>
                    <a:pt x="38100" y="909574"/>
                  </a:lnTo>
                  <a:lnTo>
                    <a:pt x="0" y="909574"/>
                  </a:lnTo>
                  <a:moveTo>
                    <a:pt x="76200" y="909574"/>
                  </a:moveTo>
                  <a:lnTo>
                    <a:pt x="38100" y="909574"/>
                  </a:lnTo>
                  <a:lnTo>
                    <a:pt x="76200" y="909574"/>
                  </a:lnTo>
                  <a:cubicBezTo>
                    <a:pt x="76200" y="1369822"/>
                    <a:pt x="449326" y="1742948"/>
                    <a:pt x="909574" y="1742948"/>
                  </a:cubicBezTo>
                  <a:cubicBezTo>
                    <a:pt x="1369822" y="1742948"/>
                    <a:pt x="1742948" y="1369822"/>
                    <a:pt x="1742948" y="909574"/>
                  </a:cubicBezTo>
                  <a:cubicBezTo>
                    <a:pt x="1742948" y="892048"/>
                    <a:pt x="1754886" y="876808"/>
                    <a:pt x="1771777" y="872617"/>
                  </a:cubicBezTo>
                  <a:lnTo>
                    <a:pt x="1781048" y="909574"/>
                  </a:lnTo>
                  <a:lnTo>
                    <a:pt x="1742948" y="909574"/>
                  </a:lnTo>
                  <a:cubicBezTo>
                    <a:pt x="1743075" y="449326"/>
                    <a:pt x="1369949" y="76200"/>
                    <a:pt x="909574" y="76200"/>
                  </a:cubicBezTo>
                  <a:cubicBezTo>
                    <a:pt x="888492" y="76200"/>
                    <a:pt x="871474" y="59182"/>
                    <a:pt x="871474" y="38100"/>
                  </a:cubicBezTo>
                  <a:lnTo>
                    <a:pt x="909574" y="38100"/>
                  </a:lnTo>
                  <a:lnTo>
                    <a:pt x="909574" y="76200"/>
                  </a:lnTo>
                  <a:cubicBezTo>
                    <a:pt x="449326" y="76200"/>
                    <a:pt x="76200" y="449326"/>
                    <a:pt x="76200" y="909574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1320000">
            <a:off x="553136" y="8354311"/>
            <a:ext cx="1009202" cy="1009202"/>
            <a:chOff x="0" y="0"/>
            <a:chExt cx="1345603" cy="13456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269365" cy="1269365"/>
            </a:xfrm>
            <a:custGeom>
              <a:avLst/>
              <a:gdLst/>
              <a:ahLst/>
              <a:cxnLst/>
              <a:rect r="r" b="b" t="t" l="l"/>
              <a:pathLst>
                <a:path h="1269365" w="1269365">
                  <a:moveTo>
                    <a:pt x="0" y="0"/>
                  </a:moveTo>
                  <a:lnTo>
                    <a:pt x="1269365" y="0"/>
                  </a:lnTo>
                  <a:lnTo>
                    <a:pt x="1269365" y="1269365"/>
                  </a:lnTo>
                  <a:lnTo>
                    <a:pt x="0" y="1269365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00" y="0"/>
              <a:ext cx="1307465" cy="1345565"/>
            </a:xfrm>
            <a:custGeom>
              <a:avLst/>
              <a:gdLst/>
              <a:ahLst/>
              <a:cxnLst/>
              <a:rect r="r" b="b" t="t" l="l"/>
              <a:pathLst>
                <a:path h="1345565" w="1307465">
                  <a:moveTo>
                    <a:pt x="0" y="0"/>
                  </a:moveTo>
                  <a:lnTo>
                    <a:pt x="1269365" y="0"/>
                  </a:lnTo>
                  <a:cubicBezTo>
                    <a:pt x="1290447" y="0"/>
                    <a:pt x="1307465" y="17018"/>
                    <a:pt x="1307465" y="38100"/>
                  </a:cubicBezTo>
                  <a:lnTo>
                    <a:pt x="1307465" y="1307465"/>
                  </a:lnTo>
                  <a:cubicBezTo>
                    <a:pt x="1307465" y="1328547"/>
                    <a:pt x="1290447" y="1345565"/>
                    <a:pt x="1269365" y="1345565"/>
                  </a:cubicBezTo>
                  <a:lnTo>
                    <a:pt x="0" y="1345565"/>
                  </a:lnTo>
                  <a:lnTo>
                    <a:pt x="0" y="1269365"/>
                  </a:lnTo>
                  <a:lnTo>
                    <a:pt x="1269365" y="1269365"/>
                  </a:lnTo>
                  <a:lnTo>
                    <a:pt x="1269365" y="1307465"/>
                  </a:lnTo>
                  <a:lnTo>
                    <a:pt x="1231265" y="1307465"/>
                  </a:lnTo>
                  <a:lnTo>
                    <a:pt x="1231265" y="38100"/>
                  </a:lnTo>
                  <a:lnTo>
                    <a:pt x="1269365" y="38100"/>
                  </a:lnTo>
                  <a:lnTo>
                    <a:pt x="126936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2280000">
            <a:off x="16703573" y="3103245"/>
            <a:ext cx="796061" cy="796061"/>
            <a:chOff x="0" y="0"/>
            <a:chExt cx="1061415" cy="10614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985266" cy="985266"/>
            </a:xfrm>
            <a:custGeom>
              <a:avLst/>
              <a:gdLst/>
              <a:ahLst/>
              <a:cxnLst/>
              <a:rect r="r" b="b" t="t" l="l"/>
              <a:pathLst>
                <a:path h="985266" w="985266">
                  <a:moveTo>
                    <a:pt x="0" y="0"/>
                  </a:moveTo>
                  <a:lnTo>
                    <a:pt x="985266" y="0"/>
                  </a:lnTo>
                  <a:lnTo>
                    <a:pt x="985266" y="985266"/>
                  </a:lnTo>
                  <a:lnTo>
                    <a:pt x="0" y="985266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1023366" cy="1061466"/>
            </a:xfrm>
            <a:custGeom>
              <a:avLst/>
              <a:gdLst/>
              <a:ahLst/>
              <a:cxnLst/>
              <a:rect r="r" b="b" t="t" l="l"/>
              <a:pathLst>
                <a:path h="1061466" w="1023366">
                  <a:moveTo>
                    <a:pt x="0" y="0"/>
                  </a:moveTo>
                  <a:lnTo>
                    <a:pt x="985266" y="0"/>
                  </a:lnTo>
                  <a:cubicBezTo>
                    <a:pt x="1006348" y="0"/>
                    <a:pt x="1023366" y="17018"/>
                    <a:pt x="1023366" y="38100"/>
                  </a:cubicBezTo>
                  <a:lnTo>
                    <a:pt x="1023366" y="1023366"/>
                  </a:lnTo>
                  <a:cubicBezTo>
                    <a:pt x="1023366" y="1044448"/>
                    <a:pt x="1006348" y="1061466"/>
                    <a:pt x="985266" y="1061466"/>
                  </a:cubicBezTo>
                  <a:lnTo>
                    <a:pt x="0" y="1061466"/>
                  </a:lnTo>
                  <a:lnTo>
                    <a:pt x="0" y="985266"/>
                  </a:lnTo>
                  <a:lnTo>
                    <a:pt x="985266" y="985266"/>
                  </a:lnTo>
                  <a:lnTo>
                    <a:pt x="985266" y="1023366"/>
                  </a:lnTo>
                  <a:lnTo>
                    <a:pt x="947166" y="1023366"/>
                  </a:lnTo>
                  <a:lnTo>
                    <a:pt x="947166" y="38100"/>
                  </a:lnTo>
                  <a:lnTo>
                    <a:pt x="985266" y="38100"/>
                  </a:lnTo>
                  <a:lnTo>
                    <a:pt x="98526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58708" y="558708"/>
            <a:ext cx="2534498" cy="701431"/>
            <a:chOff x="0" y="0"/>
            <a:chExt cx="3379330" cy="9352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277743" cy="833628"/>
            </a:xfrm>
            <a:custGeom>
              <a:avLst/>
              <a:gdLst/>
              <a:ahLst/>
              <a:cxnLst/>
              <a:rect r="r" b="b" t="t" l="l"/>
              <a:pathLst>
                <a:path h="833628" w="3277743">
                  <a:moveTo>
                    <a:pt x="0" y="0"/>
                  </a:moveTo>
                  <a:lnTo>
                    <a:pt x="3277743" y="0"/>
                  </a:lnTo>
                  <a:lnTo>
                    <a:pt x="3277743" y="833628"/>
                  </a:lnTo>
                  <a:lnTo>
                    <a:pt x="0" y="833628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328543" cy="935228"/>
            </a:xfrm>
            <a:custGeom>
              <a:avLst/>
              <a:gdLst/>
              <a:ahLst/>
              <a:cxnLst/>
              <a:rect r="r" b="b" t="t" l="l"/>
              <a:pathLst>
                <a:path h="935228" w="3328543">
                  <a:moveTo>
                    <a:pt x="0" y="0"/>
                  </a:moveTo>
                  <a:lnTo>
                    <a:pt x="3277743" y="0"/>
                  </a:lnTo>
                  <a:cubicBezTo>
                    <a:pt x="3305810" y="0"/>
                    <a:pt x="3328543" y="22733"/>
                    <a:pt x="3328543" y="50800"/>
                  </a:cubicBezTo>
                  <a:lnTo>
                    <a:pt x="3328543" y="884428"/>
                  </a:lnTo>
                  <a:cubicBezTo>
                    <a:pt x="3328543" y="912495"/>
                    <a:pt x="3305810" y="935228"/>
                    <a:pt x="3277743" y="935228"/>
                  </a:cubicBezTo>
                  <a:lnTo>
                    <a:pt x="0" y="935228"/>
                  </a:lnTo>
                  <a:lnTo>
                    <a:pt x="0" y="833628"/>
                  </a:lnTo>
                  <a:lnTo>
                    <a:pt x="3277743" y="833628"/>
                  </a:lnTo>
                  <a:lnTo>
                    <a:pt x="3277743" y="884428"/>
                  </a:lnTo>
                  <a:lnTo>
                    <a:pt x="3226943" y="884428"/>
                  </a:lnTo>
                  <a:lnTo>
                    <a:pt x="3226943" y="50800"/>
                  </a:lnTo>
                  <a:lnTo>
                    <a:pt x="3277743" y="50800"/>
                  </a:lnTo>
                  <a:lnTo>
                    <a:pt x="327774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68395" y="568395"/>
            <a:ext cx="2515133" cy="568395"/>
            <a:chOff x="0" y="0"/>
            <a:chExt cx="3353511" cy="757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353510" cy="757856"/>
            </a:xfrm>
            <a:custGeom>
              <a:avLst/>
              <a:gdLst/>
              <a:ahLst/>
              <a:cxnLst/>
              <a:rect r="r" b="b" t="t" l="l"/>
              <a:pathLst>
                <a:path h="757856" w="3353510">
                  <a:moveTo>
                    <a:pt x="0" y="0"/>
                  </a:moveTo>
                  <a:lnTo>
                    <a:pt x="3353510" y="0"/>
                  </a:lnTo>
                  <a:lnTo>
                    <a:pt x="3353510" y="757856"/>
                  </a:lnTo>
                  <a:lnTo>
                    <a:pt x="0" y="757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221" r="0" b="-3622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76200"/>
              <a:ext cx="3353511" cy="834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CORE ALGORITHM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68395" y="1420978"/>
            <a:ext cx="17492253" cy="682066"/>
            <a:chOff x="0" y="0"/>
            <a:chExt cx="23323004" cy="9094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23003" cy="909426"/>
            </a:xfrm>
            <a:custGeom>
              <a:avLst/>
              <a:gdLst/>
              <a:ahLst/>
              <a:cxnLst/>
              <a:rect r="r" b="b" t="t" l="l"/>
              <a:pathLst>
                <a:path h="909426" w="23323003">
                  <a:moveTo>
                    <a:pt x="0" y="0"/>
                  </a:moveTo>
                  <a:lnTo>
                    <a:pt x="23323003" y="0"/>
                  </a:lnTo>
                  <a:lnTo>
                    <a:pt x="23323003" y="909426"/>
                  </a:lnTo>
                  <a:lnTo>
                    <a:pt x="0" y="909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710" r="0" b="-44971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0"/>
              <a:ext cx="23323004" cy="814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5"/>
                </a:lnSpc>
              </a:pPr>
              <a:r>
                <a:rPr lang="en-US" sz="537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Methodology — Dijkstra Algorithm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58708" y="2320728"/>
            <a:ext cx="8431559" cy="6214834"/>
            <a:chOff x="0" y="0"/>
            <a:chExt cx="11242078" cy="82864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11140440" cy="8184896"/>
            </a:xfrm>
            <a:custGeom>
              <a:avLst/>
              <a:gdLst/>
              <a:ahLst/>
              <a:cxnLst/>
              <a:rect r="r" b="b" t="t" l="l"/>
              <a:pathLst>
                <a:path h="8184896" w="11140440">
                  <a:moveTo>
                    <a:pt x="0" y="0"/>
                  </a:moveTo>
                  <a:lnTo>
                    <a:pt x="11140440" y="0"/>
                  </a:lnTo>
                  <a:lnTo>
                    <a:pt x="11140440" y="8184896"/>
                  </a:lnTo>
                  <a:lnTo>
                    <a:pt x="0" y="8184896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11191240" cy="8286496"/>
            </a:xfrm>
            <a:custGeom>
              <a:avLst/>
              <a:gdLst/>
              <a:ahLst/>
              <a:cxnLst/>
              <a:rect r="r" b="b" t="t" l="l"/>
              <a:pathLst>
                <a:path h="8286496" w="11191240">
                  <a:moveTo>
                    <a:pt x="0" y="0"/>
                  </a:moveTo>
                  <a:lnTo>
                    <a:pt x="11140440" y="0"/>
                  </a:lnTo>
                  <a:cubicBezTo>
                    <a:pt x="11168507" y="0"/>
                    <a:pt x="11191240" y="22733"/>
                    <a:pt x="11191240" y="50800"/>
                  </a:cubicBezTo>
                  <a:lnTo>
                    <a:pt x="11191240" y="8235696"/>
                  </a:lnTo>
                  <a:cubicBezTo>
                    <a:pt x="11191240" y="8263763"/>
                    <a:pt x="11168507" y="8286496"/>
                    <a:pt x="11140440" y="8286496"/>
                  </a:cubicBezTo>
                  <a:lnTo>
                    <a:pt x="0" y="8286496"/>
                  </a:lnTo>
                  <a:lnTo>
                    <a:pt x="0" y="8184896"/>
                  </a:lnTo>
                  <a:lnTo>
                    <a:pt x="11140440" y="8184896"/>
                  </a:lnTo>
                  <a:lnTo>
                    <a:pt x="11140440" y="8235696"/>
                  </a:lnTo>
                  <a:lnTo>
                    <a:pt x="11089640" y="8235696"/>
                  </a:lnTo>
                  <a:lnTo>
                    <a:pt x="11089640" y="50800"/>
                  </a:lnTo>
                  <a:lnTo>
                    <a:pt x="11140440" y="50800"/>
                  </a:lnTo>
                  <a:lnTo>
                    <a:pt x="1114044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99751" y="2661761"/>
            <a:ext cx="815111" cy="815111"/>
            <a:chOff x="0" y="0"/>
            <a:chExt cx="1086815" cy="10868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985266" cy="985266"/>
            </a:xfrm>
            <a:custGeom>
              <a:avLst/>
              <a:gdLst/>
              <a:ahLst/>
              <a:cxnLst/>
              <a:rect r="r" b="b" t="t" l="l"/>
              <a:pathLst>
                <a:path h="985266" w="985266">
                  <a:moveTo>
                    <a:pt x="0" y="0"/>
                  </a:moveTo>
                  <a:lnTo>
                    <a:pt x="985266" y="0"/>
                  </a:lnTo>
                  <a:lnTo>
                    <a:pt x="985266" y="985266"/>
                  </a:lnTo>
                  <a:lnTo>
                    <a:pt x="0" y="985266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036066" cy="1086866"/>
            </a:xfrm>
            <a:custGeom>
              <a:avLst/>
              <a:gdLst/>
              <a:ahLst/>
              <a:cxnLst/>
              <a:rect r="r" b="b" t="t" l="l"/>
              <a:pathLst>
                <a:path h="1086866" w="1036066">
                  <a:moveTo>
                    <a:pt x="0" y="0"/>
                  </a:moveTo>
                  <a:lnTo>
                    <a:pt x="985266" y="0"/>
                  </a:lnTo>
                  <a:cubicBezTo>
                    <a:pt x="1013333" y="0"/>
                    <a:pt x="1036066" y="22733"/>
                    <a:pt x="1036066" y="50800"/>
                  </a:cubicBezTo>
                  <a:lnTo>
                    <a:pt x="1036066" y="1036066"/>
                  </a:lnTo>
                  <a:cubicBezTo>
                    <a:pt x="1036066" y="1064133"/>
                    <a:pt x="1013333" y="1086866"/>
                    <a:pt x="985266" y="1086866"/>
                  </a:cubicBezTo>
                  <a:lnTo>
                    <a:pt x="0" y="1086866"/>
                  </a:lnTo>
                  <a:lnTo>
                    <a:pt x="0" y="985266"/>
                  </a:lnTo>
                  <a:lnTo>
                    <a:pt x="985266" y="985266"/>
                  </a:lnTo>
                  <a:lnTo>
                    <a:pt x="985266" y="1036066"/>
                  </a:lnTo>
                  <a:lnTo>
                    <a:pt x="934466" y="1036066"/>
                  </a:lnTo>
                  <a:lnTo>
                    <a:pt x="934466" y="50800"/>
                  </a:lnTo>
                  <a:lnTo>
                    <a:pt x="985266" y="50800"/>
                  </a:lnTo>
                  <a:lnTo>
                    <a:pt x="985266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179414" y="2898800"/>
            <a:ext cx="255775" cy="341033"/>
          </a:xfrm>
          <a:custGeom>
            <a:avLst/>
            <a:gdLst/>
            <a:ahLst/>
            <a:cxnLst/>
            <a:rect r="r" b="b" t="t" l="l"/>
            <a:pathLst>
              <a:path h="341033" w="255775">
                <a:moveTo>
                  <a:pt x="0" y="0"/>
                </a:moveTo>
                <a:lnTo>
                  <a:pt x="255775" y="0"/>
                </a:lnTo>
                <a:lnTo>
                  <a:pt x="255775" y="341034"/>
                </a:lnTo>
                <a:lnTo>
                  <a:pt x="0" y="3410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875692" y="2813542"/>
            <a:ext cx="2685650" cy="511550"/>
            <a:chOff x="0" y="0"/>
            <a:chExt cx="3580867" cy="6820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580868" cy="682070"/>
            </a:xfrm>
            <a:custGeom>
              <a:avLst/>
              <a:gdLst/>
              <a:ahLst/>
              <a:cxnLst/>
              <a:rect r="r" b="b" t="t" l="l"/>
              <a:pathLst>
                <a:path h="682070" w="3580868">
                  <a:moveTo>
                    <a:pt x="0" y="0"/>
                  </a:moveTo>
                  <a:lnTo>
                    <a:pt x="3580868" y="0"/>
                  </a:lnTo>
                  <a:lnTo>
                    <a:pt x="3580868" y="682070"/>
                  </a:lnTo>
                  <a:lnTo>
                    <a:pt x="0" y="6820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296" r="0" b="-5229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3580867" cy="701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28"/>
                </a:lnSpc>
              </a:pPr>
              <a:r>
                <a:rPr lang="en-US" sz="3357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How It Works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4589" y="3689709"/>
            <a:ext cx="7739805" cy="1089622"/>
            <a:chOff x="0" y="0"/>
            <a:chExt cx="10319741" cy="14528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10268966" cy="1402080"/>
            </a:xfrm>
            <a:custGeom>
              <a:avLst/>
              <a:gdLst/>
              <a:ahLst/>
              <a:cxnLst/>
              <a:rect r="r" b="b" t="t" l="l"/>
              <a:pathLst>
                <a:path h="1402080" w="10268966">
                  <a:moveTo>
                    <a:pt x="0" y="0"/>
                  </a:moveTo>
                  <a:lnTo>
                    <a:pt x="10268966" y="0"/>
                  </a:lnTo>
                  <a:lnTo>
                    <a:pt x="10268966" y="1402080"/>
                  </a:lnTo>
                  <a:lnTo>
                    <a:pt x="0" y="140208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5400" y="0"/>
              <a:ext cx="10294366" cy="1452880"/>
            </a:xfrm>
            <a:custGeom>
              <a:avLst/>
              <a:gdLst/>
              <a:ahLst/>
              <a:cxnLst/>
              <a:rect r="r" b="b" t="t" l="l"/>
              <a:pathLst>
                <a:path h="1452880" w="10294366">
                  <a:moveTo>
                    <a:pt x="0" y="0"/>
                  </a:moveTo>
                  <a:lnTo>
                    <a:pt x="10268966" y="0"/>
                  </a:lnTo>
                  <a:cubicBezTo>
                    <a:pt x="10282936" y="0"/>
                    <a:pt x="10294366" y="11430"/>
                    <a:pt x="10294366" y="25400"/>
                  </a:cubicBezTo>
                  <a:lnTo>
                    <a:pt x="10294366" y="1427480"/>
                  </a:lnTo>
                  <a:cubicBezTo>
                    <a:pt x="10294366" y="1441450"/>
                    <a:pt x="10282936" y="1452880"/>
                    <a:pt x="10268966" y="1452880"/>
                  </a:cubicBezTo>
                  <a:lnTo>
                    <a:pt x="0" y="1452880"/>
                  </a:lnTo>
                  <a:lnTo>
                    <a:pt x="0" y="1402080"/>
                  </a:lnTo>
                  <a:lnTo>
                    <a:pt x="10268966" y="1402080"/>
                  </a:lnTo>
                  <a:lnTo>
                    <a:pt x="10268966" y="1427480"/>
                  </a:lnTo>
                  <a:lnTo>
                    <a:pt x="10243566" y="1427480"/>
                  </a:lnTo>
                  <a:lnTo>
                    <a:pt x="10243566" y="25400"/>
                  </a:lnTo>
                  <a:lnTo>
                    <a:pt x="10268966" y="25400"/>
                  </a:lnTo>
                  <a:lnTo>
                    <a:pt x="1026896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03519" y="3945484"/>
            <a:ext cx="464391" cy="464391"/>
            <a:chOff x="0" y="0"/>
            <a:chExt cx="619188" cy="6191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568452" cy="568452"/>
            </a:xfrm>
            <a:custGeom>
              <a:avLst/>
              <a:gdLst/>
              <a:ahLst/>
              <a:cxnLst/>
              <a:rect r="r" b="b" t="t" l="l"/>
              <a:pathLst>
                <a:path h="568452" w="568452">
                  <a:moveTo>
                    <a:pt x="0" y="0"/>
                  </a:moveTo>
                  <a:lnTo>
                    <a:pt x="568452" y="0"/>
                  </a:lnTo>
                  <a:lnTo>
                    <a:pt x="568452" y="568452"/>
                  </a:lnTo>
                  <a:lnTo>
                    <a:pt x="0" y="568452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400" y="0"/>
              <a:ext cx="593852" cy="619252"/>
            </a:xfrm>
            <a:custGeom>
              <a:avLst/>
              <a:gdLst/>
              <a:ahLst/>
              <a:cxnLst/>
              <a:rect r="r" b="b" t="t" l="l"/>
              <a:pathLst>
                <a:path h="619252" w="593852">
                  <a:moveTo>
                    <a:pt x="0" y="0"/>
                  </a:moveTo>
                  <a:lnTo>
                    <a:pt x="568452" y="0"/>
                  </a:lnTo>
                  <a:cubicBezTo>
                    <a:pt x="582422" y="0"/>
                    <a:pt x="593852" y="11430"/>
                    <a:pt x="593852" y="25400"/>
                  </a:cubicBezTo>
                  <a:lnTo>
                    <a:pt x="593852" y="593852"/>
                  </a:lnTo>
                  <a:cubicBezTo>
                    <a:pt x="593852" y="607822"/>
                    <a:pt x="582422" y="619252"/>
                    <a:pt x="568452" y="619252"/>
                  </a:cubicBezTo>
                  <a:lnTo>
                    <a:pt x="0" y="619252"/>
                  </a:lnTo>
                  <a:lnTo>
                    <a:pt x="0" y="568452"/>
                  </a:lnTo>
                  <a:lnTo>
                    <a:pt x="568452" y="568452"/>
                  </a:lnTo>
                  <a:lnTo>
                    <a:pt x="568452" y="593852"/>
                  </a:lnTo>
                  <a:lnTo>
                    <a:pt x="543052" y="593852"/>
                  </a:lnTo>
                  <a:lnTo>
                    <a:pt x="543052" y="25400"/>
                  </a:lnTo>
                  <a:lnTo>
                    <a:pt x="568452" y="25400"/>
                  </a:lnTo>
                  <a:lnTo>
                    <a:pt x="56845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03306" y="4007158"/>
            <a:ext cx="184728" cy="341033"/>
            <a:chOff x="0" y="0"/>
            <a:chExt cx="246304" cy="4547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46304" cy="454714"/>
            </a:xfrm>
            <a:custGeom>
              <a:avLst/>
              <a:gdLst/>
              <a:ahLst/>
              <a:cxnLst/>
              <a:rect r="r" b="b" t="t" l="l"/>
              <a:pathLst>
                <a:path h="454714" w="246304">
                  <a:moveTo>
                    <a:pt x="0" y="0"/>
                  </a:moveTo>
                  <a:lnTo>
                    <a:pt x="246304" y="0"/>
                  </a:lnTo>
                  <a:lnTo>
                    <a:pt x="246304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6865" t="0" r="-186865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246304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33598" y="3893487"/>
            <a:ext cx="6820700" cy="682066"/>
            <a:chOff x="0" y="0"/>
            <a:chExt cx="9094267" cy="9094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094266" cy="909426"/>
            </a:xfrm>
            <a:custGeom>
              <a:avLst/>
              <a:gdLst/>
              <a:ahLst/>
              <a:cxnLst/>
              <a:rect r="r" b="b" t="t" l="l"/>
              <a:pathLst>
                <a:path h="909426" w="9094266">
                  <a:moveTo>
                    <a:pt x="0" y="0"/>
                  </a:moveTo>
                  <a:lnTo>
                    <a:pt x="9094266" y="0"/>
                  </a:lnTo>
                  <a:lnTo>
                    <a:pt x="9094266" y="909426"/>
                  </a:lnTo>
                  <a:lnTo>
                    <a:pt x="0" y="909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76200"/>
              <a:ext cx="9094267" cy="985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Graph Representation:</a:t>
              </a:r>
              <a:r>
                <a:rPr lang="en-US" sz="1789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Delivery network modeled as weighted graph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04589" y="4940170"/>
            <a:ext cx="7739805" cy="1089622"/>
            <a:chOff x="0" y="0"/>
            <a:chExt cx="10319741" cy="1452829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400" y="25400"/>
              <a:ext cx="10268966" cy="1402080"/>
            </a:xfrm>
            <a:custGeom>
              <a:avLst/>
              <a:gdLst/>
              <a:ahLst/>
              <a:cxnLst/>
              <a:rect r="r" b="b" t="t" l="l"/>
              <a:pathLst>
                <a:path h="1402080" w="10268966">
                  <a:moveTo>
                    <a:pt x="0" y="0"/>
                  </a:moveTo>
                  <a:lnTo>
                    <a:pt x="10268966" y="0"/>
                  </a:lnTo>
                  <a:lnTo>
                    <a:pt x="10268966" y="1402080"/>
                  </a:lnTo>
                  <a:lnTo>
                    <a:pt x="0" y="140208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25400" y="0"/>
              <a:ext cx="10294366" cy="1452880"/>
            </a:xfrm>
            <a:custGeom>
              <a:avLst/>
              <a:gdLst/>
              <a:ahLst/>
              <a:cxnLst/>
              <a:rect r="r" b="b" t="t" l="l"/>
              <a:pathLst>
                <a:path h="1452880" w="10294366">
                  <a:moveTo>
                    <a:pt x="0" y="0"/>
                  </a:moveTo>
                  <a:lnTo>
                    <a:pt x="10268966" y="0"/>
                  </a:lnTo>
                  <a:cubicBezTo>
                    <a:pt x="10282936" y="0"/>
                    <a:pt x="10294366" y="11430"/>
                    <a:pt x="10294366" y="25400"/>
                  </a:cubicBezTo>
                  <a:lnTo>
                    <a:pt x="10294366" y="1427480"/>
                  </a:lnTo>
                  <a:cubicBezTo>
                    <a:pt x="10294366" y="1441450"/>
                    <a:pt x="10282936" y="1452880"/>
                    <a:pt x="10268966" y="1452880"/>
                  </a:cubicBezTo>
                  <a:lnTo>
                    <a:pt x="0" y="1452880"/>
                  </a:lnTo>
                  <a:lnTo>
                    <a:pt x="0" y="1402080"/>
                  </a:lnTo>
                  <a:lnTo>
                    <a:pt x="10268966" y="1402080"/>
                  </a:lnTo>
                  <a:lnTo>
                    <a:pt x="10268966" y="1427480"/>
                  </a:lnTo>
                  <a:lnTo>
                    <a:pt x="10243566" y="1427480"/>
                  </a:lnTo>
                  <a:lnTo>
                    <a:pt x="10243566" y="25400"/>
                  </a:lnTo>
                  <a:lnTo>
                    <a:pt x="10268966" y="25400"/>
                  </a:lnTo>
                  <a:lnTo>
                    <a:pt x="1026896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03519" y="5195945"/>
            <a:ext cx="464391" cy="464391"/>
            <a:chOff x="0" y="0"/>
            <a:chExt cx="619188" cy="6191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25400" y="25400"/>
              <a:ext cx="568452" cy="568452"/>
            </a:xfrm>
            <a:custGeom>
              <a:avLst/>
              <a:gdLst/>
              <a:ahLst/>
              <a:cxnLst/>
              <a:rect r="r" b="b" t="t" l="l"/>
              <a:pathLst>
                <a:path h="568452" w="568452">
                  <a:moveTo>
                    <a:pt x="0" y="0"/>
                  </a:moveTo>
                  <a:lnTo>
                    <a:pt x="568452" y="0"/>
                  </a:lnTo>
                  <a:lnTo>
                    <a:pt x="568452" y="568452"/>
                  </a:lnTo>
                  <a:lnTo>
                    <a:pt x="0" y="568452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400" y="0"/>
              <a:ext cx="593852" cy="619252"/>
            </a:xfrm>
            <a:custGeom>
              <a:avLst/>
              <a:gdLst/>
              <a:ahLst/>
              <a:cxnLst/>
              <a:rect r="r" b="b" t="t" l="l"/>
              <a:pathLst>
                <a:path h="619252" w="593852">
                  <a:moveTo>
                    <a:pt x="0" y="0"/>
                  </a:moveTo>
                  <a:lnTo>
                    <a:pt x="568452" y="0"/>
                  </a:lnTo>
                  <a:cubicBezTo>
                    <a:pt x="582422" y="0"/>
                    <a:pt x="593852" y="11430"/>
                    <a:pt x="593852" y="25400"/>
                  </a:cubicBezTo>
                  <a:lnTo>
                    <a:pt x="593852" y="593852"/>
                  </a:lnTo>
                  <a:cubicBezTo>
                    <a:pt x="593852" y="607822"/>
                    <a:pt x="582422" y="619252"/>
                    <a:pt x="568452" y="619252"/>
                  </a:cubicBezTo>
                  <a:lnTo>
                    <a:pt x="0" y="619252"/>
                  </a:lnTo>
                  <a:lnTo>
                    <a:pt x="0" y="568452"/>
                  </a:lnTo>
                  <a:lnTo>
                    <a:pt x="568452" y="568452"/>
                  </a:lnTo>
                  <a:lnTo>
                    <a:pt x="568452" y="593852"/>
                  </a:lnTo>
                  <a:lnTo>
                    <a:pt x="543052" y="593852"/>
                  </a:lnTo>
                  <a:lnTo>
                    <a:pt x="543052" y="25400"/>
                  </a:lnTo>
                  <a:lnTo>
                    <a:pt x="568452" y="25400"/>
                  </a:lnTo>
                  <a:lnTo>
                    <a:pt x="56845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74883" y="5257619"/>
            <a:ext cx="241564" cy="341033"/>
            <a:chOff x="0" y="0"/>
            <a:chExt cx="322085" cy="45471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2088" cy="454714"/>
            </a:xfrm>
            <a:custGeom>
              <a:avLst/>
              <a:gdLst/>
              <a:ahLst/>
              <a:cxnLst/>
              <a:rect r="r" b="b" t="t" l="l"/>
              <a:pathLst>
                <a:path h="454714" w="322088">
                  <a:moveTo>
                    <a:pt x="0" y="0"/>
                  </a:moveTo>
                  <a:lnTo>
                    <a:pt x="322088" y="0"/>
                  </a:lnTo>
                  <a:lnTo>
                    <a:pt x="322088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4" t="0" r="-13113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76200"/>
              <a:ext cx="322085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733598" y="5143948"/>
            <a:ext cx="6820700" cy="682066"/>
            <a:chOff x="0" y="0"/>
            <a:chExt cx="9094267" cy="90942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094266" cy="909426"/>
            </a:xfrm>
            <a:custGeom>
              <a:avLst/>
              <a:gdLst/>
              <a:ahLst/>
              <a:cxnLst/>
              <a:rect r="r" b="b" t="t" l="l"/>
              <a:pathLst>
                <a:path h="909426" w="9094266">
                  <a:moveTo>
                    <a:pt x="0" y="0"/>
                  </a:moveTo>
                  <a:lnTo>
                    <a:pt x="9094266" y="0"/>
                  </a:lnTo>
                  <a:lnTo>
                    <a:pt x="9094266" y="909426"/>
                  </a:lnTo>
                  <a:lnTo>
                    <a:pt x="0" y="90942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9094267" cy="9856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Priority Queue:</a:t>
              </a:r>
              <a:r>
                <a:rPr lang="en-US" sz="1789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Processes nodes by minimum distance from source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4589" y="6190631"/>
            <a:ext cx="7739805" cy="919105"/>
            <a:chOff x="0" y="0"/>
            <a:chExt cx="10319741" cy="122547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25400" y="25400"/>
              <a:ext cx="10268966" cy="1174623"/>
            </a:xfrm>
            <a:custGeom>
              <a:avLst/>
              <a:gdLst/>
              <a:ahLst/>
              <a:cxnLst/>
              <a:rect r="r" b="b" t="t" l="l"/>
              <a:pathLst>
                <a:path h="1174623" w="10268966">
                  <a:moveTo>
                    <a:pt x="0" y="0"/>
                  </a:moveTo>
                  <a:lnTo>
                    <a:pt x="10268966" y="0"/>
                  </a:lnTo>
                  <a:lnTo>
                    <a:pt x="10268966" y="1174623"/>
                  </a:lnTo>
                  <a:lnTo>
                    <a:pt x="0" y="1174623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5400" y="0"/>
              <a:ext cx="10294366" cy="1225423"/>
            </a:xfrm>
            <a:custGeom>
              <a:avLst/>
              <a:gdLst/>
              <a:ahLst/>
              <a:cxnLst/>
              <a:rect r="r" b="b" t="t" l="l"/>
              <a:pathLst>
                <a:path h="1225423" w="10294366">
                  <a:moveTo>
                    <a:pt x="0" y="0"/>
                  </a:moveTo>
                  <a:lnTo>
                    <a:pt x="10268966" y="0"/>
                  </a:lnTo>
                  <a:cubicBezTo>
                    <a:pt x="10282936" y="0"/>
                    <a:pt x="10294366" y="11430"/>
                    <a:pt x="10294366" y="25400"/>
                  </a:cubicBezTo>
                  <a:lnTo>
                    <a:pt x="10294366" y="1200023"/>
                  </a:lnTo>
                  <a:cubicBezTo>
                    <a:pt x="10294366" y="1213993"/>
                    <a:pt x="10282936" y="1225423"/>
                    <a:pt x="10268966" y="1225423"/>
                  </a:cubicBezTo>
                  <a:lnTo>
                    <a:pt x="0" y="1225423"/>
                  </a:lnTo>
                  <a:lnTo>
                    <a:pt x="0" y="1174623"/>
                  </a:lnTo>
                  <a:lnTo>
                    <a:pt x="10268966" y="1174623"/>
                  </a:lnTo>
                  <a:lnTo>
                    <a:pt x="10268966" y="1200023"/>
                  </a:lnTo>
                  <a:lnTo>
                    <a:pt x="10243566" y="1200023"/>
                  </a:lnTo>
                  <a:lnTo>
                    <a:pt x="10243566" y="25400"/>
                  </a:lnTo>
                  <a:lnTo>
                    <a:pt x="10268966" y="25400"/>
                  </a:lnTo>
                  <a:lnTo>
                    <a:pt x="1026896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103519" y="6446406"/>
            <a:ext cx="464391" cy="464391"/>
            <a:chOff x="0" y="0"/>
            <a:chExt cx="619188" cy="6191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25400" y="25400"/>
              <a:ext cx="568452" cy="568452"/>
            </a:xfrm>
            <a:custGeom>
              <a:avLst/>
              <a:gdLst/>
              <a:ahLst/>
              <a:cxnLst/>
              <a:rect r="r" b="b" t="t" l="l"/>
              <a:pathLst>
                <a:path h="568452" w="568452">
                  <a:moveTo>
                    <a:pt x="0" y="0"/>
                  </a:moveTo>
                  <a:lnTo>
                    <a:pt x="568452" y="0"/>
                  </a:lnTo>
                  <a:lnTo>
                    <a:pt x="568452" y="568452"/>
                  </a:lnTo>
                  <a:lnTo>
                    <a:pt x="0" y="568452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25400" y="0"/>
              <a:ext cx="593852" cy="619252"/>
            </a:xfrm>
            <a:custGeom>
              <a:avLst/>
              <a:gdLst/>
              <a:ahLst/>
              <a:cxnLst/>
              <a:rect r="r" b="b" t="t" l="l"/>
              <a:pathLst>
                <a:path h="619252" w="593852">
                  <a:moveTo>
                    <a:pt x="0" y="0"/>
                  </a:moveTo>
                  <a:lnTo>
                    <a:pt x="568452" y="0"/>
                  </a:lnTo>
                  <a:cubicBezTo>
                    <a:pt x="582422" y="0"/>
                    <a:pt x="593852" y="11430"/>
                    <a:pt x="593852" y="25400"/>
                  </a:cubicBezTo>
                  <a:lnTo>
                    <a:pt x="593852" y="593852"/>
                  </a:lnTo>
                  <a:cubicBezTo>
                    <a:pt x="593852" y="607822"/>
                    <a:pt x="582422" y="619252"/>
                    <a:pt x="568452" y="619252"/>
                  </a:cubicBezTo>
                  <a:lnTo>
                    <a:pt x="0" y="619252"/>
                  </a:lnTo>
                  <a:lnTo>
                    <a:pt x="0" y="568452"/>
                  </a:lnTo>
                  <a:lnTo>
                    <a:pt x="568452" y="568452"/>
                  </a:lnTo>
                  <a:lnTo>
                    <a:pt x="568452" y="593852"/>
                  </a:lnTo>
                  <a:lnTo>
                    <a:pt x="543052" y="593852"/>
                  </a:lnTo>
                  <a:lnTo>
                    <a:pt x="543052" y="25400"/>
                  </a:lnTo>
                  <a:lnTo>
                    <a:pt x="568452" y="25400"/>
                  </a:lnTo>
                  <a:lnTo>
                    <a:pt x="56845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73331" y="6508080"/>
            <a:ext cx="241564" cy="341033"/>
            <a:chOff x="0" y="0"/>
            <a:chExt cx="322085" cy="45471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2088" cy="454714"/>
            </a:xfrm>
            <a:custGeom>
              <a:avLst/>
              <a:gdLst/>
              <a:ahLst/>
              <a:cxnLst/>
              <a:rect r="r" b="b" t="t" l="l"/>
              <a:pathLst>
                <a:path h="454714" w="322088">
                  <a:moveTo>
                    <a:pt x="0" y="0"/>
                  </a:moveTo>
                  <a:lnTo>
                    <a:pt x="322088" y="0"/>
                  </a:lnTo>
                  <a:lnTo>
                    <a:pt x="322088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1134" t="0" r="-13113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76200"/>
              <a:ext cx="322085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733598" y="6394409"/>
            <a:ext cx="6167047" cy="341033"/>
            <a:chOff x="0" y="0"/>
            <a:chExt cx="8222729" cy="45471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222732" cy="454714"/>
            </a:xfrm>
            <a:custGeom>
              <a:avLst/>
              <a:gdLst/>
              <a:ahLst/>
              <a:cxnLst/>
              <a:rect r="r" b="b" t="t" l="l"/>
              <a:pathLst>
                <a:path h="454714" w="8222732">
                  <a:moveTo>
                    <a:pt x="0" y="0"/>
                  </a:moveTo>
                  <a:lnTo>
                    <a:pt x="8222732" y="0"/>
                  </a:lnTo>
                  <a:lnTo>
                    <a:pt x="8222732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354" r="0" b="-30235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76200"/>
              <a:ext cx="8222729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Relaxation:</a:t>
              </a:r>
              <a:r>
                <a:rPr lang="en-US" sz="1789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Updates shortest path when shorter route found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04589" y="7270575"/>
            <a:ext cx="7739805" cy="919105"/>
            <a:chOff x="0" y="0"/>
            <a:chExt cx="10319741" cy="122547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25400" y="25400"/>
              <a:ext cx="10268966" cy="1174623"/>
            </a:xfrm>
            <a:custGeom>
              <a:avLst/>
              <a:gdLst/>
              <a:ahLst/>
              <a:cxnLst/>
              <a:rect r="r" b="b" t="t" l="l"/>
              <a:pathLst>
                <a:path h="1174623" w="10268966">
                  <a:moveTo>
                    <a:pt x="0" y="0"/>
                  </a:moveTo>
                  <a:lnTo>
                    <a:pt x="10268966" y="0"/>
                  </a:lnTo>
                  <a:lnTo>
                    <a:pt x="10268966" y="1174623"/>
                  </a:lnTo>
                  <a:lnTo>
                    <a:pt x="0" y="1174623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25400" y="0"/>
              <a:ext cx="10294366" cy="1225423"/>
            </a:xfrm>
            <a:custGeom>
              <a:avLst/>
              <a:gdLst/>
              <a:ahLst/>
              <a:cxnLst/>
              <a:rect r="r" b="b" t="t" l="l"/>
              <a:pathLst>
                <a:path h="1225423" w="10294366">
                  <a:moveTo>
                    <a:pt x="0" y="0"/>
                  </a:moveTo>
                  <a:lnTo>
                    <a:pt x="10268966" y="0"/>
                  </a:lnTo>
                  <a:cubicBezTo>
                    <a:pt x="10282936" y="0"/>
                    <a:pt x="10294366" y="11430"/>
                    <a:pt x="10294366" y="25400"/>
                  </a:cubicBezTo>
                  <a:lnTo>
                    <a:pt x="10294366" y="1200023"/>
                  </a:lnTo>
                  <a:cubicBezTo>
                    <a:pt x="10294366" y="1213993"/>
                    <a:pt x="10282936" y="1225423"/>
                    <a:pt x="10268966" y="1225423"/>
                  </a:cubicBezTo>
                  <a:lnTo>
                    <a:pt x="0" y="1225423"/>
                  </a:lnTo>
                  <a:lnTo>
                    <a:pt x="0" y="1174623"/>
                  </a:lnTo>
                  <a:lnTo>
                    <a:pt x="10268966" y="1174623"/>
                  </a:lnTo>
                  <a:lnTo>
                    <a:pt x="10268966" y="1200023"/>
                  </a:lnTo>
                  <a:lnTo>
                    <a:pt x="10243566" y="1200023"/>
                  </a:lnTo>
                  <a:lnTo>
                    <a:pt x="10243566" y="25400"/>
                  </a:lnTo>
                  <a:lnTo>
                    <a:pt x="10268966" y="25400"/>
                  </a:lnTo>
                  <a:lnTo>
                    <a:pt x="10268966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03519" y="7526350"/>
            <a:ext cx="464391" cy="464391"/>
            <a:chOff x="0" y="0"/>
            <a:chExt cx="619188" cy="61918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25400" y="25400"/>
              <a:ext cx="568452" cy="568452"/>
            </a:xfrm>
            <a:custGeom>
              <a:avLst/>
              <a:gdLst/>
              <a:ahLst/>
              <a:cxnLst/>
              <a:rect r="r" b="b" t="t" l="l"/>
              <a:pathLst>
                <a:path h="568452" w="568452">
                  <a:moveTo>
                    <a:pt x="0" y="0"/>
                  </a:moveTo>
                  <a:lnTo>
                    <a:pt x="568452" y="0"/>
                  </a:lnTo>
                  <a:lnTo>
                    <a:pt x="568452" y="568452"/>
                  </a:lnTo>
                  <a:lnTo>
                    <a:pt x="0" y="568452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25400" y="0"/>
              <a:ext cx="593852" cy="619252"/>
            </a:xfrm>
            <a:custGeom>
              <a:avLst/>
              <a:gdLst/>
              <a:ahLst/>
              <a:cxnLst/>
              <a:rect r="r" b="b" t="t" l="l"/>
              <a:pathLst>
                <a:path h="619252" w="593852">
                  <a:moveTo>
                    <a:pt x="0" y="0"/>
                  </a:moveTo>
                  <a:lnTo>
                    <a:pt x="568452" y="0"/>
                  </a:lnTo>
                  <a:cubicBezTo>
                    <a:pt x="582422" y="0"/>
                    <a:pt x="593852" y="11430"/>
                    <a:pt x="593852" y="25400"/>
                  </a:cubicBezTo>
                  <a:lnTo>
                    <a:pt x="593852" y="593852"/>
                  </a:lnTo>
                  <a:cubicBezTo>
                    <a:pt x="593852" y="607822"/>
                    <a:pt x="582422" y="619252"/>
                    <a:pt x="568452" y="619252"/>
                  </a:cubicBezTo>
                  <a:lnTo>
                    <a:pt x="0" y="619252"/>
                  </a:lnTo>
                  <a:lnTo>
                    <a:pt x="0" y="568452"/>
                  </a:lnTo>
                  <a:lnTo>
                    <a:pt x="568452" y="568452"/>
                  </a:lnTo>
                  <a:lnTo>
                    <a:pt x="568452" y="593852"/>
                  </a:lnTo>
                  <a:lnTo>
                    <a:pt x="543052" y="593852"/>
                  </a:lnTo>
                  <a:lnTo>
                    <a:pt x="543052" y="25400"/>
                  </a:lnTo>
                  <a:lnTo>
                    <a:pt x="568452" y="25400"/>
                  </a:lnTo>
                  <a:lnTo>
                    <a:pt x="56845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76883" y="7588025"/>
            <a:ext cx="227352" cy="341033"/>
            <a:chOff x="0" y="0"/>
            <a:chExt cx="303136" cy="45471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3142" cy="454714"/>
            </a:xfrm>
            <a:custGeom>
              <a:avLst/>
              <a:gdLst/>
              <a:ahLst/>
              <a:cxnLst/>
              <a:rect r="r" b="b" t="t" l="l"/>
              <a:pathLst>
                <a:path h="454714" w="303142">
                  <a:moveTo>
                    <a:pt x="0" y="0"/>
                  </a:moveTo>
                  <a:lnTo>
                    <a:pt x="303142" y="0"/>
                  </a:lnTo>
                  <a:lnTo>
                    <a:pt x="303142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2455" t="0" r="-14245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76200"/>
              <a:ext cx="303136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33598" y="7474353"/>
            <a:ext cx="5953906" cy="341033"/>
            <a:chOff x="0" y="0"/>
            <a:chExt cx="7938541" cy="4547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938536" cy="454714"/>
            </a:xfrm>
            <a:custGeom>
              <a:avLst/>
              <a:gdLst/>
              <a:ahLst/>
              <a:cxnLst/>
              <a:rect r="r" b="b" t="t" l="l"/>
              <a:pathLst>
                <a:path h="454714" w="7938536">
                  <a:moveTo>
                    <a:pt x="0" y="0"/>
                  </a:moveTo>
                  <a:lnTo>
                    <a:pt x="7938536" y="0"/>
                  </a:lnTo>
                  <a:lnTo>
                    <a:pt x="7938536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176" r="0" b="-29017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76200"/>
              <a:ext cx="7938541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Optimal Path:</a:t>
              </a:r>
              <a:r>
                <a:rPr lang="en-US" sz="1789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Guarantees shortest path to all destinations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58708" y="8800386"/>
            <a:ext cx="8431559" cy="1497178"/>
            <a:chOff x="0" y="0"/>
            <a:chExt cx="11242078" cy="1996237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50800" y="50800"/>
              <a:ext cx="11140440" cy="1894586"/>
            </a:xfrm>
            <a:custGeom>
              <a:avLst/>
              <a:gdLst/>
              <a:ahLst/>
              <a:cxnLst/>
              <a:rect r="r" b="b" t="t" l="l"/>
              <a:pathLst>
                <a:path h="1894586" w="11140440">
                  <a:moveTo>
                    <a:pt x="0" y="0"/>
                  </a:moveTo>
                  <a:lnTo>
                    <a:pt x="11140440" y="0"/>
                  </a:lnTo>
                  <a:lnTo>
                    <a:pt x="11140440" y="1894586"/>
                  </a:lnTo>
                  <a:lnTo>
                    <a:pt x="0" y="1894586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50800" y="0"/>
              <a:ext cx="11191240" cy="1996186"/>
            </a:xfrm>
            <a:custGeom>
              <a:avLst/>
              <a:gdLst/>
              <a:ahLst/>
              <a:cxnLst/>
              <a:rect r="r" b="b" t="t" l="l"/>
              <a:pathLst>
                <a:path h="1996186" w="11191240">
                  <a:moveTo>
                    <a:pt x="0" y="0"/>
                  </a:moveTo>
                  <a:lnTo>
                    <a:pt x="11140440" y="0"/>
                  </a:lnTo>
                  <a:cubicBezTo>
                    <a:pt x="11168507" y="0"/>
                    <a:pt x="11191240" y="22733"/>
                    <a:pt x="11191240" y="50800"/>
                  </a:cubicBezTo>
                  <a:lnTo>
                    <a:pt x="11191240" y="1945386"/>
                  </a:lnTo>
                  <a:cubicBezTo>
                    <a:pt x="11191240" y="1973453"/>
                    <a:pt x="11168507" y="1996186"/>
                    <a:pt x="11140440" y="1996186"/>
                  </a:cubicBezTo>
                  <a:lnTo>
                    <a:pt x="0" y="1996186"/>
                  </a:lnTo>
                  <a:lnTo>
                    <a:pt x="0" y="1894586"/>
                  </a:lnTo>
                  <a:lnTo>
                    <a:pt x="11140440" y="1894586"/>
                  </a:lnTo>
                  <a:lnTo>
                    <a:pt x="11140440" y="1945386"/>
                  </a:lnTo>
                  <a:lnTo>
                    <a:pt x="11089640" y="1945386"/>
                  </a:lnTo>
                  <a:lnTo>
                    <a:pt x="11089640" y="50800"/>
                  </a:lnTo>
                  <a:lnTo>
                    <a:pt x="11140440" y="50800"/>
                  </a:lnTo>
                  <a:lnTo>
                    <a:pt x="1114044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852592" y="9094270"/>
            <a:ext cx="7985903" cy="397869"/>
            <a:chOff x="0" y="0"/>
            <a:chExt cx="10647870" cy="530492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647870" cy="530498"/>
            </a:xfrm>
            <a:custGeom>
              <a:avLst/>
              <a:gdLst/>
              <a:ahLst/>
              <a:cxnLst/>
              <a:rect r="r" b="b" t="t" l="l"/>
              <a:pathLst>
                <a:path h="530498" w="10647870">
                  <a:moveTo>
                    <a:pt x="0" y="0"/>
                  </a:moveTo>
                  <a:lnTo>
                    <a:pt x="10647870" y="0"/>
                  </a:lnTo>
                  <a:lnTo>
                    <a:pt x="10647870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1093" r="0" b="-341092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66675"/>
              <a:ext cx="10647870" cy="597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22"/>
                </a:lnSpc>
              </a:pPr>
              <a:r>
                <a:rPr lang="en-US" sz="2238" b="true">
                  <a:solidFill>
                    <a:srgbClr val="FFE66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Time Complexity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852592" y="9605820"/>
            <a:ext cx="7971692" cy="397869"/>
            <a:chOff x="0" y="0"/>
            <a:chExt cx="10628922" cy="53049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628924" cy="530498"/>
            </a:xfrm>
            <a:custGeom>
              <a:avLst/>
              <a:gdLst/>
              <a:ahLst/>
              <a:cxnLst/>
              <a:rect r="r" b="b" t="t" l="l"/>
              <a:pathLst>
                <a:path h="530498" w="10628924">
                  <a:moveTo>
                    <a:pt x="0" y="0"/>
                  </a:moveTo>
                  <a:lnTo>
                    <a:pt x="10628924" y="0"/>
                  </a:lnTo>
                  <a:lnTo>
                    <a:pt x="10628924" y="530498"/>
                  </a:lnTo>
                  <a:lnTo>
                    <a:pt x="0" y="5304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397" r="0" b="-340396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76200"/>
              <a:ext cx="10628922" cy="606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42"/>
                </a:lnSpc>
              </a:pPr>
              <a:r>
                <a:rPr lang="en-US" sz="2014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O((V + E) log V)</a:t>
              </a:r>
              <a:r>
                <a:rPr lang="en-US" sz="2014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 using binary heap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9305506" y="2320728"/>
            <a:ext cx="8431559" cy="6584280"/>
            <a:chOff x="0" y="0"/>
            <a:chExt cx="11242078" cy="877904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50800" y="50800"/>
              <a:ext cx="11140440" cy="8677402"/>
            </a:xfrm>
            <a:custGeom>
              <a:avLst/>
              <a:gdLst/>
              <a:ahLst/>
              <a:cxnLst/>
              <a:rect r="r" b="b" t="t" l="l"/>
              <a:pathLst>
                <a:path h="8677402" w="11140440">
                  <a:moveTo>
                    <a:pt x="0" y="0"/>
                  </a:moveTo>
                  <a:lnTo>
                    <a:pt x="11140440" y="0"/>
                  </a:lnTo>
                  <a:lnTo>
                    <a:pt x="11140440" y="8677402"/>
                  </a:lnTo>
                  <a:lnTo>
                    <a:pt x="0" y="8677402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50800" y="0"/>
              <a:ext cx="11191240" cy="8779002"/>
            </a:xfrm>
            <a:custGeom>
              <a:avLst/>
              <a:gdLst/>
              <a:ahLst/>
              <a:cxnLst/>
              <a:rect r="r" b="b" t="t" l="l"/>
              <a:pathLst>
                <a:path h="8779002" w="11191240">
                  <a:moveTo>
                    <a:pt x="0" y="0"/>
                  </a:moveTo>
                  <a:lnTo>
                    <a:pt x="11140440" y="0"/>
                  </a:lnTo>
                  <a:cubicBezTo>
                    <a:pt x="11168507" y="0"/>
                    <a:pt x="11191240" y="22733"/>
                    <a:pt x="11191240" y="50800"/>
                  </a:cubicBezTo>
                  <a:lnTo>
                    <a:pt x="11191240" y="8728202"/>
                  </a:lnTo>
                  <a:cubicBezTo>
                    <a:pt x="11191240" y="8756269"/>
                    <a:pt x="11168507" y="8779002"/>
                    <a:pt x="11140440" y="8779002"/>
                  </a:cubicBezTo>
                  <a:lnTo>
                    <a:pt x="0" y="8779002"/>
                  </a:lnTo>
                  <a:lnTo>
                    <a:pt x="0" y="8677402"/>
                  </a:lnTo>
                  <a:lnTo>
                    <a:pt x="11140440" y="8677402"/>
                  </a:lnTo>
                  <a:lnTo>
                    <a:pt x="11140440" y="8728202"/>
                  </a:lnTo>
                  <a:lnTo>
                    <a:pt x="11089640" y="8728202"/>
                  </a:lnTo>
                  <a:lnTo>
                    <a:pt x="11089640" y="50800"/>
                  </a:lnTo>
                  <a:lnTo>
                    <a:pt x="11140440" y="50800"/>
                  </a:lnTo>
                  <a:lnTo>
                    <a:pt x="1114044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656216" y="2671439"/>
            <a:ext cx="795747" cy="795747"/>
            <a:chOff x="0" y="0"/>
            <a:chExt cx="1060996" cy="1060996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60958" cy="1060958"/>
            </a:xfrm>
            <a:custGeom>
              <a:avLst/>
              <a:gdLst/>
              <a:ahLst/>
              <a:cxnLst/>
              <a:rect r="r" b="b" t="t" l="l"/>
              <a:pathLst>
                <a:path h="1060958" w="1060958">
                  <a:moveTo>
                    <a:pt x="0" y="0"/>
                  </a:moveTo>
                  <a:lnTo>
                    <a:pt x="1060958" y="0"/>
                  </a:lnTo>
                  <a:lnTo>
                    <a:pt x="1060958" y="1060958"/>
                  </a:lnTo>
                  <a:lnTo>
                    <a:pt x="0" y="1060958"/>
                  </a:lnTo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92" id="92"/>
          <p:cNvSpPr/>
          <p:nvPr/>
        </p:nvSpPr>
        <p:spPr>
          <a:xfrm flipH="false" flipV="false" rot="0">
            <a:off x="9926203" y="2898800"/>
            <a:ext cx="255775" cy="341033"/>
          </a:xfrm>
          <a:custGeom>
            <a:avLst/>
            <a:gdLst/>
            <a:ahLst/>
            <a:cxnLst/>
            <a:rect r="r" b="b" t="t" l="l"/>
            <a:pathLst>
              <a:path h="341033" w="255775">
                <a:moveTo>
                  <a:pt x="0" y="0"/>
                </a:moveTo>
                <a:lnTo>
                  <a:pt x="255774" y="0"/>
                </a:lnTo>
                <a:lnTo>
                  <a:pt x="255774" y="341034"/>
                </a:lnTo>
                <a:lnTo>
                  <a:pt x="0" y="34103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10622480" y="2813542"/>
            <a:ext cx="4476083" cy="511550"/>
            <a:chOff x="0" y="0"/>
            <a:chExt cx="5968111" cy="68206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968112" cy="682070"/>
            </a:xfrm>
            <a:custGeom>
              <a:avLst/>
              <a:gdLst/>
              <a:ahLst/>
              <a:cxnLst/>
              <a:rect r="r" b="b" t="t" l="l"/>
              <a:pathLst>
                <a:path h="682070" w="5968112">
                  <a:moveTo>
                    <a:pt x="0" y="0"/>
                  </a:moveTo>
                  <a:lnTo>
                    <a:pt x="5968112" y="0"/>
                  </a:lnTo>
                  <a:lnTo>
                    <a:pt x="5968112" y="682070"/>
                  </a:lnTo>
                  <a:lnTo>
                    <a:pt x="0" y="6820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494" r="0" b="-120493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19050"/>
              <a:ext cx="5968111" cy="7011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28"/>
                </a:lnSpc>
              </a:pPr>
              <a:r>
                <a:rPr lang="en-US" sz="3357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Mathematical Formula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646539" y="3684870"/>
            <a:ext cx="7749483" cy="4424391"/>
            <a:chOff x="0" y="0"/>
            <a:chExt cx="10332644" cy="589918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50800" y="50800"/>
              <a:ext cx="10230993" cy="5797550"/>
            </a:xfrm>
            <a:custGeom>
              <a:avLst/>
              <a:gdLst/>
              <a:ahLst/>
              <a:cxnLst/>
              <a:rect r="r" b="b" t="t" l="l"/>
              <a:pathLst>
                <a:path h="5797550" w="10230993">
                  <a:moveTo>
                    <a:pt x="0" y="0"/>
                  </a:moveTo>
                  <a:lnTo>
                    <a:pt x="10230993" y="0"/>
                  </a:lnTo>
                  <a:lnTo>
                    <a:pt x="10230993" y="5797550"/>
                  </a:lnTo>
                  <a:lnTo>
                    <a:pt x="0" y="579755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50800" y="0"/>
              <a:ext cx="10281793" cy="5899150"/>
            </a:xfrm>
            <a:custGeom>
              <a:avLst/>
              <a:gdLst/>
              <a:ahLst/>
              <a:cxnLst/>
              <a:rect r="r" b="b" t="t" l="l"/>
              <a:pathLst>
                <a:path h="5899150" w="10281793">
                  <a:moveTo>
                    <a:pt x="0" y="0"/>
                  </a:moveTo>
                  <a:lnTo>
                    <a:pt x="10230993" y="0"/>
                  </a:lnTo>
                  <a:cubicBezTo>
                    <a:pt x="10259061" y="0"/>
                    <a:pt x="10281793" y="22733"/>
                    <a:pt x="10281793" y="50800"/>
                  </a:cubicBezTo>
                  <a:lnTo>
                    <a:pt x="10281793" y="5848350"/>
                  </a:lnTo>
                  <a:cubicBezTo>
                    <a:pt x="10281793" y="5876417"/>
                    <a:pt x="10259061" y="5899150"/>
                    <a:pt x="10230993" y="5899150"/>
                  </a:cubicBezTo>
                  <a:lnTo>
                    <a:pt x="0" y="5899150"/>
                  </a:lnTo>
                  <a:lnTo>
                    <a:pt x="0" y="5797550"/>
                  </a:lnTo>
                  <a:lnTo>
                    <a:pt x="10230993" y="5797550"/>
                  </a:lnTo>
                  <a:lnTo>
                    <a:pt x="10230993" y="5848350"/>
                  </a:lnTo>
                  <a:lnTo>
                    <a:pt x="10180193" y="5848350"/>
                  </a:lnTo>
                  <a:lnTo>
                    <a:pt x="10180193" y="50800"/>
                  </a:lnTo>
                  <a:lnTo>
                    <a:pt x="10230993" y="50800"/>
                  </a:lnTo>
                  <a:lnTo>
                    <a:pt x="10230993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911991" y="4035581"/>
            <a:ext cx="7218569" cy="454714"/>
            <a:chOff x="0" y="0"/>
            <a:chExt cx="9624758" cy="606285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624764" cy="606284"/>
            </a:xfrm>
            <a:custGeom>
              <a:avLst/>
              <a:gdLst/>
              <a:ahLst/>
              <a:cxnLst/>
              <a:rect r="r" b="b" t="t" l="l"/>
              <a:pathLst>
                <a:path h="606284" w="9624764">
                  <a:moveTo>
                    <a:pt x="0" y="0"/>
                  </a:moveTo>
                  <a:lnTo>
                    <a:pt x="9624764" y="0"/>
                  </a:lnTo>
                  <a:lnTo>
                    <a:pt x="9624764" y="606284"/>
                  </a:lnTo>
                  <a:lnTo>
                    <a:pt x="0" y="606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324" r="0" b="-25932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9624758" cy="6539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44"/>
                </a:lnSpc>
              </a:pPr>
              <a:r>
                <a:rPr lang="en-US" sz="268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Distance Update Equation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989991" y="4710389"/>
            <a:ext cx="7062578" cy="1577597"/>
            <a:chOff x="0" y="0"/>
            <a:chExt cx="9416771" cy="2103463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38100" y="38100"/>
              <a:ext cx="9340596" cy="2027301"/>
            </a:xfrm>
            <a:custGeom>
              <a:avLst/>
              <a:gdLst/>
              <a:ahLst/>
              <a:cxnLst/>
              <a:rect r="r" b="b" t="t" l="l"/>
              <a:pathLst>
                <a:path h="2027301" w="9340596">
                  <a:moveTo>
                    <a:pt x="0" y="0"/>
                  </a:moveTo>
                  <a:lnTo>
                    <a:pt x="9340596" y="0"/>
                  </a:lnTo>
                  <a:lnTo>
                    <a:pt x="9340596" y="2027301"/>
                  </a:lnTo>
                  <a:lnTo>
                    <a:pt x="0" y="2027301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38100" y="0"/>
              <a:ext cx="9378696" cy="2103501"/>
            </a:xfrm>
            <a:custGeom>
              <a:avLst/>
              <a:gdLst/>
              <a:ahLst/>
              <a:cxnLst/>
              <a:rect r="r" b="b" t="t" l="l"/>
              <a:pathLst>
                <a:path h="2103501" w="9378696">
                  <a:moveTo>
                    <a:pt x="0" y="0"/>
                  </a:moveTo>
                  <a:lnTo>
                    <a:pt x="9340596" y="0"/>
                  </a:lnTo>
                  <a:cubicBezTo>
                    <a:pt x="9361677" y="0"/>
                    <a:pt x="9378696" y="17018"/>
                    <a:pt x="9378696" y="38100"/>
                  </a:cubicBezTo>
                  <a:lnTo>
                    <a:pt x="9378696" y="2065401"/>
                  </a:lnTo>
                  <a:cubicBezTo>
                    <a:pt x="9378696" y="2086483"/>
                    <a:pt x="9361677" y="2103501"/>
                    <a:pt x="9340596" y="2103501"/>
                  </a:cubicBezTo>
                  <a:lnTo>
                    <a:pt x="0" y="2103501"/>
                  </a:lnTo>
                  <a:lnTo>
                    <a:pt x="0" y="2027301"/>
                  </a:lnTo>
                  <a:lnTo>
                    <a:pt x="9340596" y="2027301"/>
                  </a:lnTo>
                  <a:lnTo>
                    <a:pt x="9340596" y="2065401"/>
                  </a:lnTo>
                  <a:lnTo>
                    <a:pt x="9302496" y="2065401"/>
                  </a:lnTo>
                  <a:lnTo>
                    <a:pt x="9302496" y="38100"/>
                  </a:lnTo>
                  <a:lnTo>
                    <a:pt x="9340596" y="38100"/>
                  </a:lnTo>
                  <a:lnTo>
                    <a:pt x="934059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0160670" y="4987633"/>
            <a:ext cx="6721231" cy="1023109"/>
            <a:chOff x="0" y="0"/>
            <a:chExt cx="8961641" cy="136414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8961642" cy="1364140"/>
            </a:xfrm>
            <a:custGeom>
              <a:avLst/>
              <a:gdLst/>
              <a:ahLst/>
              <a:cxnLst/>
              <a:rect r="r" b="b" t="t" l="l"/>
              <a:pathLst>
                <a:path h="1364140" w="8961642">
                  <a:moveTo>
                    <a:pt x="0" y="0"/>
                  </a:moveTo>
                  <a:lnTo>
                    <a:pt x="8961642" y="0"/>
                  </a:lnTo>
                  <a:lnTo>
                    <a:pt x="8961642" y="1364140"/>
                  </a:lnTo>
                  <a:lnTo>
                    <a:pt x="0" y="13641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05" r="0" b="-7800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8961641" cy="1373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28"/>
                </a:lnSpc>
              </a:pPr>
              <a:r>
                <a:rPr lang="en-US" sz="3357" b="true">
                  <a:solidFill>
                    <a:srgbClr val="FF6B6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dist(v) = min(dist(v),</a:t>
              </a:r>
            </a:p>
            <a:p>
              <a:pPr algn="ctr">
                <a:lnSpc>
                  <a:spcPts val="4028"/>
                </a:lnSpc>
              </a:pPr>
              <a:r>
                <a:rPr lang="en-US" sz="3357" b="true">
                  <a:solidFill>
                    <a:srgbClr val="FF6B6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dist(u) + w(u,v))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9992411" y="6503241"/>
            <a:ext cx="350710" cy="350710"/>
            <a:chOff x="0" y="0"/>
            <a:chExt cx="467614" cy="467614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25400" y="25400"/>
              <a:ext cx="416814" cy="416814"/>
            </a:xfrm>
            <a:custGeom>
              <a:avLst/>
              <a:gdLst/>
              <a:ahLst/>
              <a:cxnLst/>
              <a:rect r="r" b="b" t="t" l="l"/>
              <a:pathLst>
                <a:path h="416814" w="416814">
                  <a:moveTo>
                    <a:pt x="0" y="0"/>
                  </a:moveTo>
                  <a:lnTo>
                    <a:pt x="416814" y="0"/>
                  </a:lnTo>
                  <a:lnTo>
                    <a:pt x="416814" y="416814"/>
                  </a:lnTo>
                  <a:lnTo>
                    <a:pt x="0" y="416814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25400" y="0"/>
              <a:ext cx="442214" cy="467614"/>
            </a:xfrm>
            <a:custGeom>
              <a:avLst/>
              <a:gdLst/>
              <a:ahLst/>
              <a:cxnLst/>
              <a:rect r="r" b="b" t="t" l="l"/>
              <a:pathLst>
                <a:path h="467614" w="442214">
                  <a:moveTo>
                    <a:pt x="0" y="0"/>
                  </a:moveTo>
                  <a:lnTo>
                    <a:pt x="416814" y="0"/>
                  </a:lnTo>
                  <a:cubicBezTo>
                    <a:pt x="430784" y="0"/>
                    <a:pt x="442214" y="11430"/>
                    <a:pt x="442214" y="25400"/>
                  </a:cubicBezTo>
                  <a:lnTo>
                    <a:pt x="442214" y="442214"/>
                  </a:lnTo>
                  <a:cubicBezTo>
                    <a:pt x="442214" y="456184"/>
                    <a:pt x="430784" y="467614"/>
                    <a:pt x="416814" y="467614"/>
                  </a:cubicBezTo>
                  <a:lnTo>
                    <a:pt x="0" y="467614"/>
                  </a:lnTo>
                  <a:lnTo>
                    <a:pt x="0" y="416814"/>
                  </a:lnTo>
                  <a:lnTo>
                    <a:pt x="416814" y="416814"/>
                  </a:lnTo>
                  <a:lnTo>
                    <a:pt x="416814" y="442214"/>
                  </a:lnTo>
                  <a:lnTo>
                    <a:pt x="391414" y="442214"/>
                  </a:lnTo>
                  <a:lnTo>
                    <a:pt x="391414" y="25400"/>
                  </a:lnTo>
                  <a:lnTo>
                    <a:pt x="416814" y="25400"/>
                  </a:lnTo>
                  <a:lnTo>
                    <a:pt x="41681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10451963" y="6508080"/>
            <a:ext cx="3737172" cy="341033"/>
            <a:chOff x="0" y="0"/>
            <a:chExt cx="4982896" cy="454711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4982900" cy="454714"/>
            </a:xfrm>
            <a:custGeom>
              <a:avLst/>
              <a:gdLst/>
              <a:ahLst/>
              <a:cxnLst/>
              <a:rect r="r" b="b" t="t" l="l"/>
              <a:pathLst>
                <a:path h="454714" w="4982900">
                  <a:moveTo>
                    <a:pt x="0" y="0"/>
                  </a:moveTo>
                  <a:lnTo>
                    <a:pt x="4982900" y="0"/>
                  </a:lnTo>
                  <a:lnTo>
                    <a:pt x="4982900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523" r="0" b="-163522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76200"/>
              <a:ext cx="4982896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dist(v):</a:t>
              </a:r>
              <a:r>
                <a:rPr lang="en-US" sz="1789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Shortest distance to vertex v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9992411" y="6957955"/>
            <a:ext cx="350710" cy="350710"/>
            <a:chOff x="0" y="0"/>
            <a:chExt cx="467614" cy="46761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25400" y="25400"/>
              <a:ext cx="416814" cy="416814"/>
            </a:xfrm>
            <a:custGeom>
              <a:avLst/>
              <a:gdLst/>
              <a:ahLst/>
              <a:cxnLst/>
              <a:rect r="r" b="b" t="t" l="l"/>
              <a:pathLst>
                <a:path h="416814" w="416814">
                  <a:moveTo>
                    <a:pt x="0" y="0"/>
                  </a:moveTo>
                  <a:lnTo>
                    <a:pt x="416814" y="0"/>
                  </a:lnTo>
                  <a:lnTo>
                    <a:pt x="416814" y="416814"/>
                  </a:lnTo>
                  <a:lnTo>
                    <a:pt x="0" y="416814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25400" y="0"/>
              <a:ext cx="442214" cy="467614"/>
            </a:xfrm>
            <a:custGeom>
              <a:avLst/>
              <a:gdLst/>
              <a:ahLst/>
              <a:cxnLst/>
              <a:rect r="r" b="b" t="t" l="l"/>
              <a:pathLst>
                <a:path h="467614" w="442214">
                  <a:moveTo>
                    <a:pt x="0" y="0"/>
                  </a:moveTo>
                  <a:lnTo>
                    <a:pt x="416814" y="0"/>
                  </a:lnTo>
                  <a:cubicBezTo>
                    <a:pt x="430784" y="0"/>
                    <a:pt x="442214" y="11430"/>
                    <a:pt x="442214" y="25400"/>
                  </a:cubicBezTo>
                  <a:lnTo>
                    <a:pt x="442214" y="442214"/>
                  </a:lnTo>
                  <a:cubicBezTo>
                    <a:pt x="442214" y="456184"/>
                    <a:pt x="430784" y="467614"/>
                    <a:pt x="416814" y="467614"/>
                  </a:cubicBezTo>
                  <a:lnTo>
                    <a:pt x="0" y="467614"/>
                  </a:lnTo>
                  <a:lnTo>
                    <a:pt x="0" y="416814"/>
                  </a:lnTo>
                  <a:lnTo>
                    <a:pt x="416814" y="416814"/>
                  </a:lnTo>
                  <a:lnTo>
                    <a:pt x="416814" y="442214"/>
                  </a:lnTo>
                  <a:lnTo>
                    <a:pt x="391414" y="442214"/>
                  </a:lnTo>
                  <a:lnTo>
                    <a:pt x="391414" y="25400"/>
                  </a:lnTo>
                  <a:lnTo>
                    <a:pt x="416814" y="25400"/>
                  </a:lnTo>
                  <a:lnTo>
                    <a:pt x="41681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451963" y="6962794"/>
            <a:ext cx="3666125" cy="341033"/>
            <a:chOff x="0" y="0"/>
            <a:chExt cx="4888166" cy="45471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4888168" cy="454714"/>
            </a:xfrm>
            <a:custGeom>
              <a:avLst/>
              <a:gdLst/>
              <a:ahLst/>
              <a:cxnLst/>
              <a:rect r="r" b="b" t="t" l="l"/>
              <a:pathLst>
                <a:path h="454714" w="4888168">
                  <a:moveTo>
                    <a:pt x="0" y="0"/>
                  </a:moveTo>
                  <a:lnTo>
                    <a:pt x="4888168" y="0"/>
                  </a:lnTo>
                  <a:lnTo>
                    <a:pt x="4888168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464" r="0" b="-159463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76200"/>
              <a:ext cx="4888166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dist(u):</a:t>
              </a:r>
              <a:r>
                <a:rPr lang="en-US" sz="1789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Distance to current vertex u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9992411" y="7412669"/>
            <a:ext cx="350710" cy="350710"/>
            <a:chOff x="0" y="0"/>
            <a:chExt cx="467614" cy="467614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25400" y="25400"/>
              <a:ext cx="416814" cy="416814"/>
            </a:xfrm>
            <a:custGeom>
              <a:avLst/>
              <a:gdLst/>
              <a:ahLst/>
              <a:cxnLst/>
              <a:rect r="r" b="b" t="t" l="l"/>
              <a:pathLst>
                <a:path h="416814" w="416814">
                  <a:moveTo>
                    <a:pt x="0" y="0"/>
                  </a:moveTo>
                  <a:lnTo>
                    <a:pt x="416814" y="0"/>
                  </a:lnTo>
                  <a:lnTo>
                    <a:pt x="416814" y="416814"/>
                  </a:lnTo>
                  <a:lnTo>
                    <a:pt x="0" y="416814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25400" y="0"/>
              <a:ext cx="442214" cy="467614"/>
            </a:xfrm>
            <a:custGeom>
              <a:avLst/>
              <a:gdLst/>
              <a:ahLst/>
              <a:cxnLst/>
              <a:rect r="r" b="b" t="t" l="l"/>
              <a:pathLst>
                <a:path h="467614" w="442214">
                  <a:moveTo>
                    <a:pt x="0" y="0"/>
                  </a:moveTo>
                  <a:lnTo>
                    <a:pt x="416814" y="0"/>
                  </a:lnTo>
                  <a:cubicBezTo>
                    <a:pt x="430784" y="0"/>
                    <a:pt x="442214" y="11430"/>
                    <a:pt x="442214" y="25400"/>
                  </a:cubicBezTo>
                  <a:lnTo>
                    <a:pt x="442214" y="442214"/>
                  </a:lnTo>
                  <a:cubicBezTo>
                    <a:pt x="442214" y="456184"/>
                    <a:pt x="430784" y="467614"/>
                    <a:pt x="416814" y="467614"/>
                  </a:cubicBezTo>
                  <a:lnTo>
                    <a:pt x="0" y="467614"/>
                  </a:lnTo>
                  <a:lnTo>
                    <a:pt x="0" y="416814"/>
                  </a:lnTo>
                  <a:lnTo>
                    <a:pt x="416814" y="416814"/>
                  </a:lnTo>
                  <a:lnTo>
                    <a:pt x="416814" y="442214"/>
                  </a:lnTo>
                  <a:lnTo>
                    <a:pt x="391414" y="442214"/>
                  </a:lnTo>
                  <a:lnTo>
                    <a:pt x="391414" y="25400"/>
                  </a:lnTo>
                  <a:lnTo>
                    <a:pt x="416814" y="25400"/>
                  </a:lnTo>
                  <a:lnTo>
                    <a:pt x="416814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0451963" y="7417508"/>
            <a:ext cx="4028992" cy="364888"/>
            <a:chOff x="0" y="0"/>
            <a:chExt cx="5020793" cy="454711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020792" cy="454714"/>
            </a:xfrm>
            <a:custGeom>
              <a:avLst/>
              <a:gdLst/>
              <a:ahLst/>
              <a:cxnLst/>
              <a:rect r="r" b="b" t="t" l="l"/>
              <a:pathLst>
                <a:path h="454714" w="5020792">
                  <a:moveTo>
                    <a:pt x="0" y="0"/>
                  </a:moveTo>
                  <a:lnTo>
                    <a:pt x="5020792" y="0"/>
                  </a:lnTo>
                  <a:lnTo>
                    <a:pt x="5020792" y="454714"/>
                  </a:lnTo>
                  <a:lnTo>
                    <a:pt x="0" y="4547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147" r="0" b="-165146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76200"/>
              <a:ext cx="5020793" cy="530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1"/>
                </a:lnSpc>
              </a:pPr>
              <a:r>
                <a:rPr lang="en-US" sz="1789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w(u,v):</a:t>
              </a:r>
              <a:r>
                <a:rPr lang="en-US" sz="1789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Edge weight between u and v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307925" y="9172261"/>
            <a:ext cx="2700176" cy="1122883"/>
            <a:chOff x="0" y="0"/>
            <a:chExt cx="3600234" cy="149717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38100" y="38100"/>
              <a:ext cx="3523996" cy="1421003"/>
            </a:xfrm>
            <a:custGeom>
              <a:avLst/>
              <a:gdLst/>
              <a:ahLst/>
              <a:cxnLst/>
              <a:rect r="r" b="b" t="t" l="l"/>
              <a:pathLst>
                <a:path h="1421003" w="3523996">
                  <a:moveTo>
                    <a:pt x="0" y="0"/>
                  </a:moveTo>
                  <a:lnTo>
                    <a:pt x="3523996" y="0"/>
                  </a:lnTo>
                  <a:lnTo>
                    <a:pt x="3523996" y="1421003"/>
                  </a:lnTo>
                  <a:lnTo>
                    <a:pt x="0" y="1421003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38100" y="0"/>
              <a:ext cx="3562096" cy="1497203"/>
            </a:xfrm>
            <a:custGeom>
              <a:avLst/>
              <a:gdLst/>
              <a:ahLst/>
              <a:cxnLst/>
              <a:rect r="r" b="b" t="t" l="l"/>
              <a:pathLst>
                <a:path h="1497203" w="3562096">
                  <a:moveTo>
                    <a:pt x="0" y="0"/>
                  </a:moveTo>
                  <a:lnTo>
                    <a:pt x="3523996" y="0"/>
                  </a:lnTo>
                  <a:cubicBezTo>
                    <a:pt x="3545078" y="0"/>
                    <a:pt x="3562096" y="17018"/>
                    <a:pt x="3562096" y="38100"/>
                  </a:cubicBezTo>
                  <a:lnTo>
                    <a:pt x="3562096" y="1459103"/>
                  </a:lnTo>
                  <a:cubicBezTo>
                    <a:pt x="3562096" y="1480185"/>
                    <a:pt x="3545078" y="1497203"/>
                    <a:pt x="3523996" y="1497203"/>
                  </a:cubicBezTo>
                  <a:lnTo>
                    <a:pt x="0" y="1497203"/>
                  </a:lnTo>
                  <a:lnTo>
                    <a:pt x="0" y="1421003"/>
                  </a:lnTo>
                  <a:lnTo>
                    <a:pt x="3523996" y="1421003"/>
                  </a:lnTo>
                  <a:lnTo>
                    <a:pt x="3523996" y="1459103"/>
                  </a:lnTo>
                  <a:lnTo>
                    <a:pt x="3485896" y="1459103"/>
                  </a:lnTo>
                  <a:lnTo>
                    <a:pt x="3485896" y="38100"/>
                  </a:lnTo>
                  <a:lnTo>
                    <a:pt x="3523996" y="38100"/>
                  </a:lnTo>
                  <a:lnTo>
                    <a:pt x="352399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29" id="129"/>
          <p:cNvSpPr/>
          <p:nvPr/>
        </p:nvSpPr>
        <p:spPr>
          <a:xfrm flipH="false" flipV="false" rot="0">
            <a:off x="10488825" y="9392669"/>
            <a:ext cx="341033" cy="341033"/>
          </a:xfrm>
          <a:custGeom>
            <a:avLst/>
            <a:gdLst/>
            <a:ahLst/>
            <a:cxnLst/>
            <a:rect r="r" b="b" t="t" l="l"/>
            <a:pathLst>
              <a:path h="341033" w="341033">
                <a:moveTo>
                  <a:pt x="0" y="0"/>
                </a:moveTo>
                <a:lnTo>
                  <a:pt x="341033" y="0"/>
                </a:lnTo>
                <a:lnTo>
                  <a:pt x="341033" y="341033"/>
                </a:lnTo>
                <a:lnTo>
                  <a:pt x="0" y="3410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0" id="130"/>
          <p:cNvGrpSpPr/>
          <p:nvPr/>
        </p:nvGrpSpPr>
        <p:grpSpPr>
          <a:xfrm rot="0">
            <a:off x="9478594" y="9790547"/>
            <a:ext cx="2358828" cy="284197"/>
            <a:chOff x="0" y="0"/>
            <a:chExt cx="3145104" cy="37893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3145100" cy="378928"/>
            </a:xfrm>
            <a:custGeom>
              <a:avLst/>
              <a:gdLst/>
              <a:ahLst/>
              <a:cxnLst/>
              <a:rect r="r" b="b" t="t" l="l"/>
              <a:pathLst>
                <a:path h="378928" w="3145100">
                  <a:moveTo>
                    <a:pt x="0" y="0"/>
                  </a:moveTo>
                  <a:lnTo>
                    <a:pt x="3145100" y="0"/>
                  </a:lnTo>
                  <a:lnTo>
                    <a:pt x="3145100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25" r="0" b="-111726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47625"/>
              <a:ext cx="3145104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5"/>
                </a:lnSpc>
              </a:pPr>
              <a:r>
                <a:rPr lang="en-US" sz="1566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Finds Shortest Path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166759" y="9172261"/>
            <a:ext cx="2700176" cy="1122883"/>
            <a:chOff x="0" y="0"/>
            <a:chExt cx="3600234" cy="1497178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38100" y="38100"/>
              <a:ext cx="3523996" cy="1421003"/>
            </a:xfrm>
            <a:custGeom>
              <a:avLst/>
              <a:gdLst/>
              <a:ahLst/>
              <a:cxnLst/>
              <a:rect r="r" b="b" t="t" l="l"/>
              <a:pathLst>
                <a:path h="1421003" w="3523996">
                  <a:moveTo>
                    <a:pt x="0" y="0"/>
                  </a:moveTo>
                  <a:lnTo>
                    <a:pt x="3523996" y="0"/>
                  </a:lnTo>
                  <a:lnTo>
                    <a:pt x="3523996" y="1421003"/>
                  </a:lnTo>
                  <a:lnTo>
                    <a:pt x="0" y="1421003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38100" y="0"/>
              <a:ext cx="3562096" cy="1497203"/>
            </a:xfrm>
            <a:custGeom>
              <a:avLst/>
              <a:gdLst/>
              <a:ahLst/>
              <a:cxnLst/>
              <a:rect r="r" b="b" t="t" l="l"/>
              <a:pathLst>
                <a:path h="1497203" w="3562096">
                  <a:moveTo>
                    <a:pt x="0" y="0"/>
                  </a:moveTo>
                  <a:lnTo>
                    <a:pt x="3523996" y="0"/>
                  </a:lnTo>
                  <a:cubicBezTo>
                    <a:pt x="3545078" y="0"/>
                    <a:pt x="3562096" y="17018"/>
                    <a:pt x="3562096" y="38100"/>
                  </a:cubicBezTo>
                  <a:lnTo>
                    <a:pt x="3562096" y="1459103"/>
                  </a:lnTo>
                  <a:cubicBezTo>
                    <a:pt x="3562096" y="1480185"/>
                    <a:pt x="3545078" y="1497203"/>
                    <a:pt x="3523996" y="1497203"/>
                  </a:cubicBezTo>
                  <a:lnTo>
                    <a:pt x="0" y="1497203"/>
                  </a:lnTo>
                  <a:lnTo>
                    <a:pt x="0" y="1421003"/>
                  </a:lnTo>
                  <a:lnTo>
                    <a:pt x="3523996" y="1421003"/>
                  </a:lnTo>
                  <a:lnTo>
                    <a:pt x="3523996" y="1459103"/>
                  </a:lnTo>
                  <a:lnTo>
                    <a:pt x="3485896" y="1459103"/>
                  </a:lnTo>
                  <a:lnTo>
                    <a:pt x="3485896" y="38100"/>
                  </a:lnTo>
                  <a:lnTo>
                    <a:pt x="3523996" y="38100"/>
                  </a:lnTo>
                  <a:lnTo>
                    <a:pt x="352399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36" id="136"/>
          <p:cNvSpPr/>
          <p:nvPr/>
        </p:nvSpPr>
        <p:spPr>
          <a:xfrm flipH="false" flipV="false" rot="0">
            <a:off x="13347659" y="9392669"/>
            <a:ext cx="341033" cy="341033"/>
          </a:xfrm>
          <a:custGeom>
            <a:avLst/>
            <a:gdLst/>
            <a:ahLst/>
            <a:cxnLst/>
            <a:rect r="r" b="b" t="t" l="l"/>
            <a:pathLst>
              <a:path h="341033" w="341033">
                <a:moveTo>
                  <a:pt x="0" y="0"/>
                </a:moveTo>
                <a:lnTo>
                  <a:pt x="341033" y="0"/>
                </a:lnTo>
                <a:lnTo>
                  <a:pt x="341033" y="341033"/>
                </a:lnTo>
                <a:lnTo>
                  <a:pt x="0" y="3410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7" id="137"/>
          <p:cNvGrpSpPr/>
          <p:nvPr/>
        </p:nvGrpSpPr>
        <p:grpSpPr>
          <a:xfrm rot="0">
            <a:off x="12337428" y="9790547"/>
            <a:ext cx="2358828" cy="284197"/>
            <a:chOff x="0" y="0"/>
            <a:chExt cx="3145104" cy="37893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3145100" cy="378928"/>
            </a:xfrm>
            <a:custGeom>
              <a:avLst/>
              <a:gdLst/>
              <a:ahLst/>
              <a:cxnLst/>
              <a:rect r="r" b="b" t="t" l="l"/>
              <a:pathLst>
                <a:path h="378928" w="3145100">
                  <a:moveTo>
                    <a:pt x="0" y="0"/>
                  </a:moveTo>
                  <a:lnTo>
                    <a:pt x="3145100" y="0"/>
                  </a:lnTo>
                  <a:lnTo>
                    <a:pt x="3145100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25" r="0" b="-11172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3145104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5"/>
                </a:lnSpc>
              </a:pPr>
              <a:r>
                <a:rPr lang="en-US" sz="1566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Optimizes Routes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5025583" y="9172261"/>
            <a:ext cx="2700176" cy="1122883"/>
            <a:chOff x="0" y="0"/>
            <a:chExt cx="3600234" cy="1497178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38100" y="38100"/>
              <a:ext cx="3523996" cy="1421003"/>
            </a:xfrm>
            <a:custGeom>
              <a:avLst/>
              <a:gdLst/>
              <a:ahLst/>
              <a:cxnLst/>
              <a:rect r="r" b="b" t="t" l="l"/>
              <a:pathLst>
                <a:path h="1421003" w="3523996">
                  <a:moveTo>
                    <a:pt x="0" y="0"/>
                  </a:moveTo>
                  <a:lnTo>
                    <a:pt x="3523996" y="0"/>
                  </a:lnTo>
                  <a:lnTo>
                    <a:pt x="3523996" y="1421003"/>
                  </a:lnTo>
                  <a:lnTo>
                    <a:pt x="0" y="1421003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38100" y="0"/>
              <a:ext cx="3562096" cy="1497203"/>
            </a:xfrm>
            <a:custGeom>
              <a:avLst/>
              <a:gdLst/>
              <a:ahLst/>
              <a:cxnLst/>
              <a:rect r="r" b="b" t="t" l="l"/>
              <a:pathLst>
                <a:path h="1497203" w="3562096">
                  <a:moveTo>
                    <a:pt x="0" y="0"/>
                  </a:moveTo>
                  <a:lnTo>
                    <a:pt x="3523996" y="0"/>
                  </a:lnTo>
                  <a:cubicBezTo>
                    <a:pt x="3545078" y="0"/>
                    <a:pt x="3562096" y="17018"/>
                    <a:pt x="3562096" y="38100"/>
                  </a:cubicBezTo>
                  <a:lnTo>
                    <a:pt x="3562096" y="1459103"/>
                  </a:lnTo>
                  <a:cubicBezTo>
                    <a:pt x="3562096" y="1480185"/>
                    <a:pt x="3545078" y="1497203"/>
                    <a:pt x="3523996" y="1497203"/>
                  </a:cubicBezTo>
                  <a:lnTo>
                    <a:pt x="0" y="1497203"/>
                  </a:lnTo>
                  <a:lnTo>
                    <a:pt x="0" y="1421003"/>
                  </a:lnTo>
                  <a:lnTo>
                    <a:pt x="3523996" y="1421003"/>
                  </a:lnTo>
                  <a:lnTo>
                    <a:pt x="3523996" y="1459103"/>
                  </a:lnTo>
                  <a:lnTo>
                    <a:pt x="3485896" y="1459103"/>
                  </a:lnTo>
                  <a:lnTo>
                    <a:pt x="3485896" y="38100"/>
                  </a:lnTo>
                  <a:lnTo>
                    <a:pt x="3523996" y="38100"/>
                  </a:lnTo>
                  <a:lnTo>
                    <a:pt x="3523996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43" id="143"/>
          <p:cNvSpPr/>
          <p:nvPr/>
        </p:nvSpPr>
        <p:spPr>
          <a:xfrm flipH="false" flipV="false" rot="0">
            <a:off x="16206492" y="9392669"/>
            <a:ext cx="341033" cy="341033"/>
          </a:xfrm>
          <a:custGeom>
            <a:avLst/>
            <a:gdLst/>
            <a:ahLst/>
            <a:cxnLst/>
            <a:rect r="r" b="b" t="t" l="l"/>
            <a:pathLst>
              <a:path h="341033" w="341033">
                <a:moveTo>
                  <a:pt x="0" y="0"/>
                </a:moveTo>
                <a:lnTo>
                  <a:pt x="341033" y="0"/>
                </a:lnTo>
                <a:lnTo>
                  <a:pt x="341033" y="341033"/>
                </a:lnTo>
                <a:lnTo>
                  <a:pt x="0" y="34103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4" id="144"/>
          <p:cNvGrpSpPr/>
          <p:nvPr/>
        </p:nvGrpSpPr>
        <p:grpSpPr>
          <a:xfrm rot="0">
            <a:off x="15196261" y="9790547"/>
            <a:ext cx="2358828" cy="284197"/>
            <a:chOff x="0" y="0"/>
            <a:chExt cx="3145104" cy="37893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145100" cy="378928"/>
            </a:xfrm>
            <a:custGeom>
              <a:avLst/>
              <a:gdLst/>
              <a:ahLst/>
              <a:cxnLst/>
              <a:rect r="r" b="b" t="t" l="l"/>
              <a:pathLst>
                <a:path h="378928" w="3145100">
                  <a:moveTo>
                    <a:pt x="0" y="0"/>
                  </a:moveTo>
                  <a:lnTo>
                    <a:pt x="3145100" y="0"/>
                  </a:lnTo>
                  <a:lnTo>
                    <a:pt x="3145100" y="378928"/>
                  </a:lnTo>
                  <a:lnTo>
                    <a:pt x="0" y="3789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725" r="0" b="-111726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47625"/>
              <a:ext cx="3145104" cy="4265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5"/>
                </a:lnSpc>
              </a:pPr>
              <a:r>
                <a:rPr lang="en-US" sz="1566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Reduces Cost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920000">
            <a:off x="15764313" y="-380562"/>
            <a:ext cx="1033462" cy="1033462"/>
            <a:chOff x="0" y="0"/>
            <a:chExt cx="1377950" cy="1377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301750" cy="1301750"/>
            </a:xfrm>
            <a:custGeom>
              <a:avLst/>
              <a:gdLst/>
              <a:ahLst/>
              <a:cxnLst/>
              <a:rect r="r" b="b" t="t" l="l"/>
              <a:pathLst>
                <a:path h="1301750" w="1301750">
                  <a:moveTo>
                    <a:pt x="0" y="0"/>
                  </a:moveTo>
                  <a:lnTo>
                    <a:pt x="1301750" y="0"/>
                  </a:lnTo>
                  <a:lnTo>
                    <a:pt x="1301750" y="1301750"/>
                  </a:lnTo>
                  <a:lnTo>
                    <a:pt x="0" y="130175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8100" y="0"/>
              <a:ext cx="1339850" cy="1377950"/>
            </a:xfrm>
            <a:custGeom>
              <a:avLst/>
              <a:gdLst/>
              <a:ahLst/>
              <a:cxnLst/>
              <a:rect r="r" b="b" t="t" l="l"/>
              <a:pathLst>
                <a:path h="1377950" w="1339850">
                  <a:moveTo>
                    <a:pt x="0" y="0"/>
                  </a:moveTo>
                  <a:lnTo>
                    <a:pt x="1301750" y="0"/>
                  </a:lnTo>
                  <a:cubicBezTo>
                    <a:pt x="1322832" y="0"/>
                    <a:pt x="1339850" y="17018"/>
                    <a:pt x="1339850" y="38100"/>
                  </a:cubicBezTo>
                  <a:lnTo>
                    <a:pt x="1339850" y="1339850"/>
                  </a:lnTo>
                  <a:cubicBezTo>
                    <a:pt x="1339850" y="1360932"/>
                    <a:pt x="1322832" y="1377950"/>
                    <a:pt x="1301750" y="1377950"/>
                  </a:cubicBezTo>
                  <a:lnTo>
                    <a:pt x="0" y="1377950"/>
                  </a:lnTo>
                  <a:lnTo>
                    <a:pt x="0" y="1301750"/>
                  </a:lnTo>
                  <a:lnTo>
                    <a:pt x="1301750" y="1301750"/>
                  </a:lnTo>
                  <a:lnTo>
                    <a:pt x="1301750" y="1339850"/>
                  </a:lnTo>
                  <a:lnTo>
                    <a:pt x="1263650" y="1339850"/>
                  </a:lnTo>
                  <a:lnTo>
                    <a:pt x="1263650" y="38100"/>
                  </a:lnTo>
                  <a:lnTo>
                    <a:pt x="1301750" y="38100"/>
                  </a:lnTo>
                  <a:lnTo>
                    <a:pt x="13017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25066" y="8728472"/>
            <a:ext cx="854869" cy="854869"/>
            <a:chOff x="0" y="0"/>
            <a:chExt cx="1139825" cy="11398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063625" cy="1063625"/>
            </a:xfrm>
            <a:custGeom>
              <a:avLst/>
              <a:gdLst/>
              <a:ahLst/>
              <a:cxnLst/>
              <a:rect r="r" b="b" t="t" l="l"/>
              <a:pathLst>
                <a:path h="1063625" w="1063625">
                  <a:moveTo>
                    <a:pt x="0" y="531876"/>
                  </a:moveTo>
                  <a:cubicBezTo>
                    <a:pt x="0" y="238125"/>
                    <a:pt x="238125" y="0"/>
                    <a:pt x="531876" y="0"/>
                  </a:cubicBezTo>
                  <a:cubicBezTo>
                    <a:pt x="825627" y="0"/>
                    <a:pt x="1063625" y="238125"/>
                    <a:pt x="1063625" y="531876"/>
                  </a:cubicBezTo>
                  <a:cubicBezTo>
                    <a:pt x="1063625" y="825627"/>
                    <a:pt x="825500" y="1063625"/>
                    <a:pt x="531876" y="1063625"/>
                  </a:cubicBezTo>
                  <a:cubicBezTo>
                    <a:pt x="238252" y="1063625"/>
                    <a:pt x="0" y="825500"/>
                    <a:pt x="0" y="531876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9825" cy="1139952"/>
            </a:xfrm>
            <a:custGeom>
              <a:avLst/>
              <a:gdLst/>
              <a:ahLst/>
              <a:cxnLst/>
              <a:rect r="r" b="b" t="t" l="l"/>
              <a:pathLst>
                <a:path h="1139952" w="1139825">
                  <a:moveTo>
                    <a:pt x="0" y="569976"/>
                  </a:moveTo>
                  <a:cubicBezTo>
                    <a:pt x="0" y="255143"/>
                    <a:pt x="255143" y="0"/>
                    <a:pt x="569976" y="0"/>
                  </a:cubicBezTo>
                  <a:cubicBezTo>
                    <a:pt x="581152" y="0"/>
                    <a:pt x="591820" y="4953"/>
                    <a:pt x="599059" y="13589"/>
                  </a:cubicBezTo>
                  <a:lnTo>
                    <a:pt x="569976" y="38100"/>
                  </a:lnTo>
                  <a:lnTo>
                    <a:pt x="569976" y="0"/>
                  </a:lnTo>
                  <a:lnTo>
                    <a:pt x="569976" y="38100"/>
                  </a:lnTo>
                  <a:lnTo>
                    <a:pt x="569976" y="0"/>
                  </a:lnTo>
                  <a:cubicBezTo>
                    <a:pt x="884682" y="0"/>
                    <a:pt x="1139825" y="255143"/>
                    <a:pt x="1139825" y="569976"/>
                  </a:cubicBezTo>
                  <a:cubicBezTo>
                    <a:pt x="1139825" y="584454"/>
                    <a:pt x="1131697" y="597662"/>
                    <a:pt x="1118743" y="604012"/>
                  </a:cubicBezTo>
                  <a:lnTo>
                    <a:pt x="1101725" y="569976"/>
                  </a:lnTo>
                  <a:lnTo>
                    <a:pt x="1139825" y="569976"/>
                  </a:lnTo>
                  <a:cubicBezTo>
                    <a:pt x="1139825" y="884682"/>
                    <a:pt x="884682" y="1139952"/>
                    <a:pt x="569849" y="1139952"/>
                  </a:cubicBezTo>
                  <a:lnTo>
                    <a:pt x="569849" y="1101852"/>
                  </a:lnTo>
                  <a:lnTo>
                    <a:pt x="569849" y="1139952"/>
                  </a:lnTo>
                  <a:cubicBezTo>
                    <a:pt x="255143" y="1139825"/>
                    <a:pt x="0" y="884682"/>
                    <a:pt x="0" y="569976"/>
                  </a:cubicBezTo>
                  <a:lnTo>
                    <a:pt x="38100" y="569976"/>
                  </a:lnTo>
                  <a:lnTo>
                    <a:pt x="0" y="569976"/>
                  </a:lnTo>
                  <a:moveTo>
                    <a:pt x="76200" y="569976"/>
                  </a:moveTo>
                  <a:lnTo>
                    <a:pt x="38100" y="569976"/>
                  </a:lnTo>
                  <a:lnTo>
                    <a:pt x="76200" y="569976"/>
                  </a:lnTo>
                  <a:cubicBezTo>
                    <a:pt x="76200" y="842645"/>
                    <a:pt x="297180" y="1063625"/>
                    <a:pt x="569976" y="1063625"/>
                  </a:cubicBezTo>
                  <a:cubicBezTo>
                    <a:pt x="842772" y="1063625"/>
                    <a:pt x="1063752" y="842645"/>
                    <a:pt x="1063752" y="569849"/>
                  </a:cubicBezTo>
                  <a:cubicBezTo>
                    <a:pt x="1063752" y="555371"/>
                    <a:pt x="1071880" y="542163"/>
                    <a:pt x="1084834" y="535813"/>
                  </a:cubicBezTo>
                  <a:lnTo>
                    <a:pt x="1101852" y="569849"/>
                  </a:lnTo>
                  <a:lnTo>
                    <a:pt x="1063752" y="569849"/>
                  </a:lnTo>
                  <a:cubicBezTo>
                    <a:pt x="1063625" y="297180"/>
                    <a:pt x="842645" y="76200"/>
                    <a:pt x="569976" y="76200"/>
                  </a:cubicBezTo>
                  <a:cubicBezTo>
                    <a:pt x="558800" y="76200"/>
                    <a:pt x="548132" y="71247"/>
                    <a:pt x="540893" y="62611"/>
                  </a:cubicBezTo>
                  <a:lnTo>
                    <a:pt x="569976" y="38100"/>
                  </a:lnTo>
                  <a:lnTo>
                    <a:pt x="569976" y="76200"/>
                  </a:lnTo>
                  <a:cubicBezTo>
                    <a:pt x="297180" y="76200"/>
                    <a:pt x="76200" y="297180"/>
                    <a:pt x="76200" y="569976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1500000">
            <a:off x="903408" y="2332168"/>
            <a:ext cx="616744" cy="616744"/>
            <a:chOff x="0" y="0"/>
            <a:chExt cx="822325" cy="8223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746125" cy="746125"/>
            </a:xfrm>
            <a:custGeom>
              <a:avLst/>
              <a:gdLst/>
              <a:ahLst/>
              <a:cxnLst/>
              <a:rect r="r" b="b" t="t" l="l"/>
              <a:pathLst>
                <a:path h="746125" w="746125">
                  <a:moveTo>
                    <a:pt x="0" y="0"/>
                  </a:moveTo>
                  <a:lnTo>
                    <a:pt x="746125" y="0"/>
                  </a:lnTo>
                  <a:lnTo>
                    <a:pt x="746125" y="746125"/>
                  </a:lnTo>
                  <a:lnTo>
                    <a:pt x="0" y="746125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784225" cy="822325"/>
            </a:xfrm>
            <a:custGeom>
              <a:avLst/>
              <a:gdLst/>
              <a:ahLst/>
              <a:cxnLst/>
              <a:rect r="r" b="b" t="t" l="l"/>
              <a:pathLst>
                <a:path h="822325" w="784225">
                  <a:moveTo>
                    <a:pt x="0" y="0"/>
                  </a:moveTo>
                  <a:lnTo>
                    <a:pt x="746125" y="0"/>
                  </a:lnTo>
                  <a:cubicBezTo>
                    <a:pt x="767207" y="0"/>
                    <a:pt x="784225" y="17018"/>
                    <a:pt x="784225" y="38100"/>
                  </a:cubicBezTo>
                  <a:lnTo>
                    <a:pt x="784225" y="784225"/>
                  </a:lnTo>
                  <a:cubicBezTo>
                    <a:pt x="784225" y="805307"/>
                    <a:pt x="767207" y="822325"/>
                    <a:pt x="746125" y="822325"/>
                  </a:cubicBezTo>
                  <a:lnTo>
                    <a:pt x="0" y="822325"/>
                  </a:lnTo>
                  <a:lnTo>
                    <a:pt x="0" y="746125"/>
                  </a:lnTo>
                  <a:lnTo>
                    <a:pt x="746125" y="746125"/>
                  </a:lnTo>
                  <a:lnTo>
                    <a:pt x="746125" y="784225"/>
                  </a:lnTo>
                  <a:lnTo>
                    <a:pt x="708025" y="784225"/>
                  </a:lnTo>
                  <a:lnTo>
                    <a:pt x="708025" y="38100"/>
                  </a:lnTo>
                  <a:lnTo>
                    <a:pt x="746125" y="38100"/>
                  </a:lnTo>
                  <a:lnTo>
                    <a:pt x="74612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61962" y="461962"/>
            <a:ext cx="2338388" cy="600075"/>
            <a:chOff x="0" y="0"/>
            <a:chExt cx="3117850" cy="800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016250" cy="698500"/>
            </a:xfrm>
            <a:custGeom>
              <a:avLst/>
              <a:gdLst/>
              <a:ahLst/>
              <a:cxnLst/>
              <a:rect r="r" b="b" t="t" l="l"/>
              <a:pathLst>
                <a:path h="698500" w="3016250">
                  <a:moveTo>
                    <a:pt x="0" y="0"/>
                  </a:moveTo>
                  <a:lnTo>
                    <a:pt x="3016250" y="0"/>
                  </a:lnTo>
                  <a:lnTo>
                    <a:pt x="3016250" y="698500"/>
                  </a:lnTo>
                  <a:lnTo>
                    <a:pt x="0" y="6985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067050" cy="800100"/>
            </a:xfrm>
            <a:custGeom>
              <a:avLst/>
              <a:gdLst/>
              <a:ahLst/>
              <a:cxnLst/>
              <a:rect r="r" b="b" t="t" l="l"/>
              <a:pathLst>
                <a:path h="800100" w="3067050">
                  <a:moveTo>
                    <a:pt x="0" y="0"/>
                  </a:moveTo>
                  <a:lnTo>
                    <a:pt x="3016250" y="0"/>
                  </a:lnTo>
                  <a:cubicBezTo>
                    <a:pt x="3044317" y="0"/>
                    <a:pt x="3067050" y="22733"/>
                    <a:pt x="3067050" y="50800"/>
                  </a:cubicBezTo>
                  <a:lnTo>
                    <a:pt x="3067050" y="749300"/>
                  </a:lnTo>
                  <a:cubicBezTo>
                    <a:pt x="3067050" y="777367"/>
                    <a:pt x="3044317" y="800100"/>
                    <a:pt x="3016250" y="800100"/>
                  </a:cubicBezTo>
                  <a:lnTo>
                    <a:pt x="0" y="800100"/>
                  </a:lnTo>
                  <a:lnTo>
                    <a:pt x="0" y="698500"/>
                  </a:lnTo>
                  <a:lnTo>
                    <a:pt x="3016250" y="698500"/>
                  </a:lnTo>
                  <a:lnTo>
                    <a:pt x="3016250" y="749300"/>
                  </a:lnTo>
                  <a:lnTo>
                    <a:pt x="2965450" y="749300"/>
                  </a:lnTo>
                  <a:lnTo>
                    <a:pt x="2965450" y="50800"/>
                  </a:lnTo>
                  <a:lnTo>
                    <a:pt x="3016250" y="50800"/>
                  </a:lnTo>
                  <a:lnTo>
                    <a:pt x="30162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76250" y="476250"/>
            <a:ext cx="2309812" cy="476250"/>
            <a:chOff x="0" y="0"/>
            <a:chExt cx="3079750" cy="63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79750" cy="635000"/>
            </a:xfrm>
            <a:custGeom>
              <a:avLst/>
              <a:gdLst/>
              <a:ahLst/>
              <a:cxnLst/>
              <a:rect r="r" b="b" t="t" l="l"/>
              <a:pathLst>
                <a:path h="635000" w="3079750">
                  <a:moveTo>
                    <a:pt x="0" y="0"/>
                  </a:moveTo>
                  <a:lnTo>
                    <a:pt x="3079750" y="0"/>
                  </a:lnTo>
                  <a:lnTo>
                    <a:pt x="307975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502" r="0" b="-4450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079750" cy="70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WORKFLOW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00062" y="1190625"/>
            <a:ext cx="17621250" cy="571500"/>
            <a:chOff x="0" y="0"/>
            <a:chExt cx="2349500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9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495000">
                  <a:moveTo>
                    <a:pt x="0" y="0"/>
                  </a:moveTo>
                  <a:lnTo>
                    <a:pt x="23495000" y="0"/>
                  </a:lnTo>
                  <a:lnTo>
                    <a:pt x="23495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788" r="0" b="-5507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76200"/>
              <a:ext cx="234950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45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Flowchart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79434" y="1152525"/>
            <a:ext cx="3838575" cy="742950"/>
            <a:chOff x="0" y="0"/>
            <a:chExt cx="5118100" cy="990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5016500" cy="889000"/>
            </a:xfrm>
            <a:custGeom>
              <a:avLst/>
              <a:gdLst/>
              <a:ahLst/>
              <a:cxnLst/>
              <a:rect r="r" b="b" t="t" l="l"/>
              <a:pathLst>
                <a:path h="88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889000"/>
                  </a:lnTo>
                  <a:lnTo>
                    <a:pt x="0" y="8890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5067300" cy="990600"/>
            </a:xfrm>
            <a:custGeom>
              <a:avLst/>
              <a:gdLst/>
              <a:ahLst/>
              <a:cxnLst/>
              <a:rect r="r" b="b" t="t" l="l"/>
              <a:pathLst>
                <a:path h="990600" w="5067300">
                  <a:moveTo>
                    <a:pt x="0" y="0"/>
                  </a:moveTo>
                  <a:lnTo>
                    <a:pt x="5016500" y="0"/>
                  </a:lnTo>
                  <a:cubicBezTo>
                    <a:pt x="5044567" y="0"/>
                    <a:pt x="5067300" y="22733"/>
                    <a:pt x="5067300" y="50800"/>
                  </a:cubicBezTo>
                  <a:lnTo>
                    <a:pt x="5067300" y="939800"/>
                  </a:lnTo>
                  <a:cubicBezTo>
                    <a:pt x="5067300" y="967867"/>
                    <a:pt x="5044567" y="990600"/>
                    <a:pt x="5016500" y="990600"/>
                  </a:cubicBezTo>
                  <a:lnTo>
                    <a:pt x="0" y="990600"/>
                  </a:lnTo>
                  <a:lnTo>
                    <a:pt x="0" y="889000"/>
                  </a:lnTo>
                  <a:lnTo>
                    <a:pt x="5016500" y="889000"/>
                  </a:lnTo>
                  <a:lnTo>
                    <a:pt x="5016500" y="939800"/>
                  </a:lnTo>
                  <a:lnTo>
                    <a:pt x="4965700" y="939800"/>
                  </a:lnTo>
                  <a:lnTo>
                    <a:pt x="4965700" y="50800"/>
                  </a:lnTo>
                  <a:lnTo>
                    <a:pt x="5016500" y="50800"/>
                  </a:lnTo>
                  <a:lnTo>
                    <a:pt x="501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441531" y="2178844"/>
            <a:ext cx="208359" cy="238125"/>
            <a:chOff x="0" y="0"/>
            <a:chExt cx="277812" cy="3175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9906" y="4953"/>
              <a:ext cx="257937" cy="312547"/>
            </a:xfrm>
            <a:custGeom>
              <a:avLst/>
              <a:gdLst/>
              <a:ahLst/>
              <a:cxnLst/>
              <a:rect r="r" b="b" t="t" l="l"/>
              <a:pathLst>
                <a:path h="312547" w="257937">
                  <a:moveTo>
                    <a:pt x="129032" y="148844"/>
                  </a:moveTo>
                  <a:cubicBezTo>
                    <a:pt x="170053" y="148844"/>
                    <a:pt x="203454" y="115443"/>
                    <a:pt x="203454" y="74422"/>
                  </a:cubicBezTo>
                  <a:cubicBezTo>
                    <a:pt x="203454" y="33401"/>
                    <a:pt x="170053" y="0"/>
                    <a:pt x="129032" y="0"/>
                  </a:cubicBezTo>
                  <a:cubicBezTo>
                    <a:pt x="88011" y="0"/>
                    <a:pt x="54610" y="33401"/>
                    <a:pt x="54610" y="74422"/>
                  </a:cubicBezTo>
                  <a:cubicBezTo>
                    <a:pt x="54610" y="115443"/>
                    <a:pt x="88011" y="148844"/>
                    <a:pt x="129032" y="148844"/>
                  </a:cubicBezTo>
                  <a:close/>
                  <a:moveTo>
                    <a:pt x="110617" y="183515"/>
                  </a:moveTo>
                  <a:cubicBezTo>
                    <a:pt x="49530" y="183515"/>
                    <a:pt x="0" y="233045"/>
                    <a:pt x="0" y="294132"/>
                  </a:cubicBezTo>
                  <a:cubicBezTo>
                    <a:pt x="0" y="304292"/>
                    <a:pt x="8255" y="312547"/>
                    <a:pt x="18415" y="312547"/>
                  </a:cubicBezTo>
                  <a:lnTo>
                    <a:pt x="239522" y="312547"/>
                  </a:lnTo>
                  <a:cubicBezTo>
                    <a:pt x="249682" y="312547"/>
                    <a:pt x="257937" y="304292"/>
                    <a:pt x="257937" y="294132"/>
                  </a:cubicBezTo>
                  <a:cubicBezTo>
                    <a:pt x="257937" y="233045"/>
                    <a:pt x="208407" y="183515"/>
                    <a:pt x="147320" y="183515"/>
                  </a:cubicBezTo>
                  <a:lnTo>
                    <a:pt x="110617" y="183515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675359" y="762000"/>
            <a:ext cx="2714625" cy="1781242"/>
            <a:chOff x="0" y="0"/>
            <a:chExt cx="3619500" cy="23749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19500" cy="2374984"/>
            </a:xfrm>
            <a:custGeom>
              <a:avLst/>
              <a:gdLst/>
              <a:ahLst/>
              <a:cxnLst/>
              <a:rect r="r" b="b" t="t" l="l"/>
              <a:pathLst>
                <a:path h="2374984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2374984"/>
                  </a:lnTo>
                  <a:lnTo>
                    <a:pt x="0" y="2374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188" t="0" r="-34188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76200"/>
              <a:ext cx="3619500" cy="2451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User Input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898722" y="1976438"/>
            <a:ext cx="267891" cy="357188"/>
            <a:chOff x="0" y="0"/>
            <a:chExt cx="357188" cy="4762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-127" y="0"/>
              <a:ext cx="357378" cy="476250"/>
            </a:xfrm>
            <a:custGeom>
              <a:avLst/>
              <a:gdLst/>
              <a:ahLst/>
              <a:cxnLst/>
              <a:rect r="r" b="b" t="t" l="l"/>
              <a:pathLst>
                <a:path h="476250" w="357378">
                  <a:moveTo>
                    <a:pt x="157734" y="467487"/>
                  </a:moveTo>
                  <a:cubicBezTo>
                    <a:pt x="169418" y="479171"/>
                    <a:pt x="188214" y="479171"/>
                    <a:pt x="199898" y="467487"/>
                  </a:cubicBezTo>
                  <a:lnTo>
                    <a:pt x="348615" y="318643"/>
                  </a:lnTo>
                  <a:cubicBezTo>
                    <a:pt x="360299" y="306959"/>
                    <a:pt x="360299" y="288163"/>
                    <a:pt x="348615" y="276479"/>
                  </a:cubicBezTo>
                  <a:cubicBezTo>
                    <a:pt x="336931" y="264795"/>
                    <a:pt x="318135" y="264795"/>
                    <a:pt x="306451" y="276479"/>
                  </a:cubicBezTo>
                  <a:lnTo>
                    <a:pt x="208407" y="374523"/>
                  </a:lnTo>
                  <a:lnTo>
                    <a:pt x="208407" y="29718"/>
                  </a:lnTo>
                  <a:cubicBezTo>
                    <a:pt x="208407" y="13208"/>
                    <a:pt x="195072" y="0"/>
                    <a:pt x="178689" y="0"/>
                  </a:cubicBezTo>
                  <a:cubicBezTo>
                    <a:pt x="162306" y="0"/>
                    <a:pt x="148971" y="13335"/>
                    <a:pt x="148971" y="29718"/>
                  </a:cubicBezTo>
                  <a:lnTo>
                    <a:pt x="148971" y="374523"/>
                  </a:lnTo>
                  <a:lnTo>
                    <a:pt x="50927" y="276479"/>
                  </a:lnTo>
                  <a:cubicBezTo>
                    <a:pt x="39243" y="264795"/>
                    <a:pt x="20447" y="264795"/>
                    <a:pt x="8763" y="276479"/>
                  </a:cubicBezTo>
                  <a:cubicBezTo>
                    <a:pt x="-2921" y="288163"/>
                    <a:pt x="-2921" y="306959"/>
                    <a:pt x="8763" y="318643"/>
                  </a:cubicBezTo>
                  <a:lnTo>
                    <a:pt x="157607" y="467487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110412" y="2462212"/>
            <a:ext cx="3838575" cy="742950"/>
            <a:chOff x="0" y="0"/>
            <a:chExt cx="5118100" cy="9906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50800" y="50800"/>
              <a:ext cx="5016500" cy="889000"/>
            </a:xfrm>
            <a:custGeom>
              <a:avLst/>
              <a:gdLst/>
              <a:ahLst/>
              <a:cxnLst/>
              <a:rect r="r" b="b" t="t" l="l"/>
              <a:pathLst>
                <a:path h="88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889000"/>
                  </a:lnTo>
                  <a:lnTo>
                    <a:pt x="0" y="8890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50800" y="0"/>
              <a:ext cx="5067300" cy="990600"/>
            </a:xfrm>
            <a:custGeom>
              <a:avLst/>
              <a:gdLst/>
              <a:ahLst/>
              <a:cxnLst/>
              <a:rect r="r" b="b" t="t" l="l"/>
              <a:pathLst>
                <a:path h="990600" w="5067300">
                  <a:moveTo>
                    <a:pt x="0" y="0"/>
                  </a:moveTo>
                  <a:lnTo>
                    <a:pt x="5016500" y="0"/>
                  </a:lnTo>
                  <a:cubicBezTo>
                    <a:pt x="5044567" y="0"/>
                    <a:pt x="5067300" y="22733"/>
                    <a:pt x="5067300" y="50800"/>
                  </a:cubicBezTo>
                  <a:lnTo>
                    <a:pt x="5067300" y="939800"/>
                  </a:lnTo>
                  <a:cubicBezTo>
                    <a:pt x="5067300" y="967867"/>
                    <a:pt x="5044567" y="990600"/>
                    <a:pt x="5016500" y="990600"/>
                  </a:cubicBezTo>
                  <a:lnTo>
                    <a:pt x="0" y="990600"/>
                  </a:lnTo>
                  <a:lnTo>
                    <a:pt x="0" y="889000"/>
                  </a:lnTo>
                  <a:lnTo>
                    <a:pt x="5016500" y="889000"/>
                  </a:lnTo>
                  <a:lnTo>
                    <a:pt x="5016500" y="939800"/>
                  </a:lnTo>
                  <a:lnTo>
                    <a:pt x="4965700" y="939800"/>
                  </a:lnTo>
                  <a:lnTo>
                    <a:pt x="4965700" y="50800"/>
                  </a:lnTo>
                  <a:lnTo>
                    <a:pt x="5016500" y="50800"/>
                  </a:lnTo>
                  <a:lnTo>
                    <a:pt x="501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8315325" y="2702719"/>
            <a:ext cx="208359" cy="238125"/>
          </a:xfrm>
          <a:custGeom>
            <a:avLst/>
            <a:gdLst/>
            <a:ahLst/>
            <a:cxnLst/>
            <a:rect r="r" b="b" t="t" l="l"/>
            <a:pathLst>
              <a:path h="238125" w="208359">
                <a:moveTo>
                  <a:pt x="0" y="0"/>
                </a:moveTo>
                <a:lnTo>
                  <a:pt x="208359" y="0"/>
                </a:lnTo>
                <a:lnTo>
                  <a:pt x="208359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7850972" y="2667000"/>
            <a:ext cx="2714625" cy="333375"/>
            <a:chOff x="0" y="0"/>
            <a:chExt cx="3619500" cy="444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619500" cy="444500"/>
            </a:xfrm>
            <a:custGeom>
              <a:avLst/>
              <a:gdLst/>
              <a:ahLst/>
              <a:cxnLst/>
              <a:rect r="r" b="b" t="t" l="l"/>
              <a:pathLst>
                <a:path h="444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3619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Store Data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898722" y="3333750"/>
            <a:ext cx="267891" cy="357188"/>
            <a:chOff x="0" y="0"/>
            <a:chExt cx="357188" cy="4762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-127" y="0"/>
              <a:ext cx="357378" cy="476250"/>
            </a:xfrm>
            <a:custGeom>
              <a:avLst/>
              <a:gdLst/>
              <a:ahLst/>
              <a:cxnLst/>
              <a:rect r="r" b="b" t="t" l="l"/>
              <a:pathLst>
                <a:path h="476250" w="357378">
                  <a:moveTo>
                    <a:pt x="157734" y="467487"/>
                  </a:moveTo>
                  <a:cubicBezTo>
                    <a:pt x="169418" y="479171"/>
                    <a:pt x="188214" y="479171"/>
                    <a:pt x="199898" y="467487"/>
                  </a:cubicBezTo>
                  <a:lnTo>
                    <a:pt x="348615" y="318643"/>
                  </a:lnTo>
                  <a:cubicBezTo>
                    <a:pt x="360299" y="306959"/>
                    <a:pt x="360299" y="288163"/>
                    <a:pt x="348615" y="276479"/>
                  </a:cubicBezTo>
                  <a:cubicBezTo>
                    <a:pt x="336931" y="264795"/>
                    <a:pt x="318135" y="264795"/>
                    <a:pt x="306451" y="276479"/>
                  </a:cubicBezTo>
                  <a:lnTo>
                    <a:pt x="208407" y="374523"/>
                  </a:lnTo>
                  <a:lnTo>
                    <a:pt x="208407" y="29718"/>
                  </a:lnTo>
                  <a:cubicBezTo>
                    <a:pt x="208407" y="13208"/>
                    <a:pt x="195072" y="0"/>
                    <a:pt x="178689" y="0"/>
                  </a:cubicBezTo>
                  <a:cubicBezTo>
                    <a:pt x="162306" y="0"/>
                    <a:pt x="148971" y="13335"/>
                    <a:pt x="148971" y="29718"/>
                  </a:cubicBezTo>
                  <a:lnTo>
                    <a:pt x="148971" y="374523"/>
                  </a:lnTo>
                  <a:lnTo>
                    <a:pt x="50927" y="276479"/>
                  </a:lnTo>
                  <a:cubicBezTo>
                    <a:pt x="39243" y="264795"/>
                    <a:pt x="20447" y="264795"/>
                    <a:pt x="8763" y="276479"/>
                  </a:cubicBezTo>
                  <a:cubicBezTo>
                    <a:pt x="-2921" y="288163"/>
                    <a:pt x="-2921" y="306959"/>
                    <a:pt x="8763" y="318643"/>
                  </a:cubicBezTo>
                  <a:lnTo>
                    <a:pt x="157607" y="467487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7110412" y="3819525"/>
            <a:ext cx="3838575" cy="742950"/>
            <a:chOff x="0" y="0"/>
            <a:chExt cx="5118100" cy="990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800" y="50800"/>
              <a:ext cx="5016500" cy="889000"/>
            </a:xfrm>
            <a:custGeom>
              <a:avLst/>
              <a:gdLst/>
              <a:ahLst/>
              <a:cxnLst/>
              <a:rect r="r" b="b" t="t" l="l"/>
              <a:pathLst>
                <a:path h="88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889000"/>
                  </a:lnTo>
                  <a:lnTo>
                    <a:pt x="0" y="8890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50800" y="0"/>
              <a:ext cx="5067300" cy="990600"/>
            </a:xfrm>
            <a:custGeom>
              <a:avLst/>
              <a:gdLst/>
              <a:ahLst/>
              <a:cxnLst/>
              <a:rect r="r" b="b" t="t" l="l"/>
              <a:pathLst>
                <a:path h="990600" w="5067300">
                  <a:moveTo>
                    <a:pt x="0" y="0"/>
                  </a:moveTo>
                  <a:lnTo>
                    <a:pt x="5016500" y="0"/>
                  </a:lnTo>
                  <a:cubicBezTo>
                    <a:pt x="5044567" y="0"/>
                    <a:pt x="5067300" y="22733"/>
                    <a:pt x="5067300" y="50800"/>
                  </a:cubicBezTo>
                  <a:lnTo>
                    <a:pt x="5067300" y="939800"/>
                  </a:lnTo>
                  <a:cubicBezTo>
                    <a:pt x="5067300" y="967867"/>
                    <a:pt x="5044567" y="990600"/>
                    <a:pt x="5016500" y="990600"/>
                  </a:cubicBezTo>
                  <a:lnTo>
                    <a:pt x="0" y="990600"/>
                  </a:lnTo>
                  <a:lnTo>
                    <a:pt x="0" y="889000"/>
                  </a:lnTo>
                  <a:lnTo>
                    <a:pt x="5016500" y="889000"/>
                  </a:lnTo>
                  <a:lnTo>
                    <a:pt x="5016500" y="939800"/>
                  </a:lnTo>
                  <a:lnTo>
                    <a:pt x="4965700" y="939800"/>
                  </a:lnTo>
                  <a:lnTo>
                    <a:pt x="4965700" y="50800"/>
                  </a:lnTo>
                  <a:lnTo>
                    <a:pt x="5016500" y="50800"/>
                  </a:lnTo>
                  <a:lnTo>
                    <a:pt x="501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7688008" y="4060031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6" y="0"/>
                </a:lnTo>
                <a:lnTo>
                  <a:pt x="238126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7850972" y="4024312"/>
            <a:ext cx="2714625" cy="333375"/>
            <a:chOff x="0" y="0"/>
            <a:chExt cx="3619500" cy="4445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19500" cy="444500"/>
            </a:xfrm>
            <a:custGeom>
              <a:avLst/>
              <a:gdLst/>
              <a:ahLst/>
              <a:cxnLst/>
              <a:rect r="r" b="b" t="t" l="l"/>
              <a:pathLst>
                <a:path h="444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3619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Create Graph Network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898722" y="4691062"/>
            <a:ext cx="267891" cy="357188"/>
            <a:chOff x="0" y="0"/>
            <a:chExt cx="357188" cy="47625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-127" y="0"/>
              <a:ext cx="357378" cy="476250"/>
            </a:xfrm>
            <a:custGeom>
              <a:avLst/>
              <a:gdLst/>
              <a:ahLst/>
              <a:cxnLst/>
              <a:rect r="r" b="b" t="t" l="l"/>
              <a:pathLst>
                <a:path h="476250" w="357378">
                  <a:moveTo>
                    <a:pt x="157734" y="467487"/>
                  </a:moveTo>
                  <a:cubicBezTo>
                    <a:pt x="169418" y="479171"/>
                    <a:pt x="188214" y="479171"/>
                    <a:pt x="199898" y="467487"/>
                  </a:cubicBezTo>
                  <a:lnTo>
                    <a:pt x="348615" y="318643"/>
                  </a:lnTo>
                  <a:cubicBezTo>
                    <a:pt x="360299" y="306959"/>
                    <a:pt x="360299" y="288163"/>
                    <a:pt x="348615" y="276479"/>
                  </a:cubicBezTo>
                  <a:cubicBezTo>
                    <a:pt x="336931" y="264795"/>
                    <a:pt x="318135" y="264795"/>
                    <a:pt x="306451" y="276479"/>
                  </a:cubicBezTo>
                  <a:lnTo>
                    <a:pt x="208407" y="374523"/>
                  </a:lnTo>
                  <a:lnTo>
                    <a:pt x="208407" y="29718"/>
                  </a:lnTo>
                  <a:cubicBezTo>
                    <a:pt x="208407" y="13208"/>
                    <a:pt x="195072" y="0"/>
                    <a:pt x="178689" y="0"/>
                  </a:cubicBezTo>
                  <a:cubicBezTo>
                    <a:pt x="162306" y="0"/>
                    <a:pt x="148971" y="13335"/>
                    <a:pt x="148971" y="29718"/>
                  </a:cubicBezTo>
                  <a:lnTo>
                    <a:pt x="148971" y="374523"/>
                  </a:lnTo>
                  <a:lnTo>
                    <a:pt x="50927" y="276479"/>
                  </a:lnTo>
                  <a:cubicBezTo>
                    <a:pt x="39243" y="264795"/>
                    <a:pt x="20447" y="264795"/>
                    <a:pt x="8763" y="276479"/>
                  </a:cubicBezTo>
                  <a:cubicBezTo>
                    <a:pt x="-2921" y="288163"/>
                    <a:pt x="-2921" y="306959"/>
                    <a:pt x="8763" y="318643"/>
                  </a:cubicBezTo>
                  <a:lnTo>
                    <a:pt x="157607" y="467487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110412" y="5176838"/>
            <a:ext cx="3838575" cy="742950"/>
            <a:chOff x="0" y="0"/>
            <a:chExt cx="5118100" cy="990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50800" y="50800"/>
              <a:ext cx="5016500" cy="889000"/>
            </a:xfrm>
            <a:custGeom>
              <a:avLst/>
              <a:gdLst/>
              <a:ahLst/>
              <a:cxnLst/>
              <a:rect r="r" b="b" t="t" l="l"/>
              <a:pathLst>
                <a:path h="88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889000"/>
                  </a:lnTo>
                  <a:lnTo>
                    <a:pt x="0" y="8890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50800" y="0"/>
              <a:ext cx="5067300" cy="990600"/>
            </a:xfrm>
            <a:custGeom>
              <a:avLst/>
              <a:gdLst/>
              <a:ahLst/>
              <a:cxnLst/>
              <a:rect r="r" b="b" t="t" l="l"/>
              <a:pathLst>
                <a:path h="990600" w="5067300">
                  <a:moveTo>
                    <a:pt x="0" y="0"/>
                  </a:moveTo>
                  <a:lnTo>
                    <a:pt x="5016500" y="0"/>
                  </a:lnTo>
                  <a:cubicBezTo>
                    <a:pt x="5044567" y="0"/>
                    <a:pt x="5067300" y="22733"/>
                    <a:pt x="5067300" y="50800"/>
                  </a:cubicBezTo>
                  <a:lnTo>
                    <a:pt x="5067300" y="939800"/>
                  </a:lnTo>
                  <a:cubicBezTo>
                    <a:pt x="5067300" y="967867"/>
                    <a:pt x="5044567" y="990600"/>
                    <a:pt x="5016500" y="990600"/>
                  </a:cubicBezTo>
                  <a:lnTo>
                    <a:pt x="0" y="990600"/>
                  </a:lnTo>
                  <a:lnTo>
                    <a:pt x="0" y="889000"/>
                  </a:lnTo>
                  <a:lnTo>
                    <a:pt x="5016500" y="889000"/>
                  </a:lnTo>
                  <a:lnTo>
                    <a:pt x="5016500" y="939800"/>
                  </a:lnTo>
                  <a:lnTo>
                    <a:pt x="4965700" y="939800"/>
                  </a:lnTo>
                  <a:lnTo>
                    <a:pt x="4965700" y="50800"/>
                  </a:lnTo>
                  <a:lnTo>
                    <a:pt x="5016500" y="50800"/>
                  </a:lnTo>
                  <a:lnTo>
                    <a:pt x="501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7583081" y="5417344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7850972" y="5381625"/>
            <a:ext cx="2967037" cy="364373"/>
            <a:chOff x="0" y="0"/>
            <a:chExt cx="3619500" cy="4445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619500" cy="444500"/>
            </a:xfrm>
            <a:custGeom>
              <a:avLst/>
              <a:gdLst/>
              <a:ahLst/>
              <a:cxnLst/>
              <a:rect r="r" b="b" t="t" l="l"/>
              <a:pathLst>
                <a:path h="444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76200"/>
              <a:ext cx="3619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Apply Dijkstra Algorithm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898722" y="6048375"/>
            <a:ext cx="267891" cy="357188"/>
            <a:chOff x="0" y="0"/>
            <a:chExt cx="357188" cy="47625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-127" y="0"/>
              <a:ext cx="357378" cy="476250"/>
            </a:xfrm>
            <a:custGeom>
              <a:avLst/>
              <a:gdLst/>
              <a:ahLst/>
              <a:cxnLst/>
              <a:rect r="r" b="b" t="t" l="l"/>
              <a:pathLst>
                <a:path h="476250" w="357378">
                  <a:moveTo>
                    <a:pt x="157734" y="467487"/>
                  </a:moveTo>
                  <a:cubicBezTo>
                    <a:pt x="169418" y="479171"/>
                    <a:pt x="188214" y="479171"/>
                    <a:pt x="199898" y="467487"/>
                  </a:cubicBezTo>
                  <a:lnTo>
                    <a:pt x="348615" y="318643"/>
                  </a:lnTo>
                  <a:cubicBezTo>
                    <a:pt x="360299" y="306959"/>
                    <a:pt x="360299" y="288163"/>
                    <a:pt x="348615" y="276479"/>
                  </a:cubicBezTo>
                  <a:cubicBezTo>
                    <a:pt x="336931" y="264795"/>
                    <a:pt x="318135" y="264795"/>
                    <a:pt x="306451" y="276479"/>
                  </a:cubicBezTo>
                  <a:lnTo>
                    <a:pt x="208407" y="374523"/>
                  </a:lnTo>
                  <a:lnTo>
                    <a:pt x="208407" y="29718"/>
                  </a:lnTo>
                  <a:cubicBezTo>
                    <a:pt x="208407" y="13208"/>
                    <a:pt x="195072" y="0"/>
                    <a:pt x="178689" y="0"/>
                  </a:cubicBezTo>
                  <a:cubicBezTo>
                    <a:pt x="162306" y="0"/>
                    <a:pt x="148971" y="13335"/>
                    <a:pt x="148971" y="29718"/>
                  </a:cubicBezTo>
                  <a:lnTo>
                    <a:pt x="148971" y="374523"/>
                  </a:lnTo>
                  <a:lnTo>
                    <a:pt x="50927" y="276479"/>
                  </a:lnTo>
                  <a:cubicBezTo>
                    <a:pt x="39243" y="264795"/>
                    <a:pt x="20447" y="264795"/>
                    <a:pt x="8763" y="276479"/>
                  </a:cubicBezTo>
                  <a:cubicBezTo>
                    <a:pt x="-2921" y="288163"/>
                    <a:pt x="-2921" y="306959"/>
                    <a:pt x="8763" y="318643"/>
                  </a:cubicBezTo>
                  <a:lnTo>
                    <a:pt x="157607" y="467487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110412" y="6534150"/>
            <a:ext cx="3838575" cy="742950"/>
            <a:chOff x="0" y="0"/>
            <a:chExt cx="5118100" cy="9906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0800" y="50800"/>
              <a:ext cx="5016500" cy="889000"/>
            </a:xfrm>
            <a:custGeom>
              <a:avLst/>
              <a:gdLst/>
              <a:ahLst/>
              <a:cxnLst/>
              <a:rect r="r" b="b" t="t" l="l"/>
              <a:pathLst>
                <a:path h="88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889000"/>
                  </a:lnTo>
                  <a:lnTo>
                    <a:pt x="0" y="8890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50800" y="0"/>
              <a:ext cx="5067300" cy="990600"/>
            </a:xfrm>
            <a:custGeom>
              <a:avLst/>
              <a:gdLst/>
              <a:ahLst/>
              <a:cxnLst/>
              <a:rect r="r" b="b" t="t" l="l"/>
              <a:pathLst>
                <a:path h="990600" w="5067300">
                  <a:moveTo>
                    <a:pt x="0" y="0"/>
                  </a:moveTo>
                  <a:lnTo>
                    <a:pt x="5016500" y="0"/>
                  </a:lnTo>
                  <a:cubicBezTo>
                    <a:pt x="5044567" y="0"/>
                    <a:pt x="5067300" y="22733"/>
                    <a:pt x="5067300" y="50800"/>
                  </a:cubicBezTo>
                  <a:lnTo>
                    <a:pt x="5067300" y="939800"/>
                  </a:lnTo>
                  <a:cubicBezTo>
                    <a:pt x="5067300" y="967867"/>
                    <a:pt x="5044567" y="990600"/>
                    <a:pt x="5016500" y="990600"/>
                  </a:cubicBezTo>
                  <a:lnTo>
                    <a:pt x="0" y="990600"/>
                  </a:lnTo>
                  <a:lnTo>
                    <a:pt x="0" y="889000"/>
                  </a:lnTo>
                  <a:lnTo>
                    <a:pt x="5016500" y="889000"/>
                  </a:lnTo>
                  <a:lnTo>
                    <a:pt x="5016500" y="939800"/>
                  </a:lnTo>
                  <a:lnTo>
                    <a:pt x="4965700" y="939800"/>
                  </a:lnTo>
                  <a:lnTo>
                    <a:pt x="4965700" y="50800"/>
                  </a:lnTo>
                  <a:lnTo>
                    <a:pt x="5016500" y="50800"/>
                  </a:lnTo>
                  <a:lnTo>
                    <a:pt x="501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7812091" y="6774656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7850972" y="6738938"/>
            <a:ext cx="2714625" cy="333375"/>
            <a:chOff x="0" y="0"/>
            <a:chExt cx="3619500" cy="4445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19500" cy="444500"/>
            </a:xfrm>
            <a:custGeom>
              <a:avLst/>
              <a:gdLst/>
              <a:ahLst/>
              <a:cxnLst/>
              <a:rect r="r" b="b" t="t" l="l"/>
              <a:pathLst>
                <a:path h="444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76200"/>
              <a:ext cx="3619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Find Shortest Route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898722" y="7405688"/>
            <a:ext cx="267891" cy="357188"/>
            <a:chOff x="0" y="0"/>
            <a:chExt cx="357188" cy="47625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-127" y="0"/>
              <a:ext cx="357378" cy="476250"/>
            </a:xfrm>
            <a:custGeom>
              <a:avLst/>
              <a:gdLst/>
              <a:ahLst/>
              <a:cxnLst/>
              <a:rect r="r" b="b" t="t" l="l"/>
              <a:pathLst>
                <a:path h="476250" w="357378">
                  <a:moveTo>
                    <a:pt x="157734" y="467487"/>
                  </a:moveTo>
                  <a:cubicBezTo>
                    <a:pt x="169418" y="479171"/>
                    <a:pt x="188214" y="479171"/>
                    <a:pt x="199898" y="467487"/>
                  </a:cubicBezTo>
                  <a:lnTo>
                    <a:pt x="348615" y="318643"/>
                  </a:lnTo>
                  <a:cubicBezTo>
                    <a:pt x="360299" y="306959"/>
                    <a:pt x="360299" y="288163"/>
                    <a:pt x="348615" y="276479"/>
                  </a:cubicBezTo>
                  <a:cubicBezTo>
                    <a:pt x="336931" y="264795"/>
                    <a:pt x="318135" y="264795"/>
                    <a:pt x="306451" y="276479"/>
                  </a:cubicBezTo>
                  <a:lnTo>
                    <a:pt x="208407" y="374523"/>
                  </a:lnTo>
                  <a:lnTo>
                    <a:pt x="208407" y="29718"/>
                  </a:lnTo>
                  <a:cubicBezTo>
                    <a:pt x="208407" y="13208"/>
                    <a:pt x="195072" y="0"/>
                    <a:pt x="178689" y="0"/>
                  </a:cubicBezTo>
                  <a:cubicBezTo>
                    <a:pt x="162306" y="0"/>
                    <a:pt x="148971" y="13335"/>
                    <a:pt x="148971" y="29718"/>
                  </a:cubicBezTo>
                  <a:lnTo>
                    <a:pt x="148971" y="374523"/>
                  </a:lnTo>
                  <a:lnTo>
                    <a:pt x="50927" y="276479"/>
                  </a:lnTo>
                  <a:cubicBezTo>
                    <a:pt x="39243" y="264795"/>
                    <a:pt x="20447" y="264795"/>
                    <a:pt x="8763" y="276479"/>
                  </a:cubicBezTo>
                  <a:cubicBezTo>
                    <a:pt x="-2921" y="288163"/>
                    <a:pt x="-2921" y="306959"/>
                    <a:pt x="8763" y="318643"/>
                  </a:cubicBezTo>
                  <a:lnTo>
                    <a:pt x="157607" y="467487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7110412" y="7891462"/>
            <a:ext cx="3838575" cy="742950"/>
            <a:chOff x="0" y="0"/>
            <a:chExt cx="5118100" cy="990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50800" y="50800"/>
              <a:ext cx="5016500" cy="889000"/>
            </a:xfrm>
            <a:custGeom>
              <a:avLst/>
              <a:gdLst/>
              <a:ahLst/>
              <a:cxnLst/>
              <a:rect r="r" b="b" t="t" l="l"/>
              <a:pathLst>
                <a:path h="88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889000"/>
                  </a:lnTo>
                  <a:lnTo>
                    <a:pt x="0" y="8890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50800" y="0"/>
              <a:ext cx="5067300" cy="990600"/>
            </a:xfrm>
            <a:custGeom>
              <a:avLst/>
              <a:gdLst/>
              <a:ahLst/>
              <a:cxnLst/>
              <a:rect r="r" b="b" t="t" l="l"/>
              <a:pathLst>
                <a:path h="990600" w="5067300">
                  <a:moveTo>
                    <a:pt x="0" y="0"/>
                  </a:moveTo>
                  <a:lnTo>
                    <a:pt x="5016500" y="0"/>
                  </a:lnTo>
                  <a:cubicBezTo>
                    <a:pt x="5044567" y="0"/>
                    <a:pt x="5067300" y="22733"/>
                    <a:pt x="5067300" y="50800"/>
                  </a:cubicBezTo>
                  <a:lnTo>
                    <a:pt x="5067300" y="939800"/>
                  </a:lnTo>
                  <a:cubicBezTo>
                    <a:pt x="5067300" y="967867"/>
                    <a:pt x="5044567" y="990600"/>
                    <a:pt x="5016500" y="990600"/>
                  </a:cubicBezTo>
                  <a:lnTo>
                    <a:pt x="0" y="990600"/>
                  </a:lnTo>
                  <a:lnTo>
                    <a:pt x="0" y="889000"/>
                  </a:lnTo>
                  <a:lnTo>
                    <a:pt x="5016500" y="889000"/>
                  </a:lnTo>
                  <a:lnTo>
                    <a:pt x="5016500" y="939800"/>
                  </a:lnTo>
                  <a:lnTo>
                    <a:pt x="4965700" y="939800"/>
                  </a:lnTo>
                  <a:lnTo>
                    <a:pt x="4965700" y="50800"/>
                  </a:lnTo>
                  <a:lnTo>
                    <a:pt x="5016500" y="50800"/>
                  </a:lnTo>
                  <a:lnTo>
                    <a:pt x="501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9" id="69"/>
          <p:cNvSpPr/>
          <p:nvPr/>
        </p:nvSpPr>
        <p:spPr>
          <a:xfrm flipH="false" flipV="false" rot="0">
            <a:off x="8086687" y="8131969"/>
            <a:ext cx="297656" cy="238125"/>
          </a:xfrm>
          <a:custGeom>
            <a:avLst/>
            <a:gdLst/>
            <a:ahLst/>
            <a:cxnLst/>
            <a:rect r="r" b="b" t="t" l="l"/>
            <a:pathLst>
              <a:path h="238125" w="297656">
                <a:moveTo>
                  <a:pt x="0" y="0"/>
                </a:moveTo>
                <a:lnTo>
                  <a:pt x="297656" y="0"/>
                </a:lnTo>
                <a:lnTo>
                  <a:pt x="297656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7850972" y="8096250"/>
            <a:ext cx="2714625" cy="333375"/>
            <a:chOff x="0" y="0"/>
            <a:chExt cx="3619500" cy="4445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19500" cy="444500"/>
            </a:xfrm>
            <a:custGeom>
              <a:avLst/>
              <a:gdLst/>
              <a:ahLst/>
              <a:cxnLst/>
              <a:rect r="r" b="b" t="t" l="l"/>
              <a:pathLst>
                <a:path h="444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76200"/>
              <a:ext cx="3619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Track Delivery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898722" y="8763000"/>
            <a:ext cx="267891" cy="357188"/>
            <a:chOff x="0" y="0"/>
            <a:chExt cx="357188" cy="4762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-127" y="0"/>
              <a:ext cx="357378" cy="476250"/>
            </a:xfrm>
            <a:custGeom>
              <a:avLst/>
              <a:gdLst/>
              <a:ahLst/>
              <a:cxnLst/>
              <a:rect r="r" b="b" t="t" l="l"/>
              <a:pathLst>
                <a:path h="476250" w="357378">
                  <a:moveTo>
                    <a:pt x="157734" y="467487"/>
                  </a:moveTo>
                  <a:cubicBezTo>
                    <a:pt x="169418" y="479171"/>
                    <a:pt x="188214" y="479171"/>
                    <a:pt x="199898" y="467487"/>
                  </a:cubicBezTo>
                  <a:lnTo>
                    <a:pt x="348615" y="318643"/>
                  </a:lnTo>
                  <a:cubicBezTo>
                    <a:pt x="360299" y="306959"/>
                    <a:pt x="360299" y="288163"/>
                    <a:pt x="348615" y="276479"/>
                  </a:cubicBezTo>
                  <a:cubicBezTo>
                    <a:pt x="336931" y="264795"/>
                    <a:pt x="318135" y="264795"/>
                    <a:pt x="306451" y="276479"/>
                  </a:cubicBezTo>
                  <a:lnTo>
                    <a:pt x="208407" y="374523"/>
                  </a:lnTo>
                  <a:lnTo>
                    <a:pt x="208407" y="29718"/>
                  </a:lnTo>
                  <a:cubicBezTo>
                    <a:pt x="208407" y="13208"/>
                    <a:pt x="195072" y="0"/>
                    <a:pt x="178689" y="0"/>
                  </a:cubicBezTo>
                  <a:cubicBezTo>
                    <a:pt x="162306" y="0"/>
                    <a:pt x="148971" y="13335"/>
                    <a:pt x="148971" y="29718"/>
                  </a:cubicBezTo>
                  <a:lnTo>
                    <a:pt x="148971" y="374523"/>
                  </a:lnTo>
                  <a:lnTo>
                    <a:pt x="50927" y="276479"/>
                  </a:lnTo>
                  <a:cubicBezTo>
                    <a:pt x="39243" y="264795"/>
                    <a:pt x="20447" y="264795"/>
                    <a:pt x="8763" y="276479"/>
                  </a:cubicBezTo>
                  <a:cubicBezTo>
                    <a:pt x="-2921" y="288163"/>
                    <a:pt x="-2921" y="306959"/>
                    <a:pt x="8763" y="318643"/>
                  </a:cubicBezTo>
                  <a:lnTo>
                    <a:pt x="157607" y="467487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7110412" y="9248775"/>
            <a:ext cx="3838575" cy="742950"/>
            <a:chOff x="0" y="0"/>
            <a:chExt cx="5118100" cy="9906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50800" y="50800"/>
              <a:ext cx="5016500" cy="889000"/>
            </a:xfrm>
            <a:custGeom>
              <a:avLst/>
              <a:gdLst/>
              <a:ahLst/>
              <a:cxnLst/>
              <a:rect r="r" b="b" t="t" l="l"/>
              <a:pathLst>
                <a:path h="889000" w="5016500">
                  <a:moveTo>
                    <a:pt x="0" y="0"/>
                  </a:moveTo>
                  <a:lnTo>
                    <a:pt x="5016500" y="0"/>
                  </a:lnTo>
                  <a:lnTo>
                    <a:pt x="5016500" y="889000"/>
                  </a:lnTo>
                  <a:lnTo>
                    <a:pt x="0" y="889000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50800" y="0"/>
              <a:ext cx="5067300" cy="990600"/>
            </a:xfrm>
            <a:custGeom>
              <a:avLst/>
              <a:gdLst/>
              <a:ahLst/>
              <a:cxnLst/>
              <a:rect r="r" b="b" t="t" l="l"/>
              <a:pathLst>
                <a:path h="990600" w="5067300">
                  <a:moveTo>
                    <a:pt x="0" y="0"/>
                  </a:moveTo>
                  <a:lnTo>
                    <a:pt x="5016500" y="0"/>
                  </a:lnTo>
                  <a:cubicBezTo>
                    <a:pt x="5044567" y="0"/>
                    <a:pt x="5067300" y="22733"/>
                    <a:pt x="5067300" y="50800"/>
                  </a:cubicBezTo>
                  <a:lnTo>
                    <a:pt x="5067300" y="939800"/>
                  </a:lnTo>
                  <a:cubicBezTo>
                    <a:pt x="5067300" y="967867"/>
                    <a:pt x="5044567" y="990600"/>
                    <a:pt x="5016500" y="990600"/>
                  </a:cubicBezTo>
                  <a:lnTo>
                    <a:pt x="0" y="990600"/>
                  </a:lnTo>
                  <a:lnTo>
                    <a:pt x="0" y="889000"/>
                  </a:lnTo>
                  <a:lnTo>
                    <a:pt x="5016500" y="889000"/>
                  </a:lnTo>
                  <a:lnTo>
                    <a:pt x="5016500" y="939800"/>
                  </a:lnTo>
                  <a:lnTo>
                    <a:pt x="4965700" y="939800"/>
                  </a:lnTo>
                  <a:lnTo>
                    <a:pt x="4965700" y="50800"/>
                  </a:lnTo>
                  <a:lnTo>
                    <a:pt x="5016500" y="50800"/>
                  </a:lnTo>
                  <a:lnTo>
                    <a:pt x="501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78" id="78"/>
          <p:cNvSpPr/>
          <p:nvPr/>
        </p:nvSpPr>
        <p:spPr>
          <a:xfrm flipH="false" flipV="false" rot="0">
            <a:off x="7927810" y="9489281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7850972" y="9453562"/>
            <a:ext cx="2714625" cy="333375"/>
            <a:chOff x="0" y="0"/>
            <a:chExt cx="3619500" cy="4445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3619500" cy="444500"/>
            </a:xfrm>
            <a:custGeom>
              <a:avLst/>
              <a:gdLst/>
              <a:ahLst/>
              <a:cxnLst/>
              <a:rect r="r" b="b" t="t" l="l"/>
              <a:pathLst>
                <a:path h="444500" w="3619500">
                  <a:moveTo>
                    <a:pt x="0" y="0"/>
                  </a:moveTo>
                  <a:lnTo>
                    <a:pt x="3619500" y="0"/>
                  </a:lnTo>
                  <a:lnTo>
                    <a:pt x="3619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663" r="0" b="-108663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76200"/>
              <a:ext cx="3619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FFE66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Generate Reports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560000">
            <a:off x="15730728" y="85916"/>
            <a:ext cx="1157288" cy="1157288"/>
            <a:chOff x="0" y="0"/>
            <a:chExt cx="1543050" cy="1543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466850" cy="1466850"/>
            </a:xfrm>
            <a:custGeom>
              <a:avLst/>
              <a:gdLst/>
              <a:ahLst/>
              <a:cxnLst/>
              <a:rect r="r" b="b" t="t" l="l"/>
              <a:pathLst>
                <a:path h="1466850" w="1466850">
                  <a:moveTo>
                    <a:pt x="0" y="0"/>
                  </a:moveTo>
                  <a:lnTo>
                    <a:pt x="1466850" y="0"/>
                  </a:lnTo>
                  <a:lnTo>
                    <a:pt x="1466850" y="1466850"/>
                  </a:lnTo>
                  <a:lnTo>
                    <a:pt x="0" y="146685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8100" y="0"/>
              <a:ext cx="1504950" cy="1543050"/>
            </a:xfrm>
            <a:custGeom>
              <a:avLst/>
              <a:gdLst/>
              <a:ahLst/>
              <a:cxnLst/>
              <a:rect r="r" b="b" t="t" l="l"/>
              <a:pathLst>
                <a:path h="1543050" w="1504950">
                  <a:moveTo>
                    <a:pt x="0" y="0"/>
                  </a:moveTo>
                  <a:lnTo>
                    <a:pt x="1466850" y="0"/>
                  </a:lnTo>
                  <a:cubicBezTo>
                    <a:pt x="1487932" y="0"/>
                    <a:pt x="1504950" y="17018"/>
                    <a:pt x="1504950" y="38100"/>
                  </a:cubicBezTo>
                  <a:lnTo>
                    <a:pt x="1504950" y="1504950"/>
                  </a:lnTo>
                  <a:cubicBezTo>
                    <a:pt x="1504950" y="1526032"/>
                    <a:pt x="1487932" y="1543050"/>
                    <a:pt x="1466850" y="1543050"/>
                  </a:cubicBezTo>
                  <a:lnTo>
                    <a:pt x="0" y="1543050"/>
                  </a:lnTo>
                  <a:lnTo>
                    <a:pt x="0" y="1466850"/>
                  </a:lnTo>
                  <a:lnTo>
                    <a:pt x="1466850" y="1466850"/>
                  </a:lnTo>
                  <a:lnTo>
                    <a:pt x="1466850" y="1504950"/>
                  </a:lnTo>
                  <a:lnTo>
                    <a:pt x="1428750" y="1504950"/>
                  </a:lnTo>
                  <a:lnTo>
                    <a:pt x="1428750" y="38100"/>
                  </a:lnTo>
                  <a:lnTo>
                    <a:pt x="1466850" y="38100"/>
                  </a:lnTo>
                  <a:lnTo>
                    <a:pt x="14668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8669" y="8351044"/>
            <a:ext cx="942975" cy="942975"/>
            <a:chOff x="0" y="0"/>
            <a:chExt cx="1257300" cy="12573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1811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1181100">
                  <a:moveTo>
                    <a:pt x="0" y="590550"/>
                  </a:moveTo>
                  <a:cubicBezTo>
                    <a:pt x="0" y="264414"/>
                    <a:pt x="264414" y="0"/>
                    <a:pt x="590550" y="0"/>
                  </a:cubicBezTo>
                  <a:cubicBezTo>
                    <a:pt x="916686" y="0"/>
                    <a:pt x="1181100" y="264414"/>
                    <a:pt x="1181100" y="590550"/>
                  </a:cubicBezTo>
                  <a:cubicBezTo>
                    <a:pt x="1181100" y="916686"/>
                    <a:pt x="916686" y="1181100"/>
                    <a:pt x="590550" y="1181100"/>
                  </a:cubicBezTo>
                  <a:cubicBezTo>
                    <a:pt x="264414" y="1181100"/>
                    <a:pt x="0" y="916686"/>
                    <a:pt x="0" y="590550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730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257300">
                  <a:moveTo>
                    <a:pt x="0" y="628650"/>
                  </a:moveTo>
                  <a:cubicBezTo>
                    <a:pt x="0" y="281432"/>
                    <a:pt x="281432" y="0"/>
                    <a:pt x="628650" y="0"/>
                  </a:cubicBezTo>
                  <a:cubicBezTo>
                    <a:pt x="639826" y="0"/>
                    <a:pt x="650494" y="4953"/>
                    <a:pt x="657733" y="13589"/>
                  </a:cubicBezTo>
                  <a:lnTo>
                    <a:pt x="628650" y="38100"/>
                  </a:lnTo>
                  <a:lnTo>
                    <a:pt x="628650" y="0"/>
                  </a:lnTo>
                  <a:lnTo>
                    <a:pt x="628650" y="38100"/>
                  </a:lnTo>
                  <a:lnTo>
                    <a:pt x="628650" y="0"/>
                  </a:lnTo>
                  <a:cubicBezTo>
                    <a:pt x="975868" y="0"/>
                    <a:pt x="1257300" y="281432"/>
                    <a:pt x="1257300" y="628650"/>
                  </a:cubicBezTo>
                  <a:cubicBezTo>
                    <a:pt x="1257300" y="643128"/>
                    <a:pt x="1249172" y="656336"/>
                    <a:pt x="1236218" y="662686"/>
                  </a:cubicBezTo>
                  <a:lnTo>
                    <a:pt x="1219200" y="628650"/>
                  </a:lnTo>
                  <a:lnTo>
                    <a:pt x="1257300" y="628650"/>
                  </a:lnTo>
                  <a:cubicBezTo>
                    <a:pt x="1257300" y="975868"/>
                    <a:pt x="975868" y="1257300"/>
                    <a:pt x="628650" y="1257300"/>
                  </a:cubicBezTo>
                  <a:lnTo>
                    <a:pt x="628650" y="1219200"/>
                  </a:lnTo>
                  <a:lnTo>
                    <a:pt x="628650" y="1257300"/>
                  </a:lnTo>
                  <a:cubicBezTo>
                    <a:pt x="281432" y="1257300"/>
                    <a:pt x="0" y="975868"/>
                    <a:pt x="0" y="628650"/>
                  </a:cubicBezTo>
                  <a:lnTo>
                    <a:pt x="38100" y="628650"/>
                  </a:lnTo>
                  <a:lnTo>
                    <a:pt x="0" y="628650"/>
                  </a:lnTo>
                  <a:moveTo>
                    <a:pt x="76200" y="628650"/>
                  </a:moveTo>
                  <a:lnTo>
                    <a:pt x="38100" y="628650"/>
                  </a:lnTo>
                  <a:lnTo>
                    <a:pt x="76200" y="628650"/>
                  </a:lnTo>
                  <a:cubicBezTo>
                    <a:pt x="76200" y="933704"/>
                    <a:pt x="323596" y="1181100"/>
                    <a:pt x="628650" y="1181100"/>
                  </a:cubicBezTo>
                  <a:cubicBezTo>
                    <a:pt x="933704" y="1181100"/>
                    <a:pt x="1181100" y="933704"/>
                    <a:pt x="1181100" y="628650"/>
                  </a:cubicBezTo>
                  <a:cubicBezTo>
                    <a:pt x="1181100" y="614172"/>
                    <a:pt x="1189228" y="600964"/>
                    <a:pt x="1202182" y="594614"/>
                  </a:cubicBezTo>
                  <a:lnTo>
                    <a:pt x="1219200" y="628650"/>
                  </a:lnTo>
                  <a:lnTo>
                    <a:pt x="1181100" y="628650"/>
                  </a:lnTo>
                  <a:cubicBezTo>
                    <a:pt x="1181100" y="323596"/>
                    <a:pt x="933704" y="76200"/>
                    <a:pt x="628650" y="76200"/>
                  </a:cubicBezTo>
                  <a:cubicBezTo>
                    <a:pt x="617474" y="76200"/>
                    <a:pt x="606806" y="71247"/>
                    <a:pt x="599567" y="62611"/>
                  </a:cubicBezTo>
                  <a:lnTo>
                    <a:pt x="628650" y="38100"/>
                  </a:lnTo>
                  <a:lnTo>
                    <a:pt x="628650" y="76200"/>
                  </a:lnTo>
                  <a:cubicBezTo>
                    <a:pt x="323596" y="76200"/>
                    <a:pt x="76200" y="323596"/>
                    <a:pt x="76200" y="628650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2520000">
            <a:off x="351549" y="2923299"/>
            <a:ext cx="700088" cy="700088"/>
            <a:chOff x="0" y="0"/>
            <a:chExt cx="933450" cy="933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857250" cy="857250"/>
            </a:xfrm>
            <a:custGeom>
              <a:avLst/>
              <a:gdLst/>
              <a:ahLst/>
              <a:cxnLst/>
              <a:rect r="r" b="b" t="t" l="l"/>
              <a:pathLst>
                <a:path h="857250" w="857250">
                  <a:moveTo>
                    <a:pt x="0" y="0"/>
                  </a:moveTo>
                  <a:lnTo>
                    <a:pt x="857250" y="0"/>
                  </a:lnTo>
                  <a:lnTo>
                    <a:pt x="857250" y="857250"/>
                  </a:lnTo>
                  <a:lnTo>
                    <a:pt x="0" y="85725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895350" cy="933450"/>
            </a:xfrm>
            <a:custGeom>
              <a:avLst/>
              <a:gdLst/>
              <a:ahLst/>
              <a:cxnLst/>
              <a:rect r="r" b="b" t="t" l="l"/>
              <a:pathLst>
                <a:path h="933450" w="895350">
                  <a:moveTo>
                    <a:pt x="0" y="0"/>
                  </a:moveTo>
                  <a:lnTo>
                    <a:pt x="857250" y="0"/>
                  </a:lnTo>
                  <a:cubicBezTo>
                    <a:pt x="878332" y="0"/>
                    <a:pt x="895350" y="17018"/>
                    <a:pt x="895350" y="38100"/>
                  </a:cubicBezTo>
                  <a:lnTo>
                    <a:pt x="895350" y="895350"/>
                  </a:lnTo>
                  <a:cubicBezTo>
                    <a:pt x="895350" y="916432"/>
                    <a:pt x="878332" y="933450"/>
                    <a:pt x="857250" y="933450"/>
                  </a:cubicBezTo>
                  <a:lnTo>
                    <a:pt x="0" y="933450"/>
                  </a:lnTo>
                  <a:lnTo>
                    <a:pt x="0" y="857250"/>
                  </a:lnTo>
                  <a:lnTo>
                    <a:pt x="857250" y="857250"/>
                  </a:lnTo>
                  <a:lnTo>
                    <a:pt x="857250" y="895350"/>
                  </a:lnTo>
                  <a:lnTo>
                    <a:pt x="819150" y="895350"/>
                  </a:lnTo>
                  <a:lnTo>
                    <a:pt x="819150" y="38100"/>
                  </a:lnTo>
                  <a:lnTo>
                    <a:pt x="857250" y="38100"/>
                  </a:lnTo>
                  <a:lnTo>
                    <a:pt x="85725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61975" y="561975"/>
            <a:ext cx="2362200" cy="704850"/>
            <a:chOff x="0" y="0"/>
            <a:chExt cx="3149600" cy="939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048000" cy="838200"/>
            </a:xfrm>
            <a:custGeom>
              <a:avLst/>
              <a:gdLst/>
              <a:ahLst/>
              <a:cxnLst/>
              <a:rect r="r" b="b" t="t" l="l"/>
              <a:pathLst>
                <a:path h="8382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838200"/>
                  </a:lnTo>
                  <a:lnTo>
                    <a:pt x="0" y="8382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098800" cy="939800"/>
            </a:xfrm>
            <a:custGeom>
              <a:avLst/>
              <a:gdLst/>
              <a:ahLst/>
              <a:cxnLst/>
              <a:rect r="r" b="b" t="t" l="l"/>
              <a:pathLst>
                <a:path h="939800" w="3098800">
                  <a:moveTo>
                    <a:pt x="0" y="0"/>
                  </a:moveTo>
                  <a:lnTo>
                    <a:pt x="3048000" y="0"/>
                  </a:lnTo>
                  <a:cubicBezTo>
                    <a:pt x="3076067" y="0"/>
                    <a:pt x="3098800" y="22733"/>
                    <a:pt x="3098800" y="50800"/>
                  </a:cubicBezTo>
                  <a:lnTo>
                    <a:pt x="3098800" y="889000"/>
                  </a:lnTo>
                  <a:cubicBezTo>
                    <a:pt x="3098800" y="917067"/>
                    <a:pt x="3076067" y="939800"/>
                    <a:pt x="3048000" y="939800"/>
                  </a:cubicBezTo>
                  <a:lnTo>
                    <a:pt x="0" y="939800"/>
                  </a:lnTo>
                  <a:lnTo>
                    <a:pt x="0" y="838200"/>
                  </a:lnTo>
                  <a:lnTo>
                    <a:pt x="3048000" y="838200"/>
                  </a:lnTo>
                  <a:lnTo>
                    <a:pt x="3048000" y="889000"/>
                  </a:lnTo>
                  <a:lnTo>
                    <a:pt x="2997200" y="889000"/>
                  </a:lnTo>
                  <a:lnTo>
                    <a:pt x="2997200" y="50800"/>
                  </a:lnTo>
                  <a:lnTo>
                    <a:pt x="3048000" y="50800"/>
                  </a:lnTo>
                  <a:lnTo>
                    <a:pt x="3048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71500" y="571500"/>
            <a:ext cx="2343150" cy="571500"/>
            <a:chOff x="0" y="0"/>
            <a:chExt cx="3124200" cy="762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24200" cy="762000"/>
            </a:xfrm>
            <a:custGeom>
              <a:avLst/>
              <a:gdLst/>
              <a:ahLst/>
              <a:cxnLst/>
              <a:rect r="r" b="b" t="t" l="l"/>
              <a:pathLst>
                <a:path h="762000" w="3124200">
                  <a:moveTo>
                    <a:pt x="0" y="0"/>
                  </a:moveTo>
                  <a:lnTo>
                    <a:pt x="3124200" y="0"/>
                  </a:lnTo>
                  <a:lnTo>
                    <a:pt x="31242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88" r="0" b="-298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3124200" cy="847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8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DESIGN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1500" y="1428750"/>
            <a:ext cx="17487900" cy="685800"/>
            <a:chOff x="0" y="0"/>
            <a:chExt cx="23317200" cy="914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317200" cy="914400"/>
            </a:xfrm>
            <a:custGeom>
              <a:avLst/>
              <a:gdLst/>
              <a:ahLst/>
              <a:cxnLst/>
              <a:rect r="r" b="b" t="t" l="l"/>
              <a:pathLst>
                <a:path h="914400" w="23317200">
                  <a:moveTo>
                    <a:pt x="0" y="0"/>
                  </a:moveTo>
                  <a:lnTo>
                    <a:pt x="23317200" y="0"/>
                  </a:lnTo>
                  <a:lnTo>
                    <a:pt x="233172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6868" r="0" b="-44686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0"/>
              <a:ext cx="23317200" cy="819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84"/>
                </a:lnSpc>
              </a:pPr>
              <a:r>
                <a:rPr lang="en-US" sz="54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Architecture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61975" y="2333625"/>
            <a:ext cx="4090988" cy="6305550"/>
            <a:chOff x="0" y="0"/>
            <a:chExt cx="5454650" cy="8407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5353050" cy="8305800"/>
            </a:xfrm>
            <a:custGeom>
              <a:avLst/>
              <a:gdLst/>
              <a:ahLst/>
              <a:cxnLst/>
              <a:rect r="r" b="b" t="t" l="l"/>
              <a:pathLst>
                <a:path h="83058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8305800"/>
                  </a:lnTo>
                  <a:lnTo>
                    <a:pt x="0" y="83058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5403850" cy="8407400"/>
            </a:xfrm>
            <a:custGeom>
              <a:avLst/>
              <a:gdLst/>
              <a:ahLst/>
              <a:cxnLst/>
              <a:rect r="r" b="b" t="t" l="l"/>
              <a:pathLst>
                <a:path h="8407400" w="5403850">
                  <a:moveTo>
                    <a:pt x="0" y="0"/>
                  </a:moveTo>
                  <a:lnTo>
                    <a:pt x="5353050" y="0"/>
                  </a:lnTo>
                  <a:cubicBezTo>
                    <a:pt x="5381117" y="0"/>
                    <a:pt x="5403850" y="22733"/>
                    <a:pt x="5403850" y="50800"/>
                  </a:cubicBezTo>
                  <a:lnTo>
                    <a:pt x="5403850" y="8356600"/>
                  </a:lnTo>
                  <a:cubicBezTo>
                    <a:pt x="5403850" y="8384667"/>
                    <a:pt x="5381117" y="8407400"/>
                    <a:pt x="5353050" y="8407400"/>
                  </a:cubicBezTo>
                  <a:lnTo>
                    <a:pt x="0" y="8407400"/>
                  </a:lnTo>
                  <a:lnTo>
                    <a:pt x="0" y="8305800"/>
                  </a:lnTo>
                  <a:lnTo>
                    <a:pt x="5353050" y="8305800"/>
                  </a:lnTo>
                  <a:lnTo>
                    <a:pt x="5353050" y="8356600"/>
                  </a:lnTo>
                  <a:lnTo>
                    <a:pt x="5302250" y="8356600"/>
                  </a:lnTo>
                  <a:lnTo>
                    <a:pt x="5302250" y="50800"/>
                  </a:lnTo>
                  <a:lnTo>
                    <a:pt x="5353050" y="50800"/>
                  </a:lnTo>
                  <a:lnTo>
                    <a:pt x="53530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026444" y="2676525"/>
            <a:ext cx="1162050" cy="1162050"/>
            <a:chOff x="0" y="0"/>
            <a:chExt cx="1549400" cy="1549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396728" y="30432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09638" y="4000500"/>
            <a:ext cx="3074346" cy="446019"/>
            <a:chOff x="0" y="0"/>
            <a:chExt cx="3676650" cy="533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76650" cy="533400"/>
            </a:xfrm>
            <a:custGeom>
              <a:avLst/>
              <a:gdLst/>
              <a:ahLst/>
              <a:cxnLst/>
              <a:rect r="r" b="b" t="t" l="l"/>
              <a:pathLst>
                <a:path h="533400" w="3676650">
                  <a:moveTo>
                    <a:pt x="0" y="0"/>
                  </a:moveTo>
                  <a:lnTo>
                    <a:pt x="3676650" y="0"/>
                  </a:lnTo>
                  <a:lnTo>
                    <a:pt x="36766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307" r="0" b="-8430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367665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Frontend Dashboard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9638" y="4767262"/>
            <a:ext cx="3395662" cy="581025"/>
            <a:chOff x="0" y="0"/>
            <a:chExt cx="4527550" cy="7747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8347" y="4972050"/>
            <a:ext cx="175022" cy="200025"/>
            <a:chOff x="0" y="0"/>
            <a:chExt cx="233362" cy="266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7312" y="4914900"/>
            <a:ext cx="2900362" cy="285750"/>
            <a:chOff x="0" y="0"/>
            <a:chExt cx="3867150" cy="381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User Interface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9638" y="5453062"/>
            <a:ext cx="3395662" cy="581025"/>
            <a:chOff x="0" y="0"/>
            <a:chExt cx="4527550" cy="7747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98347" y="5657850"/>
            <a:ext cx="175022" cy="200025"/>
            <a:chOff x="0" y="0"/>
            <a:chExt cx="233362" cy="2667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57312" y="5600700"/>
            <a:ext cx="2900362" cy="285750"/>
            <a:chOff x="0" y="0"/>
            <a:chExt cx="3867150" cy="381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Data Visualization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09638" y="6138862"/>
            <a:ext cx="3395662" cy="581025"/>
            <a:chOff x="0" y="0"/>
            <a:chExt cx="4527550" cy="7747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98347" y="6343650"/>
            <a:ext cx="175022" cy="200025"/>
            <a:chOff x="0" y="0"/>
            <a:chExt cx="233362" cy="2667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57312" y="6286500"/>
            <a:ext cx="2900362" cy="285750"/>
            <a:chOff x="0" y="0"/>
            <a:chExt cx="3867150" cy="381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Interactive Maps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09638" y="6824662"/>
            <a:ext cx="3395662" cy="581025"/>
            <a:chOff x="0" y="0"/>
            <a:chExt cx="4527550" cy="7747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8347" y="7029450"/>
            <a:ext cx="175022" cy="200025"/>
            <a:chOff x="0" y="0"/>
            <a:chExt cx="233362" cy="2667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57312" y="6972300"/>
            <a:ext cx="2900362" cy="285750"/>
            <a:chOff x="0" y="0"/>
            <a:chExt cx="3867150" cy="3810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Real-Time Updates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09638" y="7710488"/>
            <a:ext cx="3395662" cy="581025"/>
            <a:chOff x="0" y="0"/>
            <a:chExt cx="4527550" cy="7747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07269" y="7858125"/>
            <a:ext cx="3200400" cy="285750"/>
            <a:chOff x="0" y="0"/>
            <a:chExt cx="4267200" cy="3810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26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42672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HTML, CSS, JS, Bootstrap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19662" y="2333625"/>
            <a:ext cx="4090988" cy="6305550"/>
            <a:chOff x="0" y="0"/>
            <a:chExt cx="5454650" cy="84074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50800" y="50800"/>
              <a:ext cx="5353050" cy="8305800"/>
            </a:xfrm>
            <a:custGeom>
              <a:avLst/>
              <a:gdLst/>
              <a:ahLst/>
              <a:cxnLst/>
              <a:rect r="r" b="b" t="t" l="l"/>
              <a:pathLst>
                <a:path h="83058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8305800"/>
                  </a:lnTo>
                  <a:lnTo>
                    <a:pt x="0" y="83058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50800" y="0"/>
              <a:ext cx="5403850" cy="8407400"/>
            </a:xfrm>
            <a:custGeom>
              <a:avLst/>
              <a:gdLst/>
              <a:ahLst/>
              <a:cxnLst/>
              <a:rect r="r" b="b" t="t" l="l"/>
              <a:pathLst>
                <a:path h="8407400" w="5403850">
                  <a:moveTo>
                    <a:pt x="0" y="0"/>
                  </a:moveTo>
                  <a:lnTo>
                    <a:pt x="5353050" y="0"/>
                  </a:lnTo>
                  <a:cubicBezTo>
                    <a:pt x="5381117" y="0"/>
                    <a:pt x="5403850" y="22733"/>
                    <a:pt x="5403850" y="50800"/>
                  </a:cubicBezTo>
                  <a:lnTo>
                    <a:pt x="5403850" y="8356600"/>
                  </a:lnTo>
                  <a:cubicBezTo>
                    <a:pt x="5403850" y="8384667"/>
                    <a:pt x="5381117" y="8407400"/>
                    <a:pt x="5353050" y="8407400"/>
                  </a:cubicBezTo>
                  <a:lnTo>
                    <a:pt x="0" y="8407400"/>
                  </a:lnTo>
                  <a:lnTo>
                    <a:pt x="0" y="8305800"/>
                  </a:lnTo>
                  <a:lnTo>
                    <a:pt x="5353050" y="8305800"/>
                  </a:lnTo>
                  <a:lnTo>
                    <a:pt x="5353050" y="8356600"/>
                  </a:lnTo>
                  <a:lnTo>
                    <a:pt x="5302250" y="8356600"/>
                  </a:lnTo>
                  <a:lnTo>
                    <a:pt x="5302250" y="50800"/>
                  </a:lnTo>
                  <a:lnTo>
                    <a:pt x="5353050" y="50800"/>
                  </a:lnTo>
                  <a:lnTo>
                    <a:pt x="53530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384131" y="2676525"/>
            <a:ext cx="1162050" cy="1162050"/>
            <a:chOff x="0" y="0"/>
            <a:chExt cx="1549400" cy="1549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74" id="74"/>
          <p:cNvSpPr/>
          <p:nvPr/>
        </p:nvSpPr>
        <p:spPr>
          <a:xfrm flipH="false" flipV="false" rot="0">
            <a:off x="6781200" y="3043238"/>
            <a:ext cx="375047" cy="428625"/>
          </a:xfrm>
          <a:custGeom>
            <a:avLst/>
            <a:gdLst/>
            <a:ahLst/>
            <a:cxnLst/>
            <a:rect r="r" b="b" t="t" l="l"/>
            <a:pathLst>
              <a:path h="428625" w="375047">
                <a:moveTo>
                  <a:pt x="0" y="0"/>
                </a:moveTo>
                <a:lnTo>
                  <a:pt x="375047" y="0"/>
                </a:lnTo>
                <a:lnTo>
                  <a:pt x="375047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5543545" y="4000500"/>
            <a:ext cx="2425089" cy="485018"/>
            <a:chOff x="0" y="0"/>
            <a:chExt cx="2667000" cy="5334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667000" cy="533400"/>
            </a:xfrm>
            <a:custGeom>
              <a:avLst/>
              <a:gdLst/>
              <a:ahLst/>
              <a:cxnLst/>
              <a:rect r="r" b="b" t="t" l="l"/>
              <a:pathLst>
                <a:path h="533400" w="2667000">
                  <a:moveTo>
                    <a:pt x="0" y="0"/>
                  </a:moveTo>
                  <a:lnTo>
                    <a:pt x="2667000" y="0"/>
                  </a:lnTo>
                  <a:lnTo>
                    <a:pt x="2667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66675"/>
              <a:ext cx="26670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Flask Backend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5267325" y="4767262"/>
            <a:ext cx="3395662" cy="581025"/>
            <a:chOff x="0" y="0"/>
            <a:chExt cx="4527550" cy="7747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5456034" y="4972050"/>
            <a:ext cx="175022" cy="200025"/>
            <a:chOff x="0" y="0"/>
            <a:chExt cx="233362" cy="2667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5715000" y="4914900"/>
            <a:ext cx="2900362" cy="285750"/>
            <a:chOff x="0" y="0"/>
            <a:chExt cx="3867150" cy="381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API Endpoints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5267325" y="5453062"/>
            <a:ext cx="3395662" cy="581025"/>
            <a:chOff x="0" y="0"/>
            <a:chExt cx="4527550" cy="7747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5456034" y="5657850"/>
            <a:ext cx="175022" cy="200025"/>
            <a:chOff x="0" y="0"/>
            <a:chExt cx="233362" cy="2667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5715000" y="5600700"/>
            <a:ext cx="2900362" cy="285750"/>
            <a:chOff x="0" y="0"/>
            <a:chExt cx="3867150" cy="3810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Business Logic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5267325" y="6138862"/>
            <a:ext cx="3395662" cy="581025"/>
            <a:chOff x="0" y="0"/>
            <a:chExt cx="4527550" cy="7747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5456034" y="6343650"/>
            <a:ext cx="175022" cy="200025"/>
            <a:chOff x="0" y="0"/>
            <a:chExt cx="233362" cy="2667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5715000" y="6286500"/>
            <a:ext cx="2900362" cy="285750"/>
            <a:chOff x="0" y="0"/>
            <a:chExt cx="3867150" cy="3810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Route Handling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5267325" y="6824662"/>
            <a:ext cx="3395662" cy="581025"/>
            <a:chOff x="0" y="0"/>
            <a:chExt cx="4527550" cy="7747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5456034" y="7029450"/>
            <a:ext cx="175022" cy="200025"/>
            <a:chOff x="0" y="0"/>
            <a:chExt cx="233362" cy="2667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4ECDC4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5715000" y="6972300"/>
            <a:ext cx="2900362" cy="285750"/>
            <a:chOff x="0" y="0"/>
            <a:chExt cx="3867150" cy="3810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Authentication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5267325" y="7710488"/>
            <a:ext cx="3395662" cy="581025"/>
            <a:chOff x="0" y="0"/>
            <a:chExt cx="4527550" cy="7747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5364956" y="7858125"/>
            <a:ext cx="3200400" cy="285750"/>
            <a:chOff x="0" y="0"/>
            <a:chExt cx="4267200" cy="3810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26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42672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Python, Flask Framework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277350" y="2333625"/>
            <a:ext cx="4090988" cy="6305550"/>
            <a:chOff x="0" y="0"/>
            <a:chExt cx="5454650" cy="840740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50800" y="50800"/>
              <a:ext cx="5353050" cy="8305800"/>
            </a:xfrm>
            <a:custGeom>
              <a:avLst/>
              <a:gdLst/>
              <a:ahLst/>
              <a:cxnLst/>
              <a:rect r="r" b="b" t="t" l="l"/>
              <a:pathLst>
                <a:path h="83058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8305800"/>
                  </a:lnTo>
                  <a:lnTo>
                    <a:pt x="0" y="83058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50800" y="0"/>
              <a:ext cx="5403850" cy="8407400"/>
            </a:xfrm>
            <a:custGeom>
              <a:avLst/>
              <a:gdLst/>
              <a:ahLst/>
              <a:cxnLst/>
              <a:rect r="r" b="b" t="t" l="l"/>
              <a:pathLst>
                <a:path h="8407400" w="5403850">
                  <a:moveTo>
                    <a:pt x="0" y="0"/>
                  </a:moveTo>
                  <a:lnTo>
                    <a:pt x="5353050" y="0"/>
                  </a:lnTo>
                  <a:cubicBezTo>
                    <a:pt x="5381117" y="0"/>
                    <a:pt x="5403850" y="22733"/>
                    <a:pt x="5403850" y="50800"/>
                  </a:cubicBezTo>
                  <a:lnTo>
                    <a:pt x="5403850" y="8356600"/>
                  </a:lnTo>
                  <a:cubicBezTo>
                    <a:pt x="5403850" y="8384667"/>
                    <a:pt x="5381117" y="8407400"/>
                    <a:pt x="5353050" y="8407400"/>
                  </a:cubicBezTo>
                  <a:lnTo>
                    <a:pt x="0" y="8407400"/>
                  </a:lnTo>
                  <a:lnTo>
                    <a:pt x="0" y="8305800"/>
                  </a:lnTo>
                  <a:lnTo>
                    <a:pt x="5353050" y="8305800"/>
                  </a:lnTo>
                  <a:lnTo>
                    <a:pt x="5353050" y="8356600"/>
                  </a:lnTo>
                  <a:lnTo>
                    <a:pt x="5302250" y="8356600"/>
                  </a:lnTo>
                  <a:lnTo>
                    <a:pt x="5302250" y="50800"/>
                  </a:lnTo>
                  <a:lnTo>
                    <a:pt x="5353050" y="50800"/>
                  </a:lnTo>
                  <a:lnTo>
                    <a:pt x="53530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0741819" y="2676525"/>
            <a:ext cx="1162050" cy="1162050"/>
            <a:chOff x="0" y="0"/>
            <a:chExt cx="1549400" cy="15494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22" id="122"/>
          <p:cNvSpPr/>
          <p:nvPr/>
        </p:nvSpPr>
        <p:spPr>
          <a:xfrm flipH="false" flipV="false" rot="0">
            <a:off x="11138887" y="3043238"/>
            <a:ext cx="375047" cy="428625"/>
          </a:xfrm>
          <a:custGeom>
            <a:avLst/>
            <a:gdLst/>
            <a:ahLst/>
            <a:cxnLst/>
            <a:rect r="r" b="b" t="t" l="l"/>
            <a:pathLst>
              <a:path h="428625" w="375047">
                <a:moveTo>
                  <a:pt x="0" y="0"/>
                </a:moveTo>
                <a:lnTo>
                  <a:pt x="375047" y="0"/>
                </a:lnTo>
                <a:lnTo>
                  <a:pt x="375047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3" id="123"/>
          <p:cNvGrpSpPr/>
          <p:nvPr/>
        </p:nvGrpSpPr>
        <p:grpSpPr>
          <a:xfrm rot="0">
            <a:off x="9813722" y="4000500"/>
            <a:ext cx="2635606" cy="467069"/>
            <a:chOff x="0" y="0"/>
            <a:chExt cx="3009900" cy="5334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009900" cy="533400"/>
            </a:xfrm>
            <a:custGeom>
              <a:avLst/>
              <a:gdLst/>
              <a:ahLst/>
              <a:cxnLst/>
              <a:rect r="r" b="b" t="t" l="l"/>
              <a:pathLst>
                <a:path h="533400" w="3009900">
                  <a:moveTo>
                    <a:pt x="0" y="0"/>
                  </a:moveTo>
                  <a:lnTo>
                    <a:pt x="3009900" y="0"/>
                  </a:lnTo>
                  <a:lnTo>
                    <a:pt x="30099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9951" r="0" b="-5995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66675"/>
              <a:ext cx="30099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SQLite Database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625012" y="4767262"/>
            <a:ext cx="3395662" cy="581025"/>
            <a:chOff x="0" y="0"/>
            <a:chExt cx="4527550" cy="7747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9813722" y="4972050"/>
            <a:ext cx="175022" cy="200025"/>
            <a:chOff x="0" y="0"/>
            <a:chExt cx="233362" cy="2667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0072688" y="4914900"/>
            <a:ext cx="2900362" cy="285750"/>
            <a:chOff x="0" y="0"/>
            <a:chExt cx="3867150" cy="3810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Data Storage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9625012" y="5453062"/>
            <a:ext cx="3395662" cy="581025"/>
            <a:chOff x="0" y="0"/>
            <a:chExt cx="4527550" cy="77470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136" id="136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813722" y="5657850"/>
            <a:ext cx="175022" cy="200025"/>
            <a:chOff x="0" y="0"/>
            <a:chExt cx="233362" cy="2667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0072688" y="5600700"/>
            <a:ext cx="2900362" cy="285750"/>
            <a:chOff x="0" y="0"/>
            <a:chExt cx="3867150" cy="3810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CRUD Operations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625012" y="6138862"/>
            <a:ext cx="3395662" cy="581025"/>
            <a:chOff x="0" y="0"/>
            <a:chExt cx="4527550" cy="774700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144" id="144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9813722" y="6343650"/>
            <a:ext cx="175022" cy="200025"/>
            <a:chOff x="0" y="0"/>
            <a:chExt cx="233362" cy="26670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0072688" y="6286500"/>
            <a:ext cx="2900362" cy="285750"/>
            <a:chOff x="0" y="0"/>
            <a:chExt cx="3867150" cy="3810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Data Persistence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9625012" y="6824662"/>
            <a:ext cx="3395662" cy="581025"/>
            <a:chOff x="0" y="0"/>
            <a:chExt cx="4527550" cy="774700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F5F5"/>
            </a:solid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9813722" y="7029450"/>
            <a:ext cx="175022" cy="200025"/>
            <a:chOff x="0" y="0"/>
            <a:chExt cx="233362" cy="26670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0072688" y="6972300"/>
            <a:ext cx="2900362" cy="285750"/>
            <a:chOff x="0" y="0"/>
            <a:chExt cx="3867150" cy="38100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Query Optimization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625012" y="7710488"/>
            <a:ext cx="3395662" cy="581025"/>
            <a:chOff x="0" y="0"/>
            <a:chExt cx="4527550" cy="7747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60" id="160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722644" y="7858125"/>
            <a:ext cx="3200400" cy="285750"/>
            <a:chOff x="0" y="0"/>
            <a:chExt cx="4267200" cy="38100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426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42672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SQLite, SQLAlchemy ORM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3635038" y="2333625"/>
            <a:ext cx="4090988" cy="6305550"/>
            <a:chOff x="0" y="0"/>
            <a:chExt cx="5454650" cy="84074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50800" y="50800"/>
              <a:ext cx="5353050" cy="8305800"/>
            </a:xfrm>
            <a:custGeom>
              <a:avLst/>
              <a:gdLst/>
              <a:ahLst/>
              <a:cxnLst/>
              <a:rect r="r" b="b" t="t" l="l"/>
              <a:pathLst>
                <a:path h="8305800" w="5353050">
                  <a:moveTo>
                    <a:pt x="0" y="0"/>
                  </a:moveTo>
                  <a:lnTo>
                    <a:pt x="5353050" y="0"/>
                  </a:lnTo>
                  <a:lnTo>
                    <a:pt x="5353050" y="8305800"/>
                  </a:lnTo>
                  <a:lnTo>
                    <a:pt x="0" y="8305800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50800" y="0"/>
              <a:ext cx="5403850" cy="8407400"/>
            </a:xfrm>
            <a:custGeom>
              <a:avLst/>
              <a:gdLst/>
              <a:ahLst/>
              <a:cxnLst/>
              <a:rect r="r" b="b" t="t" l="l"/>
              <a:pathLst>
                <a:path h="8407400" w="5403850">
                  <a:moveTo>
                    <a:pt x="0" y="0"/>
                  </a:moveTo>
                  <a:lnTo>
                    <a:pt x="5353050" y="0"/>
                  </a:lnTo>
                  <a:cubicBezTo>
                    <a:pt x="5381117" y="0"/>
                    <a:pt x="5403850" y="22733"/>
                    <a:pt x="5403850" y="50800"/>
                  </a:cubicBezTo>
                  <a:lnTo>
                    <a:pt x="5403850" y="8356600"/>
                  </a:lnTo>
                  <a:cubicBezTo>
                    <a:pt x="5403850" y="8384667"/>
                    <a:pt x="5381117" y="8407400"/>
                    <a:pt x="5353050" y="8407400"/>
                  </a:cubicBezTo>
                  <a:lnTo>
                    <a:pt x="0" y="8407400"/>
                  </a:lnTo>
                  <a:lnTo>
                    <a:pt x="0" y="8305800"/>
                  </a:lnTo>
                  <a:lnTo>
                    <a:pt x="5353050" y="8305800"/>
                  </a:lnTo>
                  <a:lnTo>
                    <a:pt x="5353050" y="8356600"/>
                  </a:lnTo>
                  <a:lnTo>
                    <a:pt x="5302250" y="8356600"/>
                  </a:lnTo>
                  <a:lnTo>
                    <a:pt x="5302250" y="50800"/>
                  </a:lnTo>
                  <a:lnTo>
                    <a:pt x="5353050" y="50800"/>
                  </a:lnTo>
                  <a:lnTo>
                    <a:pt x="53530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5099506" y="2676525"/>
            <a:ext cx="1162050" cy="1162050"/>
            <a:chOff x="0" y="0"/>
            <a:chExt cx="1549400" cy="154940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50800" y="50800"/>
              <a:ext cx="1447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1447800">
                  <a:moveTo>
                    <a:pt x="0" y="0"/>
                  </a:moveTo>
                  <a:lnTo>
                    <a:pt x="1447800" y="0"/>
                  </a:lnTo>
                  <a:lnTo>
                    <a:pt x="1447800" y="1447800"/>
                  </a:lnTo>
                  <a:lnTo>
                    <a:pt x="0" y="1447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50800" y="0"/>
              <a:ext cx="1498600" cy="1549400"/>
            </a:xfrm>
            <a:custGeom>
              <a:avLst/>
              <a:gdLst/>
              <a:ahLst/>
              <a:cxnLst/>
              <a:rect r="r" b="b" t="t" l="l"/>
              <a:pathLst>
                <a:path h="1549400" w="1498600">
                  <a:moveTo>
                    <a:pt x="0" y="0"/>
                  </a:moveTo>
                  <a:lnTo>
                    <a:pt x="1447800" y="0"/>
                  </a:lnTo>
                  <a:cubicBezTo>
                    <a:pt x="1475867" y="0"/>
                    <a:pt x="1498600" y="22733"/>
                    <a:pt x="1498600" y="50800"/>
                  </a:cubicBezTo>
                  <a:lnTo>
                    <a:pt x="1498600" y="1498600"/>
                  </a:lnTo>
                  <a:cubicBezTo>
                    <a:pt x="1498600" y="1526667"/>
                    <a:pt x="1475867" y="1549400"/>
                    <a:pt x="1447800" y="1549400"/>
                  </a:cubicBezTo>
                  <a:lnTo>
                    <a:pt x="0" y="1549400"/>
                  </a:lnTo>
                  <a:lnTo>
                    <a:pt x="0" y="1447800"/>
                  </a:lnTo>
                  <a:lnTo>
                    <a:pt x="1447800" y="1447800"/>
                  </a:lnTo>
                  <a:lnTo>
                    <a:pt x="1447800" y="1498600"/>
                  </a:lnTo>
                  <a:lnTo>
                    <a:pt x="1397000" y="1498600"/>
                  </a:lnTo>
                  <a:lnTo>
                    <a:pt x="1397000" y="50800"/>
                  </a:lnTo>
                  <a:lnTo>
                    <a:pt x="1447800" y="50800"/>
                  </a:lnTo>
                  <a:lnTo>
                    <a:pt x="14478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170" id="170"/>
          <p:cNvSpPr/>
          <p:nvPr/>
        </p:nvSpPr>
        <p:spPr>
          <a:xfrm flipH="false" flipV="false" rot="0">
            <a:off x="15469791" y="3043238"/>
            <a:ext cx="428625" cy="428625"/>
          </a:xfrm>
          <a:custGeom>
            <a:avLst/>
            <a:gdLst/>
            <a:ahLst/>
            <a:cxnLst/>
            <a:rect r="r" b="b" t="t" l="l"/>
            <a:pathLst>
              <a:path h="428625" w="428625">
                <a:moveTo>
                  <a:pt x="0" y="0"/>
                </a:moveTo>
                <a:lnTo>
                  <a:pt x="428625" y="0"/>
                </a:lnTo>
                <a:lnTo>
                  <a:pt x="428625" y="428624"/>
                </a:lnTo>
                <a:lnTo>
                  <a:pt x="0" y="4286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1" id="171"/>
          <p:cNvGrpSpPr/>
          <p:nvPr/>
        </p:nvGrpSpPr>
        <p:grpSpPr>
          <a:xfrm rot="0">
            <a:off x="14168438" y="4000500"/>
            <a:ext cx="2541241" cy="494130"/>
            <a:chOff x="0" y="0"/>
            <a:chExt cx="2743200" cy="5334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743200" cy="533400"/>
            </a:xfrm>
            <a:custGeom>
              <a:avLst/>
              <a:gdLst/>
              <a:ahLst/>
              <a:cxnLst/>
              <a:rect r="r" b="b" t="t" l="l"/>
              <a:pathLst>
                <a:path h="5334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66675"/>
              <a:ext cx="2743200" cy="600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25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Dijkstra Engine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3982700" y="4767262"/>
            <a:ext cx="3395662" cy="581025"/>
            <a:chOff x="0" y="0"/>
            <a:chExt cx="4527550" cy="7747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76" id="176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4171409" y="4972050"/>
            <a:ext cx="175022" cy="200025"/>
            <a:chOff x="0" y="0"/>
            <a:chExt cx="233362" cy="26670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14430375" y="4914900"/>
            <a:ext cx="2900362" cy="285750"/>
            <a:chOff x="0" y="0"/>
            <a:chExt cx="3867150" cy="3810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Graph Processing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3982700" y="5453062"/>
            <a:ext cx="3395662" cy="581025"/>
            <a:chOff x="0" y="0"/>
            <a:chExt cx="4527550" cy="774700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4171409" y="5657850"/>
            <a:ext cx="175022" cy="200025"/>
            <a:chOff x="0" y="0"/>
            <a:chExt cx="233362" cy="26670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14430375" y="5600700"/>
            <a:ext cx="2900362" cy="285750"/>
            <a:chOff x="0" y="0"/>
            <a:chExt cx="3867150" cy="381000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89" id="189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Path Calculation</a:t>
              </a:r>
            </a:p>
          </p:txBody>
        </p:sp>
      </p:grpSp>
      <p:grpSp>
        <p:nvGrpSpPr>
          <p:cNvPr name="Group 190" id="190"/>
          <p:cNvGrpSpPr/>
          <p:nvPr/>
        </p:nvGrpSpPr>
        <p:grpSpPr>
          <a:xfrm rot="0">
            <a:off x="13982700" y="6138862"/>
            <a:ext cx="3395662" cy="581025"/>
            <a:chOff x="0" y="0"/>
            <a:chExt cx="4527550" cy="774700"/>
          </a:xfrm>
        </p:grpSpPr>
        <p:sp>
          <p:nvSpPr>
            <p:cNvPr name="Freeform 191" id="191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92" id="192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14171409" y="6343650"/>
            <a:ext cx="175022" cy="200025"/>
            <a:chOff x="0" y="0"/>
            <a:chExt cx="233362" cy="266700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14430375" y="6286500"/>
            <a:ext cx="2900362" cy="285750"/>
            <a:chOff x="0" y="0"/>
            <a:chExt cx="3867150" cy="3810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197" id="197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Optimization Logic</a:t>
              </a: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13982700" y="6824662"/>
            <a:ext cx="3395662" cy="581025"/>
            <a:chOff x="0" y="0"/>
            <a:chExt cx="4527550" cy="77470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00" id="200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201" id="201"/>
          <p:cNvGrpSpPr/>
          <p:nvPr/>
        </p:nvGrpSpPr>
        <p:grpSpPr>
          <a:xfrm rot="0">
            <a:off x="14171409" y="7029450"/>
            <a:ext cx="175022" cy="200025"/>
            <a:chOff x="0" y="0"/>
            <a:chExt cx="233362" cy="26670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95" y="33228"/>
              <a:ext cx="233250" cy="216916"/>
            </a:xfrm>
            <a:custGeom>
              <a:avLst/>
              <a:gdLst/>
              <a:ahLst/>
              <a:cxnLst/>
              <a:rect r="r" b="b" t="t" l="l"/>
              <a:pathLst>
                <a:path h="216916" w="233250">
                  <a:moveTo>
                    <a:pt x="226346" y="3348"/>
                  </a:moveTo>
                  <a:cubicBezTo>
                    <a:pt x="233839" y="8809"/>
                    <a:pt x="235490" y="19223"/>
                    <a:pt x="230029" y="26589"/>
                  </a:cubicBezTo>
                  <a:lnTo>
                    <a:pt x="96679" y="209977"/>
                  </a:lnTo>
                  <a:cubicBezTo>
                    <a:pt x="93758" y="213914"/>
                    <a:pt x="89440" y="216327"/>
                    <a:pt x="84487" y="216835"/>
                  </a:cubicBezTo>
                  <a:cubicBezTo>
                    <a:pt x="79534" y="217343"/>
                    <a:pt x="74835" y="215438"/>
                    <a:pt x="71406" y="212009"/>
                  </a:cubicBezTo>
                  <a:lnTo>
                    <a:pt x="4858" y="145207"/>
                  </a:lnTo>
                  <a:cubicBezTo>
                    <a:pt x="-1619" y="138730"/>
                    <a:pt x="-1619" y="128062"/>
                    <a:pt x="4858" y="121585"/>
                  </a:cubicBezTo>
                  <a:cubicBezTo>
                    <a:pt x="11335" y="115108"/>
                    <a:pt x="22003" y="115108"/>
                    <a:pt x="28480" y="121585"/>
                  </a:cubicBezTo>
                  <a:lnTo>
                    <a:pt x="81312" y="174417"/>
                  </a:lnTo>
                  <a:lnTo>
                    <a:pt x="203105" y="6904"/>
                  </a:lnTo>
                  <a:cubicBezTo>
                    <a:pt x="208566" y="-589"/>
                    <a:pt x="218980" y="-2240"/>
                    <a:pt x="226346" y="3221"/>
                  </a:cubicBezTo>
                  <a:close/>
                </a:path>
              </a:pathLst>
            </a:custGeom>
            <a:solidFill>
              <a:srgbClr val="FFE66D"/>
            </a:solid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4430375" y="6972300"/>
            <a:ext cx="2900362" cy="285750"/>
            <a:chOff x="0" y="0"/>
            <a:chExt cx="3867150" cy="38100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867150" cy="381000"/>
            </a:xfrm>
            <a:custGeom>
              <a:avLst/>
              <a:gdLst/>
              <a:ahLst/>
              <a:cxnLst/>
              <a:rect r="r" b="b" t="t" l="l"/>
              <a:pathLst>
                <a:path h="381000" w="3867150">
                  <a:moveTo>
                    <a:pt x="0" y="0"/>
                  </a:moveTo>
                  <a:lnTo>
                    <a:pt x="3867150" y="0"/>
                  </a:lnTo>
                  <a:lnTo>
                    <a:pt x="386715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773" r="0" b="-147773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47625"/>
              <a:ext cx="386715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575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Priority Queue</a:t>
              </a:r>
            </a:p>
          </p:txBody>
        </p:sp>
      </p:grpSp>
      <p:grpSp>
        <p:nvGrpSpPr>
          <p:cNvPr name="Group 206" id="206"/>
          <p:cNvGrpSpPr/>
          <p:nvPr/>
        </p:nvGrpSpPr>
        <p:grpSpPr>
          <a:xfrm rot="0">
            <a:off x="13982700" y="7710488"/>
            <a:ext cx="3395662" cy="581025"/>
            <a:chOff x="0" y="0"/>
            <a:chExt cx="4527550" cy="774700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25400" y="25400"/>
              <a:ext cx="4476750" cy="723900"/>
            </a:xfrm>
            <a:custGeom>
              <a:avLst/>
              <a:gdLst/>
              <a:ahLst/>
              <a:cxnLst/>
              <a:rect r="r" b="b" t="t" l="l"/>
              <a:pathLst>
                <a:path h="723900" w="4476750">
                  <a:moveTo>
                    <a:pt x="0" y="0"/>
                  </a:moveTo>
                  <a:lnTo>
                    <a:pt x="4476750" y="0"/>
                  </a:lnTo>
                  <a:lnTo>
                    <a:pt x="4476750" y="723900"/>
                  </a:lnTo>
                  <a:lnTo>
                    <a:pt x="0" y="7239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08" id="208"/>
            <p:cNvSpPr/>
            <p:nvPr/>
          </p:nvSpPr>
          <p:spPr>
            <a:xfrm flipH="false" flipV="false" rot="0">
              <a:off x="25400" y="0"/>
              <a:ext cx="4502150" cy="774700"/>
            </a:xfrm>
            <a:custGeom>
              <a:avLst/>
              <a:gdLst/>
              <a:ahLst/>
              <a:cxnLst/>
              <a:rect r="r" b="b" t="t" l="l"/>
              <a:pathLst>
                <a:path h="774700" w="4502150">
                  <a:moveTo>
                    <a:pt x="0" y="0"/>
                  </a:moveTo>
                  <a:lnTo>
                    <a:pt x="4476750" y="0"/>
                  </a:lnTo>
                  <a:cubicBezTo>
                    <a:pt x="4490720" y="0"/>
                    <a:pt x="4502150" y="11430"/>
                    <a:pt x="4502150" y="25400"/>
                  </a:cubicBezTo>
                  <a:lnTo>
                    <a:pt x="4502150" y="749300"/>
                  </a:lnTo>
                  <a:cubicBezTo>
                    <a:pt x="4502150" y="763270"/>
                    <a:pt x="4490720" y="774700"/>
                    <a:pt x="4476750" y="774700"/>
                  </a:cubicBezTo>
                  <a:lnTo>
                    <a:pt x="0" y="774700"/>
                  </a:lnTo>
                  <a:lnTo>
                    <a:pt x="0" y="723900"/>
                  </a:lnTo>
                  <a:lnTo>
                    <a:pt x="4476750" y="723900"/>
                  </a:lnTo>
                  <a:lnTo>
                    <a:pt x="4476750" y="749300"/>
                  </a:lnTo>
                  <a:lnTo>
                    <a:pt x="4451350" y="749300"/>
                  </a:lnTo>
                  <a:lnTo>
                    <a:pt x="4451350" y="25400"/>
                  </a:lnTo>
                  <a:lnTo>
                    <a:pt x="4476750" y="25400"/>
                  </a:lnTo>
                  <a:lnTo>
                    <a:pt x="44767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4080331" y="7858125"/>
            <a:ext cx="3200400" cy="285750"/>
            <a:chOff x="0" y="0"/>
            <a:chExt cx="4267200" cy="38100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4267200" cy="381000"/>
            </a:xfrm>
            <a:custGeom>
              <a:avLst/>
              <a:gdLst/>
              <a:ahLst/>
              <a:cxnLst/>
              <a:rect r="r" b="b" t="t" l="l"/>
              <a:pathLst>
                <a:path h="38100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81000"/>
                  </a:lnTo>
                  <a:lnTo>
                    <a:pt x="0" y="38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8232" r="0" b="-168232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47625"/>
              <a:ext cx="4267200" cy="428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68"/>
                </a:lnSpc>
              </a:pPr>
              <a:r>
                <a:rPr lang="en-US" sz="15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Dijkstra Algorithm</a:t>
              </a:r>
            </a:p>
          </p:txBody>
        </p:sp>
      </p:grpSp>
      <p:grpSp>
        <p:nvGrpSpPr>
          <p:cNvPr name="Group 212" id="212"/>
          <p:cNvGrpSpPr/>
          <p:nvPr/>
        </p:nvGrpSpPr>
        <p:grpSpPr>
          <a:xfrm rot="0">
            <a:off x="4478541" y="8848725"/>
            <a:ext cx="3605212" cy="876300"/>
            <a:chOff x="0" y="0"/>
            <a:chExt cx="4806950" cy="1168400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50800" y="50800"/>
              <a:ext cx="4705350" cy="1066800"/>
            </a:xfrm>
            <a:custGeom>
              <a:avLst/>
              <a:gdLst/>
              <a:ahLst/>
              <a:cxnLst/>
              <a:rect r="r" b="b" t="t" l="l"/>
              <a:pathLst>
                <a:path h="1066800" w="4705350">
                  <a:moveTo>
                    <a:pt x="0" y="0"/>
                  </a:moveTo>
                  <a:lnTo>
                    <a:pt x="4705350" y="0"/>
                  </a:lnTo>
                  <a:lnTo>
                    <a:pt x="4705350" y="1066800"/>
                  </a:lnTo>
                  <a:lnTo>
                    <a:pt x="0" y="10668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14" id="214"/>
            <p:cNvSpPr/>
            <p:nvPr/>
          </p:nvSpPr>
          <p:spPr>
            <a:xfrm flipH="false" flipV="false" rot="0">
              <a:off x="50800" y="0"/>
              <a:ext cx="4756150" cy="1168400"/>
            </a:xfrm>
            <a:custGeom>
              <a:avLst/>
              <a:gdLst/>
              <a:ahLst/>
              <a:cxnLst/>
              <a:rect r="r" b="b" t="t" l="l"/>
              <a:pathLst>
                <a:path h="1168400" w="4756150">
                  <a:moveTo>
                    <a:pt x="0" y="0"/>
                  </a:moveTo>
                  <a:lnTo>
                    <a:pt x="4705350" y="0"/>
                  </a:lnTo>
                  <a:cubicBezTo>
                    <a:pt x="4733417" y="0"/>
                    <a:pt x="4756150" y="22733"/>
                    <a:pt x="4756150" y="50800"/>
                  </a:cubicBezTo>
                  <a:lnTo>
                    <a:pt x="4756150" y="1117600"/>
                  </a:lnTo>
                  <a:cubicBezTo>
                    <a:pt x="4756150" y="1145667"/>
                    <a:pt x="4733417" y="1168400"/>
                    <a:pt x="4705350" y="1168400"/>
                  </a:cubicBezTo>
                  <a:lnTo>
                    <a:pt x="0" y="1168400"/>
                  </a:lnTo>
                  <a:lnTo>
                    <a:pt x="0" y="1066800"/>
                  </a:lnTo>
                  <a:lnTo>
                    <a:pt x="4705350" y="1066800"/>
                  </a:lnTo>
                  <a:lnTo>
                    <a:pt x="4705350" y="1117600"/>
                  </a:lnTo>
                  <a:lnTo>
                    <a:pt x="4654550" y="1117600"/>
                  </a:lnTo>
                  <a:lnTo>
                    <a:pt x="4654550" y="50800"/>
                  </a:lnTo>
                  <a:lnTo>
                    <a:pt x="4705350" y="50800"/>
                  </a:lnTo>
                  <a:lnTo>
                    <a:pt x="47053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15" id="215"/>
          <p:cNvSpPr/>
          <p:nvPr/>
        </p:nvSpPr>
        <p:spPr>
          <a:xfrm flipH="false" flipV="false" rot="0">
            <a:off x="4923825" y="915828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6" id="216"/>
          <p:cNvGrpSpPr/>
          <p:nvPr/>
        </p:nvGrpSpPr>
        <p:grpSpPr>
          <a:xfrm rot="0">
            <a:off x="5302453" y="9039225"/>
            <a:ext cx="2797969" cy="447675"/>
            <a:chOff x="0" y="0"/>
            <a:chExt cx="3333750" cy="533400"/>
          </a:xfrm>
        </p:grpSpPr>
        <p:sp>
          <p:nvSpPr>
            <p:cNvPr name="Freeform 217" id="217"/>
            <p:cNvSpPr/>
            <p:nvPr/>
          </p:nvSpPr>
          <p:spPr>
            <a:xfrm flipH="false" flipV="false" rot="0">
              <a:off x="0" y="0"/>
              <a:ext cx="3333750" cy="533400"/>
            </a:xfrm>
            <a:custGeom>
              <a:avLst/>
              <a:gdLst/>
              <a:ahLst/>
              <a:cxnLst/>
              <a:rect r="r" b="b" t="t" l="l"/>
              <a:pathLst>
                <a:path h="533400" w="3333750">
                  <a:moveTo>
                    <a:pt x="0" y="0"/>
                  </a:moveTo>
                  <a:lnTo>
                    <a:pt x="3333750" y="0"/>
                  </a:lnTo>
                  <a:lnTo>
                    <a:pt x="33337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218" id="218"/>
            <p:cNvSpPr txBox="true"/>
            <p:nvPr/>
          </p:nvSpPr>
          <p:spPr>
            <a:xfrm>
              <a:off x="0" y="-76200"/>
              <a:ext cx="33337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4-Layer Architecture</a:t>
              </a:r>
            </a:p>
          </p:txBody>
        </p:sp>
      </p:grpSp>
      <p:grpSp>
        <p:nvGrpSpPr>
          <p:cNvPr name="Group 219" id="219"/>
          <p:cNvGrpSpPr/>
          <p:nvPr/>
        </p:nvGrpSpPr>
        <p:grpSpPr>
          <a:xfrm rot="0">
            <a:off x="8291293" y="8848725"/>
            <a:ext cx="3062288" cy="876300"/>
            <a:chOff x="0" y="0"/>
            <a:chExt cx="4083050" cy="1168400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50800" y="50800"/>
              <a:ext cx="3981450" cy="1066800"/>
            </a:xfrm>
            <a:custGeom>
              <a:avLst/>
              <a:gdLst/>
              <a:ahLst/>
              <a:cxnLst/>
              <a:rect r="r" b="b" t="t" l="l"/>
              <a:pathLst>
                <a:path h="1066800" w="3981450">
                  <a:moveTo>
                    <a:pt x="0" y="0"/>
                  </a:moveTo>
                  <a:lnTo>
                    <a:pt x="3981450" y="0"/>
                  </a:lnTo>
                  <a:lnTo>
                    <a:pt x="3981450" y="1066800"/>
                  </a:lnTo>
                  <a:lnTo>
                    <a:pt x="0" y="10668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221" id="221"/>
            <p:cNvSpPr/>
            <p:nvPr/>
          </p:nvSpPr>
          <p:spPr>
            <a:xfrm flipH="false" flipV="false" rot="0">
              <a:off x="50800" y="0"/>
              <a:ext cx="4032250" cy="1168400"/>
            </a:xfrm>
            <a:custGeom>
              <a:avLst/>
              <a:gdLst/>
              <a:ahLst/>
              <a:cxnLst/>
              <a:rect r="r" b="b" t="t" l="l"/>
              <a:pathLst>
                <a:path h="1168400" w="4032250">
                  <a:moveTo>
                    <a:pt x="0" y="0"/>
                  </a:moveTo>
                  <a:lnTo>
                    <a:pt x="3981450" y="0"/>
                  </a:lnTo>
                  <a:cubicBezTo>
                    <a:pt x="4009517" y="0"/>
                    <a:pt x="4032250" y="22733"/>
                    <a:pt x="4032250" y="50800"/>
                  </a:cubicBezTo>
                  <a:lnTo>
                    <a:pt x="4032250" y="1117600"/>
                  </a:lnTo>
                  <a:cubicBezTo>
                    <a:pt x="4032250" y="1145667"/>
                    <a:pt x="4009517" y="1168400"/>
                    <a:pt x="3981450" y="1168400"/>
                  </a:cubicBezTo>
                  <a:lnTo>
                    <a:pt x="0" y="1168400"/>
                  </a:lnTo>
                  <a:lnTo>
                    <a:pt x="0" y="1066800"/>
                  </a:lnTo>
                  <a:lnTo>
                    <a:pt x="3981450" y="1066800"/>
                  </a:lnTo>
                  <a:lnTo>
                    <a:pt x="3981450" y="1117600"/>
                  </a:lnTo>
                  <a:lnTo>
                    <a:pt x="3930650" y="1117600"/>
                  </a:lnTo>
                  <a:lnTo>
                    <a:pt x="3930650" y="50800"/>
                  </a:lnTo>
                  <a:lnTo>
                    <a:pt x="3981450" y="50800"/>
                  </a:lnTo>
                  <a:lnTo>
                    <a:pt x="398145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22" id="222"/>
          <p:cNvSpPr/>
          <p:nvPr/>
        </p:nvSpPr>
        <p:spPr>
          <a:xfrm flipH="false" flipV="false" rot="0">
            <a:off x="8736587" y="9158288"/>
            <a:ext cx="257175" cy="257175"/>
          </a:xfrm>
          <a:custGeom>
            <a:avLst/>
            <a:gdLst/>
            <a:ahLst/>
            <a:cxnLst/>
            <a:rect r="r" b="b" t="t" l="l"/>
            <a:pathLst>
              <a:path h="257175" w="257175">
                <a:moveTo>
                  <a:pt x="0" y="0"/>
                </a:moveTo>
                <a:lnTo>
                  <a:pt x="257175" y="0"/>
                </a:lnTo>
                <a:lnTo>
                  <a:pt x="257175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3" id="223"/>
          <p:cNvGrpSpPr/>
          <p:nvPr/>
        </p:nvGrpSpPr>
        <p:grpSpPr>
          <a:xfrm rot="0">
            <a:off x="9115206" y="9086850"/>
            <a:ext cx="1957388" cy="400050"/>
            <a:chOff x="0" y="0"/>
            <a:chExt cx="2609850" cy="533400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2609850" cy="533400"/>
            </a:xfrm>
            <a:custGeom>
              <a:avLst/>
              <a:gdLst/>
              <a:ahLst/>
              <a:cxnLst/>
              <a:rect r="r" b="b" t="t" l="l"/>
              <a:pathLst>
                <a:path h="533400" w="2609850">
                  <a:moveTo>
                    <a:pt x="0" y="0"/>
                  </a:moveTo>
                  <a:lnTo>
                    <a:pt x="2609850" y="0"/>
                  </a:lnTo>
                  <a:lnTo>
                    <a:pt x="260985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337" r="0" b="-45337"/>
              </a:stretch>
            </a:blipFill>
          </p:spPr>
        </p:sp>
        <p:sp>
          <p:nvSpPr>
            <p:cNvPr name="TextBox 225" id="225"/>
            <p:cNvSpPr txBox="true"/>
            <p:nvPr/>
          </p:nvSpPr>
          <p:spPr>
            <a:xfrm>
              <a:off x="0" y="-76200"/>
              <a:ext cx="260985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Modular Design</a:t>
              </a:r>
            </a:p>
          </p:txBody>
        </p:sp>
      </p:grpSp>
      <p:grpSp>
        <p:nvGrpSpPr>
          <p:cNvPr name="Group 226" id="226"/>
          <p:cNvGrpSpPr/>
          <p:nvPr/>
        </p:nvGrpSpPr>
        <p:grpSpPr>
          <a:xfrm rot="0">
            <a:off x="11560893" y="8848725"/>
            <a:ext cx="2247900" cy="876300"/>
            <a:chOff x="0" y="0"/>
            <a:chExt cx="2997200" cy="1168400"/>
          </a:xfrm>
        </p:grpSpPr>
        <p:sp>
          <p:nvSpPr>
            <p:cNvPr name="Freeform 227" id="227"/>
            <p:cNvSpPr/>
            <p:nvPr/>
          </p:nvSpPr>
          <p:spPr>
            <a:xfrm flipH="false" flipV="false" rot="0">
              <a:off x="50800" y="50800"/>
              <a:ext cx="2895600" cy="1066800"/>
            </a:xfrm>
            <a:custGeom>
              <a:avLst/>
              <a:gdLst/>
              <a:ahLst/>
              <a:cxnLst/>
              <a:rect r="r" b="b" t="t" l="l"/>
              <a:pathLst>
                <a:path h="1066800" w="2895600">
                  <a:moveTo>
                    <a:pt x="0" y="0"/>
                  </a:moveTo>
                  <a:lnTo>
                    <a:pt x="2895600" y="0"/>
                  </a:lnTo>
                  <a:lnTo>
                    <a:pt x="2895600" y="1066800"/>
                  </a:lnTo>
                  <a:lnTo>
                    <a:pt x="0" y="10668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228" id="228"/>
            <p:cNvSpPr/>
            <p:nvPr/>
          </p:nvSpPr>
          <p:spPr>
            <a:xfrm flipH="false" flipV="false" rot="0">
              <a:off x="50800" y="0"/>
              <a:ext cx="2946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2946400">
                  <a:moveTo>
                    <a:pt x="0" y="0"/>
                  </a:moveTo>
                  <a:lnTo>
                    <a:pt x="2895600" y="0"/>
                  </a:lnTo>
                  <a:cubicBezTo>
                    <a:pt x="2923667" y="0"/>
                    <a:pt x="2946400" y="22733"/>
                    <a:pt x="2946400" y="50800"/>
                  </a:cubicBezTo>
                  <a:lnTo>
                    <a:pt x="2946400" y="1117600"/>
                  </a:lnTo>
                  <a:cubicBezTo>
                    <a:pt x="2946400" y="1145667"/>
                    <a:pt x="2923667" y="1168400"/>
                    <a:pt x="2895600" y="1168400"/>
                  </a:cubicBezTo>
                  <a:lnTo>
                    <a:pt x="0" y="1168400"/>
                  </a:lnTo>
                  <a:lnTo>
                    <a:pt x="0" y="1066800"/>
                  </a:lnTo>
                  <a:lnTo>
                    <a:pt x="2895600" y="1066800"/>
                  </a:lnTo>
                  <a:lnTo>
                    <a:pt x="2895600" y="1117600"/>
                  </a:lnTo>
                  <a:lnTo>
                    <a:pt x="2844800" y="1117600"/>
                  </a:lnTo>
                  <a:lnTo>
                    <a:pt x="2844800" y="50800"/>
                  </a:lnTo>
                  <a:lnTo>
                    <a:pt x="2895600" y="50800"/>
                  </a:lnTo>
                  <a:lnTo>
                    <a:pt x="2895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29" id="229"/>
          <p:cNvSpPr/>
          <p:nvPr/>
        </p:nvSpPr>
        <p:spPr>
          <a:xfrm flipH="false" flipV="false" rot="0">
            <a:off x="12022264" y="9158288"/>
            <a:ext cx="225028" cy="257175"/>
          </a:xfrm>
          <a:custGeom>
            <a:avLst/>
            <a:gdLst/>
            <a:ahLst/>
            <a:cxnLst/>
            <a:rect r="r" b="b" t="t" l="l"/>
            <a:pathLst>
              <a:path h="257175" w="225028">
                <a:moveTo>
                  <a:pt x="0" y="0"/>
                </a:moveTo>
                <a:lnTo>
                  <a:pt x="225029" y="0"/>
                </a:lnTo>
                <a:lnTo>
                  <a:pt x="225029" y="257174"/>
                </a:lnTo>
                <a:lnTo>
                  <a:pt x="0" y="25717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0" id="230"/>
          <p:cNvGrpSpPr/>
          <p:nvPr/>
        </p:nvGrpSpPr>
        <p:grpSpPr>
          <a:xfrm rot="0">
            <a:off x="12384805" y="9086850"/>
            <a:ext cx="1143000" cy="400050"/>
            <a:chOff x="0" y="0"/>
            <a:chExt cx="1524000" cy="533400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1524000" cy="533400"/>
            </a:xfrm>
            <a:custGeom>
              <a:avLst/>
              <a:gdLst/>
              <a:ahLst/>
              <a:cxnLst/>
              <a:rect r="r" b="b" t="t" l="l"/>
              <a:pathLst>
                <a:path h="5334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533400"/>
                  </a:lnTo>
                  <a:lnTo>
                    <a:pt x="0" y="53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1" r="0" b="-5671"/>
              </a:stretch>
            </a:blipFill>
          </p:spPr>
        </p:sp>
        <p:sp>
          <p:nvSpPr>
            <p:cNvPr name="TextBox 232" id="232"/>
            <p:cNvSpPr txBox="true"/>
            <p:nvPr/>
          </p:nvSpPr>
          <p:spPr>
            <a:xfrm>
              <a:off x="0" y="-76200"/>
              <a:ext cx="152400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202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Scalable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717441" y="-248841"/>
            <a:ext cx="1092994" cy="1092994"/>
            <a:chOff x="0" y="0"/>
            <a:chExt cx="1457325" cy="14573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8100" y="38100"/>
              <a:ext cx="1381252" cy="1381252"/>
            </a:xfrm>
            <a:custGeom>
              <a:avLst/>
              <a:gdLst/>
              <a:ahLst/>
              <a:cxnLst/>
              <a:rect r="r" b="b" t="t" l="l"/>
              <a:pathLst>
                <a:path h="1381252" w="1381252">
                  <a:moveTo>
                    <a:pt x="0" y="690626"/>
                  </a:moveTo>
                  <a:cubicBezTo>
                    <a:pt x="0" y="309118"/>
                    <a:pt x="309118" y="0"/>
                    <a:pt x="690626" y="0"/>
                  </a:cubicBezTo>
                  <a:cubicBezTo>
                    <a:pt x="1072134" y="0"/>
                    <a:pt x="1381252" y="309118"/>
                    <a:pt x="1381252" y="690626"/>
                  </a:cubicBezTo>
                  <a:cubicBezTo>
                    <a:pt x="1381252" y="1072134"/>
                    <a:pt x="1072134" y="1381252"/>
                    <a:pt x="690626" y="1381252"/>
                  </a:cubicBezTo>
                  <a:cubicBezTo>
                    <a:pt x="309118" y="1381252"/>
                    <a:pt x="0" y="1072007"/>
                    <a:pt x="0" y="690626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57452" cy="1457452"/>
            </a:xfrm>
            <a:custGeom>
              <a:avLst/>
              <a:gdLst/>
              <a:ahLst/>
              <a:cxnLst/>
              <a:rect r="r" b="b" t="t" l="l"/>
              <a:pathLst>
                <a:path h="1457452" w="1457452">
                  <a:moveTo>
                    <a:pt x="0" y="728726"/>
                  </a:moveTo>
                  <a:cubicBezTo>
                    <a:pt x="0" y="326263"/>
                    <a:pt x="326263" y="0"/>
                    <a:pt x="728726" y="0"/>
                  </a:cubicBezTo>
                  <a:cubicBezTo>
                    <a:pt x="740283" y="0"/>
                    <a:pt x="751205" y="5207"/>
                    <a:pt x="758444" y="14351"/>
                  </a:cubicBezTo>
                  <a:lnTo>
                    <a:pt x="728726" y="38100"/>
                  </a:lnTo>
                  <a:lnTo>
                    <a:pt x="728726" y="0"/>
                  </a:lnTo>
                  <a:lnTo>
                    <a:pt x="728726" y="38100"/>
                  </a:lnTo>
                  <a:lnTo>
                    <a:pt x="728726" y="0"/>
                  </a:lnTo>
                  <a:cubicBezTo>
                    <a:pt x="1131189" y="0"/>
                    <a:pt x="1457452" y="326263"/>
                    <a:pt x="1457452" y="728726"/>
                  </a:cubicBezTo>
                  <a:cubicBezTo>
                    <a:pt x="1457452" y="743204"/>
                    <a:pt x="1449324" y="756412"/>
                    <a:pt x="1436370" y="762762"/>
                  </a:cubicBezTo>
                  <a:lnTo>
                    <a:pt x="1419352" y="728726"/>
                  </a:lnTo>
                  <a:lnTo>
                    <a:pt x="1457452" y="728726"/>
                  </a:lnTo>
                  <a:cubicBezTo>
                    <a:pt x="1457452" y="1131189"/>
                    <a:pt x="1131189" y="1457452"/>
                    <a:pt x="728726" y="1457452"/>
                  </a:cubicBezTo>
                  <a:lnTo>
                    <a:pt x="728726" y="1419352"/>
                  </a:lnTo>
                  <a:lnTo>
                    <a:pt x="728726" y="1457452"/>
                  </a:lnTo>
                  <a:cubicBezTo>
                    <a:pt x="326263" y="1457325"/>
                    <a:pt x="0" y="1131062"/>
                    <a:pt x="0" y="728726"/>
                  </a:cubicBezTo>
                  <a:lnTo>
                    <a:pt x="38100" y="728726"/>
                  </a:lnTo>
                  <a:lnTo>
                    <a:pt x="0" y="728726"/>
                  </a:lnTo>
                  <a:moveTo>
                    <a:pt x="76200" y="728726"/>
                  </a:moveTo>
                  <a:lnTo>
                    <a:pt x="38100" y="728726"/>
                  </a:lnTo>
                  <a:lnTo>
                    <a:pt x="76200" y="728726"/>
                  </a:lnTo>
                  <a:cubicBezTo>
                    <a:pt x="76200" y="1089025"/>
                    <a:pt x="368300" y="1381252"/>
                    <a:pt x="728726" y="1381252"/>
                  </a:cubicBezTo>
                  <a:cubicBezTo>
                    <a:pt x="1089152" y="1381252"/>
                    <a:pt x="1381252" y="1089152"/>
                    <a:pt x="1381252" y="728726"/>
                  </a:cubicBezTo>
                  <a:cubicBezTo>
                    <a:pt x="1381252" y="714248"/>
                    <a:pt x="1389380" y="701040"/>
                    <a:pt x="1402334" y="694690"/>
                  </a:cubicBezTo>
                  <a:lnTo>
                    <a:pt x="1419352" y="728726"/>
                  </a:lnTo>
                  <a:lnTo>
                    <a:pt x="1381252" y="728726"/>
                  </a:lnTo>
                  <a:cubicBezTo>
                    <a:pt x="1381125" y="368300"/>
                    <a:pt x="1089025" y="76200"/>
                    <a:pt x="728726" y="76200"/>
                  </a:cubicBezTo>
                  <a:cubicBezTo>
                    <a:pt x="717169" y="76200"/>
                    <a:pt x="706247" y="70993"/>
                    <a:pt x="699008" y="61849"/>
                  </a:cubicBezTo>
                  <a:lnTo>
                    <a:pt x="728726" y="38100"/>
                  </a:lnTo>
                  <a:lnTo>
                    <a:pt x="728726" y="76200"/>
                  </a:lnTo>
                  <a:cubicBezTo>
                    <a:pt x="368300" y="76200"/>
                    <a:pt x="76200" y="368300"/>
                    <a:pt x="76200" y="728726"/>
                  </a:cubicBez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5" id="5"/>
          <p:cNvGrpSpPr/>
          <p:nvPr/>
        </p:nvGrpSpPr>
        <p:grpSpPr>
          <a:xfrm rot="1980000">
            <a:off x="405613" y="8620935"/>
            <a:ext cx="831056" cy="831056"/>
            <a:chOff x="0" y="0"/>
            <a:chExt cx="1108075" cy="11080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8100" y="38100"/>
              <a:ext cx="1031875" cy="1031875"/>
            </a:xfrm>
            <a:custGeom>
              <a:avLst/>
              <a:gdLst/>
              <a:ahLst/>
              <a:cxnLst/>
              <a:rect r="r" b="b" t="t" l="l"/>
              <a:pathLst>
                <a:path h="1031875" w="1031875">
                  <a:moveTo>
                    <a:pt x="0" y="0"/>
                  </a:moveTo>
                  <a:lnTo>
                    <a:pt x="1031875" y="0"/>
                  </a:lnTo>
                  <a:lnTo>
                    <a:pt x="1031875" y="1031875"/>
                  </a:lnTo>
                  <a:lnTo>
                    <a:pt x="0" y="1031875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00" y="0"/>
              <a:ext cx="1069975" cy="1108075"/>
            </a:xfrm>
            <a:custGeom>
              <a:avLst/>
              <a:gdLst/>
              <a:ahLst/>
              <a:cxnLst/>
              <a:rect r="r" b="b" t="t" l="l"/>
              <a:pathLst>
                <a:path h="1108075" w="1069975">
                  <a:moveTo>
                    <a:pt x="0" y="0"/>
                  </a:moveTo>
                  <a:lnTo>
                    <a:pt x="1031875" y="0"/>
                  </a:lnTo>
                  <a:cubicBezTo>
                    <a:pt x="1052957" y="0"/>
                    <a:pt x="1069975" y="17018"/>
                    <a:pt x="1069975" y="38100"/>
                  </a:cubicBezTo>
                  <a:lnTo>
                    <a:pt x="1069975" y="1069975"/>
                  </a:lnTo>
                  <a:cubicBezTo>
                    <a:pt x="1069975" y="1091057"/>
                    <a:pt x="1052957" y="1108075"/>
                    <a:pt x="1031875" y="1108075"/>
                  </a:cubicBezTo>
                  <a:lnTo>
                    <a:pt x="0" y="1108075"/>
                  </a:lnTo>
                  <a:lnTo>
                    <a:pt x="0" y="1031875"/>
                  </a:lnTo>
                  <a:lnTo>
                    <a:pt x="1031875" y="1031875"/>
                  </a:lnTo>
                  <a:lnTo>
                    <a:pt x="1031875" y="1069975"/>
                  </a:lnTo>
                  <a:lnTo>
                    <a:pt x="993775" y="1069975"/>
                  </a:lnTo>
                  <a:lnTo>
                    <a:pt x="993775" y="38100"/>
                  </a:lnTo>
                  <a:lnTo>
                    <a:pt x="1031875" y="38100"/>
                  </a:lnTo>
                  <a:lnTo>
                    <a:pt x="103187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" id="8"/>
          <p:cNvGrpSpPr/>
          <p:nvPr/>
        </p:nvGrpSpPr>
        <p:grpSpPr>
          <a:xfrm rot="1620000">
            <a:off x="16860803" y="2204209"/>
            <a:ext cx="640556" cy="640556"/>
            <a:chOff x="0" y="0"/>
            <a:chExt cx="854075" cy="8540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8100" y="38100"/>
              <a:ext cx="777875" cy="777875"/>
            </a:xfrm>
            <a:custGeom>
              <a:avLst/>
              <a:gdLst/>
              <a:ahLst/>
              <a:cxnLst/>
              <a:rect r="r" b="b" t="t" l="l"/>
              <a:pathLst>
                <a:path h="777875" w="777875">
                  <a:moveTo>
                    <a:pt x="0" y="0"/>
                  </a:moveTo>
                  <a:lnTo>
                    <a:pt x="777875" y="0"/>
                  </a:lnTo>
                  <a:lnTo>
                    <a:pt x="777875" y="777875"/>
                  </a:lnTo>
                  <a:lnTo>
                    <a:pt x="0" y="777875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38100" y="0"/>
              <a:ext cx="815975" cy="854075"/>
            </a:xfrm>
            <a:custGeom>
              <a:avLst/>
              <a:gdLst/>
              <a:ahLst/>
              <a:cxnLst/>
              <a:rect r="r" b="b" t="t" l="l"/>
              <a:pathLst>
                <a:path h="854075" w="815975">
                  <a:moveTo>
                    <a:pt x="0" y="0"/>
                  </a:moveTo>
                  <a:lnTo>
                    <a:pt x="777875" y="0"/>
                  </a:lnTo>
                  <a:cubicBezTo>
                    <a:pt x="798957" y="0"/>
                    <a:pt x="815975" y="17018"/>
                    <a:pt x="815975" y="38100"/>
                  </a:cubicBezTo>
                  <a:lnTo>
                    <a:pt x="815975" y="815975"/>
                  </a:lnTo>
                  <a:cubicBezTo>
                    <a:pt x="815975" y="837057"/>
                    <a:pt x="798957" y="854075"/>
                    <a:pt x="777875" y="854075"/>
                  </a:cubicBezTo>
                  <a:lnTo>
                    <a:pt x="0" y="854075"/>
                  </a:lnTo>
                  <a:lnTo>
                    <a:pt x="0" y="777875"/>
                  </a:lnTo>
                  <a:lnTo>
                    <a:pt x="777875" y="777875"/>
                  </a:lnTo>
                  <a:lnTo>
                    <a:pt x="777875" y="815975"/>
                  </a:lnTo>
                  <a:lnTo>
                    <a:pt x="739775" y="815975"/>
                  </a:lnTo>
                  <a:lnTo>
                    <a:pt x="739775" y="38100"/>
                  </a:lnTo>
                  <a:lnTo>
                    <a:pt x="777875" y="38100"/>
                  </a:lnTo>
                  <a:lnTo>
                    <a:pt x="777875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61962" y="461962"/>
            <a:ext cx="2600325" cy="600075"/>
            <a:chOff x="0" y="0"/>
            <a:chExt cx="3467100" cy="8001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800"/>
              <a:ext cx="3365500" cy="698500"/>
            </a:xfrm>
            <a:custGeom>
              <a:avLst/>
              <a:gdLst/>
              <a:ahLst/>
              <a:cxnLst/>
              <a:rect r="r" b="b" t="t" l="l"/>
              <a:pathLst>
                <a:path h="698500" w="3365500">
                  <a:moveTo>
                    <a:pt x="0" y="0"/>
                  </a:moveTo>
                  <a:lnTo>
                    <a:pt x="3365500" y="0"/>
                  </a:lnTo>
                  <a:lnTo>
                    <a:pt x="3365500" y="698500"/>
                  </a:lnTo>
                  <a:lnTo>
                    <a:pt x="0" y="6985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0800" y="0"/>
              <a:ext cx="3416300" cy="800100"/>
            </a:xfrm>
            <a:custGeom>
              <a:avLst/>
              <a:gdLst/>
              <a:ahLst/>
              <a:cxnLst/>
              <a:rect r="r" b="b" t="t" l="l"/>
              <a:pathLst>
                <a:path h="800100" w="3416300">
                  <a:moveTo>
                    <a:pt x="0" y="0"/>
                  </a:moveTo>
                  <a:lnTo>
                    <a:pt x="3365500" y="0"/>
                  </a:lnTo>
                  <a:cubicBezTo>
                    <a:pt x="3393567" y="0"/>
                    <a:pt x="3416300" y="22733"/>
                    <a:pt x="3416300" y="50800"/>
                  </a:cubicBezTo>
                  <a:lnTo>
                    <a:pt x="3416300" y="749300"/>
                  </a:lnTo>
                  <a:cubicBezTo>
                    <a:pt x="3416300" y="777367"/>
                    <a:pt x="3393567" y="800100"/>
                    <a:pt x="3365500" y="800100"/>
                  </a:cubicBezTo>
                  <a:lnTo>
                    <a:pt x="0" y="800100"/>
                  </a:lnTo>
                  <a:lnTo>
                    <a:pt x="0" y="698500"/>
                  </a:lnTo>
                  <a:lnTo>
                    <a:pt x="3365500" y="698500"/>
                  </a:lnTo>
                  <a:lnTo>
                    <a:pt x="3365500" y="749300"/>
                  </a:lnTo>
                  <a:lnTo>
                    <a:pt x="3314700" y="749300"/>
                  </a:lnTo>
                  <a:lnTo>
                    <a:pt x="3314700" y="50800"/>
                  </a:lnTo>
                  <a:lnTo>
                    <a:pt x="3365500" y="50800"/>
                  </a:lnTo>
                  <a:lnTo>
                    <a:pt x="3365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76250" y="476250"/>
            <a:ext cx="2571750" cy="476250"/>
            <a:chOff x="0" y="0"/>
            <a:chExt cx="3429000" cy="635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29000" cy="635000"/>
            </a:xfrm>
            <a:custGeom>
              <a:avLst/>
              <a:gdLst/>
              <a:ahLst/>
              <a:cxnLst/>
              <a:rect r="r" b="b" t="t" l="l"/>
              <a:pathLst>
                <a:path h="635000" w="3429000">
                  <a:moveTo>
                    <a:pt x="0" y="0"/>
                  </a:moveTo>
                  <a:lnTo>
                    <a:pt x="3429000" y="0"/>
                  </a:lnTo>
                  <a:lnTo>
                    <a:pt x="3429000" y="635000"/>
                  </a:lnTo>
                  <a:lnTo>
                    <a:pt x="0" y="635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19" r="0" b="-5521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3429000" cy="701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50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FUNCTIONAL MODULES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76250" y="1190625"/>
            <a:ext cx="17621250" cy="571500"/>
            <a:chOff x="0" y="0"/>
            <a:chExt cx="23495000" cy="762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95000" cy="762000"/>
            </a:xfrm>
            <a:custGeom>
              <a:avLst/>
              <a:gdLst/>
              <a:ahLst/>
              <a:cxnLst/>
              <a:rect r="r" b="b" t="t" l="l"/>
              <a:pathLst>
                <a:path h="762000" w="23495000">
                  <a:moveTo>
                    <a:pt x="0" y="0"/>
                  </a:moveTo>
                  <a:lnTo>
                    <a:pt x="23495000" y="0"/>
                  </a:lnTo>
                  <a:lnTo>
                    <a:pt x="23495000" y="762000"/>
                  </a:lnTo>
                  <a:lnTo>
                    <a:pt x="0" y="762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0788" r="0" b="-55078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76200"/>
              <a:ext cx="23495000" cy="685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45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Modules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61962" y="1938338"/>
            <a:ext cx="5648325" cy="3457575"/>
            <a:chOff x="0" y="0"/>
            <a:chExt cx="7531100" cy="4610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50800" y="50800"/>
              <a:ext cx="7429500" cy="4508500"/>
            </a:xfrm>
            <a:custGeom>
              <a:avLst/>
              <a:gdLst/>
              <a:ahLst/>
              <a:cxnLst/>
              <a:rect r="r" b="b" t="t" l="l"/>
              <a:pathLst>
                <a:path h="4508500" w="7429500">
                  <a:moveTo>
                    <a:pt x="0" y="0"/>
                  </a:moveTo>
                  <a:lnTo>
                    <a:pt x="7429500" y="0"/>
                  </a:lnTo>
                  <a:lnTo>
                    <a:pt x="7429500" y="4508500"/>
                  </a:lnTo>
                  <a:lnTo>
                    <a:pt x="0" y="45085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0800" y="0"/>
              <a:ext cx="74803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480300">
                  <a:moveTo>
                    <a:pt x="0" y="0"/>
                  </a:moveTo>
                  <a:lnTo>
                    <a:pt x="7429500" y="0"/>
                  </a:lnTo>
                  <a:cubicBezTo>
                    <a:pt x="7457567" y="0"/>
                    <a:pt x="7480300" y="22733"/>
                    <a:pt x="7480300" y="50800"/>
                  </a:cubicBezTo>
                  <a:lnTo>
                    <a:pt x="7480300" y="4559300"/>
                  </a:lnTo>
                  <a:cubicBezTo>
                    <a:pt x="7480300" y="4587367"/>
                    <a:pt x="7457567" y="4610100"/>
                    <a:pt x="7429500" y="4610100"/>
                  </a:cubicBezTo>
                  <a:lnTo>
                    <a:pt x="0" y="4610100"/>
                  </a:lnTo>
                  <a:lnTo>
                    <a:pt x="0" y="4508500"/>
                  </a:lnTo>
                  <a:lnTo>
                    <a:pt x="7429500" y="4508500"/>
                  </a:lnTo>
                  <a:lnTo>
                    <a:pt x="7429500" y="4559300"/>
                  </a:lnTo>
                  <a:lnTo>
                    <a:pt x="7378700" y="4559300"/>
                  </a:lnTo>
                  <a:lnTo>
                    <a:pt x="7378700" y="50800"/>
                  </a:lnTo>
                  <a:lnTo>
                    <a:pt x="7429500" y="50800"/>
                  </a:lnTo>
                  <a:lnTo>
                    <a:pt x="7429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2795588" y="2224088"/>
            <a:ext cx="981075" cy="981075"/>
            <a:chOff x="0" y="0"/>
            <a:chExt cx="1308100" cy="1308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800" y="50800"/>
              <a:ext cx="12065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206500">
                  <a:moveTo>
                    <a:pt x="0" y="0"/>
                  </a:moveTo>
                  <a:lnTo>
                    <a:pt x="1206500" y="0"/>
                  </a:lnTo>
                  <a:lnTo>
                    <a:pt x="1206500" y="1206500"/>
                  </a:lnTo>
                  <a:lnTo>
                    <a:pt x="0" y="12065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50800" y="0"/>
              <a:ext cx="12573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257300">
                  <a:moveTo>
                    <a:pt x="0" y="0"/>
                  </a:moveTo>
                  <a:lnTo>
                    <a:pt x="1206500" y="0"/>
                  </a:lnTo>
                  <a:cubicBezTo>
                    <a:pt x="1234567" y="0"/>
                    <a:pt x="1257300" y="22733"/>
                    <a:pt x="1257300" y="50800"/>
                  </a:cubicBezTo>
                  <a:lnTo>
                    <a:pt x="1257300" y="1257300"/>
                  </a:lnTo>
                  <a:cubicBezTo>
                    <a:pt x="1257300" y="1285367"/>
                    <a:pt x="1234567" y="1308100"/>
                    <a:pt x="1206500" y="1308100"/>
                  </a:cubicBezTo>
                  <a:lnTo>
                    <a:pt x="0" y="1308100"/>
                  </a:lnTo>
                  <a:lnTo>
                    <a:pt x="0" y="1206500"/>
                  </a:lnTo>
                  <a:lnTo>
                    <a:pt x="1206500" y="1206500"/>
                  </a:lnTo>
                  <a:lnTo>
                    <a:pt x="1206500" y="1257300"/>
                  </a:lnTo>
                  <a:lnTo>
                    <a:pt x="1155700" y="1257300"/>
                  </a:lnTo>
                  <a:lnTo>
                    <a:pt x="1155700" y="50800"/>
                  </a:lnTo>
                  <a:lnTo>
                    <a:pt x="1206500" y="50800"/>
                  </a:lnTo>
                  <a:lnTo>
                    <a:pt x="120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3110513" y="2536031"/>
            <a:ext cx="357187" cy="357188"/>
          </a:xfrm>
          <a:custGeom>
            <a:avLst/>
            <a:gdLst/>
            <a:ahLst/>
            <a:cxnLst/>
            <a:rect r="r" b="b" t="t" l="l"/>
            <a:pathLst>
              <a:path h="357188" w="357187">
                <a:moveTo>
                  <a:pt x="0" y="0"/>
                </a:moveTo>
                <a:lnTo>
                  <a:pt x="357187" y="0"/>
                </a:lnTo>
                <a:lnTo>
                  <a:pt x="357187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940564" y="3333750"/>
            <a:ext cx="2409313" cy="376876"/>
            <a:chOff x="0" y="0"/>
            <a:chExt cx="2841625" cy="4445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41626" cy="444500"/>
            </a:xfrm>
            <a:custGeom>
              <a:avLst/>
              <a:gdLst/>
              <a:ahLst/>
              <a:cxnLst/>
              <a:rect r="r" b="b" t="t" l="l"/>
              <a:pathLst>
                <a:path h="444500" w="2841626">
                  <a:moveTo>
                    <a:pt x="0" y="0"/>
                  </a:moveTo>
                  <a:lnTo>
                    <a:pt x="2841626" y="0"/>
                  </a:lnTo>
                  <a:lnTo>
                    <a:pt x="2841626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565" r="0" b="-7456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76200"/>
              <a:ext cx="2841625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Dashboard Module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62000" y="3857625"/>
            <a:ext cx="5143500" cy="619125"/>
            <a:chOff x="0" y="0"/>
            <a:chExt cx="6858000" cy="825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58000" cy="825500"/>
            </a:xfrm>
            <a:custGeom>
              <a:avLst/>
              <a:gdLst/>
              <a:ahLst/>
              <a:cxnLst/>
              <a:rect r="r" b="b" t="t" l="l"/>
              <a:pathLst>
                <a:path h="8255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825500"/>
                  </a:lnTo>
                  <a:lnTo>
                    <a:pt x="0" y="825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85725"/>
              <a:ext cx="6858000" cy="911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Centralized </a:t>
              </a:r>
              <a:r>
                <a:rPr lang="en-US" sz="15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overview panel</a:t>
              </a: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KPIs, delivery statistics, and system health monitoring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54856" y="4612481"/>
            <a:ext cx="5062538" cy="490538"/>
            <a:chOff x="0" y="0"/>
            <a:chExt cx="6750050" cy="65405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25400" y="25400"/>
              <a:ext cx="6699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603250"/>
                  </a:lnTo>
                  <a:lnTo>
                    <a:pt x="0" y="60325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400" y="0"/>
              <a:ext cx="6724650" cy="654050"/>
            </a:xfrm>
            <a:custGeom>
              <a:avLst/>
              <a:gdLst/>
              <a:ahLst/>
              <a:cxnLst/>
              <a:rect r="r" b="b" t="t" l="l"/>
              <a:pathLst>
                <a:path h="654050" w="6724650">
                  <a:moveTo>
                    <a:pt x="0" y="0"/>
                  </a:moveTo>
                  <a:lnTo>
                    <a:pt x="6699250" y="0"/>
                  </a:lnTo>
                  <a:cubicBezTo>
                    <a:pt x="6713220" y="0"/>
                    <a:pt x="6724650" y="11430"/>
                    <a:pt x="6724650" y="25400"/>
                  </a:cubicBezTo>
                  <a:lnTo>
                    <a:pt x="6724650" y="628650"/>
                  </a:lnTo>
                  <a:cubicBezTo>
                    <a:pt x="6724650" y="642620"/>
                    <a:pt x="6713220" y="654050"/>
                    <a:pt x="6699250" y="654050"/>
                  </a:cubicBezTo>
                  <a:lnTo>
                    <a:pt x="0" y="654050"/>
                  </a:lnTo>
                  <a:lnTo>
                    <a:pt x="0" y="603250"/>
                  </a:lnTo>
                  <a:lnTo>
                    <a:pt x="6699250" y="603250"/>
                  </a:lnTo>
                  <a:lnTo>
                    <a:pt x="6699250" y="628650"/>
                  </a:lnTo>
                  <a:lnTo>
                    <a:pt x="6673850" y="628650"/>
                  </a:lnTo>
                  <a:lnTo>
                    <a:pt x="6673850" y="25400"/>
                  </a:lnTo>
                  <a:lnTo>
                    <a:pt x="6699250" y="25400"/>
                  </a:lnTo>
                  <a:lnTo>
                    <a:pt x="6699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2453621" y="4786312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7" y="0"/>
                </a:lnTo>
                <a:lnTo>
                  <a:pt x="166687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083469" y="4738688"/>
            <a:ext cx="4649391" cy="238125"/>
            <a:chOff x="0" y="0"/>
            <a:chExt cx="6199188" cy="317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99188" cy="317500"/>
            </a:xfrm>
            <a:custGeom>
              <a:avLst/>
              <a:gdLst/>
              <a:ahLst/>
              <a:cxnLst/>
              <a:rect r="r" b="b" t="t" l="l"/>
              <a:pathLst>
                <a:path h="317500" w="6199188">
                  <a:moveTo>
                    <a:pt x="0" y="0"/>
                  </a:moveTo>
                  <a:lnTo>
                    <a:pt x="6199188" y="0"/>
                  </a:lnTo>
                  <a:lnTo>
                    <a:pt x="6199188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445" r="0" b="-33044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6199188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Analytics &amp; Metrics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6319838" y="1938338"/>
            <a:ext cx="5648325" cy="3457575"/>
            <a:chOff x="0" y="0"/>
            <a:chExt cx="7531100" cy="46101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50800" y="50800"/>
              <a:ext cx="7429500" cy="4508500"/>
            </a:xfrm>
            <a:custGeom>
              <a:avLst/>
              <a:gdLst/>
              <a:ahLst/>
              <a:cxnLst/>
              <a:rect r="r" b="b" t="t" l="l"/>
              <a:pathLst>
                <a:path h="4508500" w="7429500">
                  <a:moveTo>
                    <a:pt x="0" y="0"/>
                  </a:moveTo>
                  <a:lnTo>
                    <a:pt x="7429500" y="0"/>
                  </a:lnTo>
                  <a:lnTo>
                    <a:pt x="7429500" y="4508500"/>
                  </a:lnTo>
                  <a:lnTo>
                    <a:pt x="0" y="45085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50800" y="0"/>
              <a:ext cx="74803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480300">
                  <a:moveTo>
                    <a:pt x="0" y="0"/>
                  </a:moveTo>
                  <a:lnTo>
                    <a:pt x="7429500" y="0"/>
                  </a:lnTo>
                  <a:cubicBezTo>
                    <a:pt x="7457567" y="0"/>
                    <a:pt x="7480300" y="22733"/>
                    <a:pt x="7480300" y="50800"/>
                  </a:cubicBezTo>
                  <a:lnTo>
                    <a:pt x="7480300" y="4559300"/>
                  </a:lnTo>
                  <a:cubicBezTo>
                    <a:pt x="7480300" y="4587367"/>
                    <a:pt x="7457567" y="4610100"/>
                    <a:pt x="7429500" y="4610100"/>
                  </a:cubicBezTo>
                  <a:lnTo>
                    <a:pt x="0" y="4610100"/>
                  </a:lnTo>
                  <a:lnTo>
                    <a:pt x="0" y="4508500"/>
                  </a:lnTo>
                  <a:lnTo>
                    <a:pt x="7429500" y="4508500"/>
                  </a:lnTo>
                  <a:lnTo>
                    <a:pt x="7429500" y="4559300"/>
                  </a:lnTo>
                  <a:lnTo>
                    <a:pt x="7378700" y="4559300"/>
                  </a:lnTo>
                  <a:lnTo>
                    <a:pt x="7378700" y="50800"/>
                  </a:lnTo>
                  <a:lnTo>
                    <a:pt x="7429500" y="50800"/>
                  </a:lnTo>
                  <a:lnTo>
                    <a:pt x="7429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653462" y="2224088"/>
            <a:ext cx="981075" cy="981075"/>
            <a:chOff x="0" y="0"/>
            <a:chExt cx="1308100" cy="13081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800" y="50800"/>
              <a:ext cx="12065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206500">
                  <a:moveTo>
                    <a:pt x="0" y="0"/>
                  </a:moveTo>
                  <a:lnTo>
                    <a:pt x="1206500" y="0"/>
                  </a:lnTo>
                  <a:lnTo>
                    <a:pt x="1206500" y="1206500"/>
                  </a:lnTo>
                  <a:lnTo>
                    <a:pt x="0" y="12065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50800" y="0"/>
              <a:ext cx="12573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257300">
                  <a:moveTo>
                    <a:pt x="0" y="0"/>
                  </a:moveTo>
                  <a:lnTo>
                    <a:pt x="1206500" y="0"/>
                  </a:lnTo>
                  <a:cubicBezTo>
                    <a:pt x="1234567" y="0"/>
                    <a:pt x="1257300" y="22733"/>
                    <a:pt x="1257300" y="50800"/>
                  </a:cubicBezTo>
                  <a:lnTo>
                    <a:pt x="1257300" y="1257300"/>
                  </a:lnTo>
                  <a:cubicBezTo>
                    <a:pt x="1257300" y="1285367"/>
                    <a:pt x="1234567" y="1308100"/>
                    <a:pt x="1206500" y="1308100"/>
                  </a:cubicBezTo>
                  <a:lnTo>
                    <a:pt x="0" y="1308100"/>
                  </a:lnTo>
                  <a:lnTo>
                    <a:pt x="0" y="1206500"/>
                  </a:lnTo>
                  <a:lnTo>
                    <a:pt x="1206500" y="1206500"/>
                  </a:lnTo>
                  <a:lnTo>
                    <a:pt x="1206500" y="1257300"/>
                  </a:lnTo>
                  <a:lnTo>
                    <a:pt x="1155700" y="1257300"/>
                  </a:lnTo>
                  <a:lnTo>
                    <a:pt x="1155700" y="50800"/>
                  </a:lnTo>
                  <a:lnTo>
                    <a:pt x="1206500" y="50800"/>
                  </a:lnTo>
                  <a:lnTo>
                    <a:pt x="120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8968388" y="2536031"/>
            <a:ext cx="357188" cy="357188"/>
          </a:xfrm>
          <a:custGeom>
            <a:avLst/>
            <a:gdLst/>
            <a:ahLst/>
            <a:cxnLst/>
            <a:rect r="r" b="b" t="t" l="l"/>
            <a:pathLst>
              <a:path h="357188" w="357188">
                <a:moveTo>
                  <a:pt x="0" y="0"/>
                </a:moveTo>
                <a:lnTo>
                  <a:pt x="357187" y="0"/>
                </a:lnTo>
                <a:lnTo>
                  <a:pt x="357187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7645860" y="3333750"/>
            <a:ext cx="3391882" cy="376876"/>
            <a:chOff x="0" y="0"/>
            <a:chExt cx="4000500" cy="4445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000500" cy="444500"/>
            </a:xfrm>
            <a:custGeom>
              <a:avLst/>
              <a:gdLst/>
              <a:ahLst/>
              <a:cxnLst/>
              <a:rect r="r" b="b" t="t" l="l"/>
              <a:pathLst>
                <a:path h="444500" w="4000500">
                  <a:moveTo>
                    <a:pt x="0" y="0"/>
                  </a:moveTo>
                  <a:lnTo>
                    <a:pt x="4000500" y="0"/>
                  </a:lnTo>
                  <a:lnTo>
                    <a:pt x="4000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4000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Route Optimization Module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619875" y="3857625"/>
            <a:ext cx="5143500" cy="619125"/>
            <a:chOff x="0" y="0"/>
            <a:chExt cx="6858000" cy="8255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858000" cy="825500"/>
            </a:xfrm>
            <a:custGeom>
              <a:avLst/>
              <a:gdLst/>
              <a:ahLst/>
              <a:cxnLst/>
              <a:rect r="r" b="b" t="t" l="l"/>
              <a:pathLst>
                <a:path h="8255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825500"/>
                  </a:lnTo>
                  <a:lnTo>
                    <a:pt x="0" y="825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6858000" cy="911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Dijkstra algorithm </a:t>
              </a:r>
              <a:r>
                <a:rPr lang="en-US" sz="15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path calculation</a:t>
              </a: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graph visualization and route comparison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612731" y="4612481"/>
            <a:ext cx="5062538" cy="490538"/>
            <a:chOff x="0" y="0"/>
            <a:chExt cx="6750050" cy="65405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25400" y="25400"/>
              <a:ext cx="6699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603250"/>
                  </a:lnTo>
                  <a:lnTo>
                    <a:pt x="0" y="60325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5400" y="0"/>
              <a:ext cx="6724650" cy="654050"/>
            </a:xfrm>
            <a:custGeom>
              <a:avLst/>
              <a:gdLst/>
              <a:ahLst/>
              <a:cxnLst/>
              <a:rect r="r" b="b" t="t" l="l"/>
              <a:pathLst>
                <a:path h="654050" w="6724650">
                  <a:moveTo>
                    <a:pt x="0" y="0"/>
                  </a:moveTo>
                  <a:lnTo>
                    <a:pt x="6699250" y="0"/>
                  </a:lnTo>
                  <a:cubicBezTo>
                    <a:pt x="6713220" y="0"/>
                    <a:pt x="6724650" y="11430"/>
                    <a:pt x="6724650" y="25400"/>
                  </a:cubicBezTo>
                  <a:lnTo>
                    <a:pt x="6724650" y="628650"/>
                  </a:lnTo>
                  <a:cubicBezTo>
                    <a:pt x="6724650" y="642620"/>
                    <a:pt x="6713220" y="654050"/>
                    <a:pt x="6699250" y="654050"/>
                  </a:cubicBezTo>
                  <a:lnTo>
                    <a:pt x="0" y="654050"/>
                  </a:lnTo>
                  <a:lnTo>
                    <a:pt x="0" y="603250"/>
                  </a:lnTo>
                  <a:lnTo>
                    <a:pt x="6699250" y="603250"/>
                  </a:lnTo>
                  <a:lnTo>
                    <a:pt x="6699250" y="628650"/>
                  </a:lnTo>
                  <a:lnTo>
                    <a:pt x="6673850" y="628650"/>
                  </a:lnTo>
                  <a:lnTo>
                    <a:pt x="6673850" y="25400"/>
                  </a:lnTo>
                  <a:lnTo>
                    <a:pt x="6699250" y="25400"/>
                  </a:lnTo>
                  <a:lnTo>
                    <a:pt x="6699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8255127" y="4786312"/>
            <a:ext cx="166688" cy="166688"/>
          </a:xfrm>
          <a:custGeom>
            <a:avLst/>
            <a:gdLst/>
            <a:ahLst/>
            <a:cxnLst/>
            <a:rect r="r" b="b" t="t" l="l"/>
            <a:pathLst>
              <a:path h="166688" w="166688">
                <a:moveTo>
                  <a:pt x="0" y="0"/>
                </a:moveTo>
                <a:lnTo>
                  <a:pt x="166687" y="0"/>
                </a:lnTo>
                <a:lnTo>
                  <a:pt x="166687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6941344" y="4738688"/>
            <a:ext cx="4649391" cy="238125"/>
            <a:chOff x="0" y="0"/>
            <a:chExt cx="6199188" cy="3175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99188" cy="317500"/>
            </a:xfrm>
            <a:custGeom>
              <a:avLst/>
              <a:gdLst/>
              <a:ahLst/>
              <a:cxnLst/>
              <a:rect r="r" b="b" t="t" l="l"/>
              <a:pathLst>
                <a:path h="317500" w="6199188">
                  <a:moveTo>
                    <a:pt x="0" y="0"/>
                  </a:moveTo>
                  <a:lnTo>
                    <a:pt x="6199188" y="0"/>
                  </a:lnTo>
                  <a:lnTo>
                    <a:pt x="6199188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445" r="0" b="-33044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6199188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DAA Implementation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177712" y="1938338"/>
            <a:ext cx="5648325" cy="3457575"/>
            <a:chOff x="0" y="0"/>
            <a:chExt cx="7531100" cy="46101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50800" y="50800"/>
              <a:ext cx="7429500" cy="4508500"/>
            </a:xfrm>
            <a:custGeom>
              <a:avLst/>
              <a:gdLst/>
              <a:ahLst/>
              <a:cxnLst/>
              <a:rect r="r" b="b" t="t" l="l"/>
              <a:pathLst>
                <a:path h="4508500" w="7429500">
                  <a:moveTo>
                    <a:pt x="0" y="0"/>
                  </a:moveTo>
                  <a:lnTo>
                    <a:pt x="7429500" y="0"/>
                  </a:lnTo>
                  <a:lnTo>
                    <a:pt x="7429500" y="4508500"/>
                  </a:lnTo>
                  <a:lnTo>
                    <a:pt x="0" y="45085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50800" y="0"/>
              <a:ext cx="74803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480300">
                  <a:moveTo>
                    <a:pt x="0" y="0"/>
                  </a:moveTo>
                  <a:lnTo>
                    <a:pt x="7429500" y="0"/>
                  </a:lnTo>
                  <a:cubicBezTo>
                    <a:pt x="7457567" y="0"/>
                    <a:pt x="7480300" y="22733"/>
                    <a:pt x="7480300" y="50800"/>
                  </a:cubicBezTo>
                  <a:lnTo>
                    <a:pt x="7480300" y="4559300"/>
                  </a:lnTo>
                  <a:cubicBezTo>
                    <a:pt x="7480300" y="4587367"/>
                    <a:pt x="7457567" y="4610100"/>
                    <a:pt x="7429500" y="4610100"/>
                  </a:cubicBezTo>
                  <a:lnTo>
                    <a:pt x="0" y="4610100"/>
                  </a:lnTo>
                  <a:lnTo>
                    <a:pt x="0" y="4508500"/>
                  </a:lnTo>
                  <a:lnTo>
                    <a:pt x="7429500" y="4508500"/>
                  </a:lnTo>
                  <a:lnTo>
                    <a:pt x="7429500" y="4559300"/>
                  </a:lnTo>
                  <a:lnTo>
                    <a:pt x="7378700" y="4559300"/>
                  </a:lnTo>
                  <a:lnTo>
                    <a:pt x="7378700" y="50800"/>
                  </a:lnTo>
                  <a:lnTo>
                    <a:pt x="7429500" y="50800"/>
                  </a:lnTo>
                  <a:lnTo>
                    <a:pt x="7429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4511338" y="2224088"/>
            <a:ext cx="981075" cy="981075"/>
            <a:chOff x="0" y="0"/>
            <a:chExt cx="1308100" cy="13081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50800" y="50800"/>
              <a:ext cx="12065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206500">
                  <a:moveTo>
                    <a:pt x="0" y="0"/>
                  </a:moveTo>
                  <a:lnTo>
                    <a:pt x="1206500" y="0"/>
                  </a:lnTo>
                  <a:lnTo>
                    <a:pt x="1206500" y="1206500"/>
                  </a:lnTo>
                  <a:lnTo>
                    <a:pt x="0" y="12065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50800" y="0"/>
              <a:ext cx="12573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257300">
                  <a:moveTo>
                    <a:pt x="0" y="0"/>
                  </a:moveTo>
                  <a:lnTo>
                    <a:pt x="1206500" y="0"/>
                  </a:lnTo>
                  <a:cubicBezTo>
                    <a:pt x="1234567" y="0"/>
                    <a:pt x="1257300" y="22733"/>
                    <a:pt x="1257300" y="50800"/>
                  </a:cubicBezTo>
                  <a:lnTo>
                    <a:pt x="1257300" y="1257300"/>
                  </a:lnTo>
                  <a:cubicBezTo>
                    <a:pt x="1257300" y="1285367"/>
                    <a:pt x="1234567" y="1308100"/>
                    <a:pt x="1206500" y="1308100"/>
                  </a:cubicBezTo>
                  <a:lnTo>
                    <a:pt x="0" y="1308100"/>
                  </a:lnTo>
                  <a:lnTo>
                    <a:pt x="0" y="1206500"/>
                  </a:lnTo>
                  <a:lnTo>
                    <a:pt x="1206500" y="1206500"/>
                  </a:lnTo>
                  <a:lnTo>
                    <a:pt x="1206500" y="1257300"/>
                  </a:lnTo>
                  <a:lnTo>
                    <a:pt x="1155700" y="1257300"/>
                  </a:lnTo>
                  <a:lnTo>
                    <a:pt x="1155700" y="50800"/>
                  </a:lnTo>
                  <a:lnTo>
                    <a:pt x="1206500" y="50800"/>
                  </a:lnTo>
                  <a:lnTo>
                    <a:pt x="120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14826263" y="2536031"/>
            <a:ext cx="357188" cy="357188"/>
          </a:xfrm>
          <a:custGeom>
            <a:avLst/>
            <a:gdLst/>
            <a:ahLst/>
            <a:cxnLst/>
            <a:rect r="r" b="b" t="t" l="l"/>
            <a:pathLst>
              <a:path h="357188" w="357188">
                <a:moveTo>
                  <a:pt x="0" y="0"/>
                </a:moveTo>
                <a:lnTo>
                  <a:pt x="357187" y="0"/>
                </a:lnTo>
                <a:lnTo>
                  <a:pt x="357187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3360489" y="3333750"/>
            <a:ext cx="3714918" cy="376876"/>
            <a:chOff x="0" y="0"/>
            <a:chExt cx="4381500" cy="4445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381500" cy="444500"/>
            </a:xfrm>
            <a:custGeom>
              <a:avLst/>
              <a:gdLst/>
              <a:ahLst/>
              <a:cxnLst/>
              <a:rect r="r" b="b" t="t" l="l"/>
              <a:pathLst>
                <a:path h="444500" w="4381500">
                  <a:moveTo>
                    <a:pt x="0" y="0"/>
                  </a:moveTo>
                  <a:lnTo>
                    <a:pt x="4381500" y="0"/>
                  </a:lnTo>
                  <a:lnTo>
                    <a:pt x="4381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066" r="0" b="-14206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4381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Delivery Management Module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477750" y="3857625"/>
            <a:ext cx="5143500" cy="619125"/>
            <a:chOff x="0" y="0"/>
            <a:chExt cx="6858000" cy="8255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58000" cy="825500"/>
            </a:xfrm>
            <a:custGeom>
              <a:avLst/>
              <a:gdLst/>
              <a:ahLst/>
              <a:cxnLst/>
              <a:rect r="r" b="b" t="t" l="l"/>
              <a:pathLst>
                <a:path h="8255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825500"/>
                  </a:lnTo>
                  <a:lnTo>
                    <a:pt x="0" y="825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85725"/>
              <a:ext cx="6858000" cy="911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Complete </a:t>
              </a:r>
              <a:r>
                <a:rPr lang="en-US" sz="15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shipment lifecycle</a:t>
              </a: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management from creation to delivery confirmation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470606" y="4612481"/>
            <a:ext cx="5062538" cy="490538"/>
            <a:chOff x="0" y="0"/>
            <a:chExt cx="6750050" cy="65405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25400" y="25400"/>
              <a:ext cx="6699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603250"/>
                  </a:lnTo>
                  <a:lnTo>
                    <a:pt x="0" y="60325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25400" y="0"/>
              <a:ext cx="6724650" cy="654050"/>
            </a:xfrm>
            <a:custGeom>
              <a:avLst/>
              <a:gdLst/>
              <a:ahLst/>
              <a:cxnLst/>
              <a:rect r="r" b="b" t="t" l="l"/>
              <a:pathLst>
                <a:path h="654050" w="6724650">
                  <a:moveTo>
                    <a:pt x="0" y="0"/>
                  </a:moveTo>
                  <a:lnTo>
                    <a:pt x="6699250" y="0"/>
                  </a:lnTo>
                  <a:cubicBezTo>
                    <a:pt x="6713220" y="0"/>
                    <a:pt x="6724650" y="11430"/>
                    <a:pt x="6724650" y="25400"/>
                  </a:cubicBezTo>
                  <a:lnTo>
                    <a:pt x="6724650" y="628650"/>
                  </a:lnTo>
                  <a:cubicBezTo>
                    <a:pt x="6724650" y="642620"/>
                    <a:pt x="6713220" y="654050"/>
                    <a:pt x="6699250" y="654050"/>
                  </a:cubicBezTo>
                  <a:lnTo>
                    <a:pt x="0" y="654050"/>
                  </a:lnTo>
                  <a:lnTo>
                    <a:pt x="0" y="603250"/>
                  </a:lnTo>
                  <a:lnTo>
                    <a:pt x="6699250" y="603250"/>
                  </a:lnTo>
                  <a:lnTo>
                    <a:pt x="6699250" y="628650"/>
                  </a:lnTo>
                  <a:lnTo>
                    <a:pt x="6673850" y="628650"/>
                  </a:lnTo>
                  <a:lnTo>
                    <a:pt x="6673850" y="25400"/>
                  </a:lnTo>
                  <a:lnTo>
                    <a:pt x="6699250" y="25400"/>
                  </a:lnTo>
                  <a:lnTo>
                    <a:pt x="6699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14208252" y="4786312"/>
            <a:ext cx="208359" cy="166688"/>
          </a:xfrm>
          <a:custGeom>
            <a:avLst/>
            <a:gdLst/>
            <a:ahLst/>
            <a:cxnLst/>
            <a:rect r="r" b="b" t="t" l="l"/>
            <a:pathLst>
              <a:path h="166688" w="208359">
                <a:moveTo>
                  <a:pt x="0" y="0"/>
                </a:moveTo>
                <a:lnTo>
                  <a:pt x="208359" y="0"/>
                </a:lnTo>
                <a:lnTo>
                  <a:pt x="208359" y="166688"/>
                </a:lnTo>
                <a:lnTo>
                  <a:pt x="0" y="1666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2799219" y="4738688"/>
            <a:ext cx="4649391" cy="238125"/>
            <a:chOff x="0" y="0"/>
            <a:chExt cx="6199188" cy="3175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199188" cy="317500"/>
            </a:xfrm>
            <a:custGeom>
              <a:avLst/>
              <a:gdLst/>
              <a:ahLst/>
              <a:cxnLst/>
              <a:rect r="r" b="b" t="t" l="l"/>
              <a:pathLst>
                <a:path h="317500" w="6199188">
                  <a:moveTo>
                    <a:pt x="0" y="0"/>
                  </a:moveTo>
                  <a:lnTo>
                    <a:pt x="6199188" y="0"/>
                  </a:lnTo>
                  <a:lnTo>
                    <a:pt x="6199188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445" r="0" b="-330445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199188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CRUD Operations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461962" y="5605462"/>
            <a:ext cx="5648325" cy="3457575"/>
            <a:chOff x="0" y="0"/>
            <a:chExt cx="7531100" cy="46101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50800" y="50800"/>
              <a:ext cx="7429500" cy="4508500"/>
            </a:xfrm>
            <a:custGeom>
              <a:avLst/>
              <a:gdLst/>
              <a:ahLst/>
              <a:cxnLst/>
              <a:rect r="r" b="b" t="t" l="l"/>
              <a:pathLst>
                <a:path h="4508500" w="7429500">
                  <a:moveTo>
                    <a:pt x="0" y="0"/>
                  </a:moveTo>
                  <a:lnTo>
                    <a:pt x="7429500" y="0"/>
                  </a:lnTo>
                  <a:lnTo>
                    <a:pt x="7429500" y="4508500"/>
                  </a:lnTo>
                  <a:lnTo>
                    <a:pt x="0" y="45085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50800" y="0"/>
              <a:ext cx="74803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480300">
                  <a:moveTo>
                    <a:pt x="0" y="0"/>
                  </a:moveTo>
                  <a:lnTo>
                    <a:pt x="7429500" y="0"/>
                  </a:lnTo>
                  <a:cubicBezTo>
                    <a:pt x="7457567" y="0"/>
                    <a:pt x="7480300" y="22733"/>
                    <a:pt x="7480300" y="50800"/>
                  </a:cubicBezTo>
                  <a:lnTo>
                    <a:pt x="7480300" y="4559300"/>
                  </a:lnTo>
                  <a:cubicBezTo>
                    <a:pt x="7480300" y="4587367"/>
                    <a:pt x="7457567" y="4610100"/>
                    <a:pt x="7429500" y="4610100"/>
                  </a:cubicBezTo>
                  <a:lnTo>
                    <a:pt x="0" y="4610100"/>
                  </a:lnTo>
                  <a:lnTo>
                    <a:pt x="0" y="4508500"/>
                  </a:lnTo>
                  <a:lnTo>
                    <a:pt x="7429500" y="4508500"/>
                  </a:lnTo>
                  <a:lnTo>
                    <a:pt x="7429500" y="4559300"/>
                  </a:lnTo>
                  <a:lnTo>
                    <a:pt x="7378700" y="4559300"/>
                  </a:lnTo>
                  <a:lnTo>
                    <a:pt x="7378700" y="50800"/>
                  </a:lnTo>
                  <a:lnTo>
                    <a:pt x="7429500" y="50800"/>
                  </a:lnTo>
                  <a:lnTo>
                    <a:pt x="7429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2795588" y="5891212"/>
            <a:ext cx="981075" cy="981075"/>
            <a:chOff x="0" y="0"/>
            <a:chExt cx="1308100" cy="13081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50800" y="50800"/>
              <a:ext cx="12065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206500">
                  <a:moveTo>
                    <a:pt x="0" y="0"/>
                  </a:moveTo>
                  <a:lnTo>
                    <a:pt x="1206500" y="0"/>
                  </a:lnTo>
                  <a:lnTo>
                    <a:pt x="1206500" y="1206500"/>
                  </a:lnTo>
                  <a:lnTo>
                    <a:pt x="0" y="120650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50800" y="0"/>
              <a:ext cx="12573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257300">
                  <a:moveTo>
                    <a:pt x="0" y="0"/>
                  </a:moveTo>
                  <a:lnTo>
                    <a:pt x="1206500" y="0"/>
                  </a:lnTo>
                  <a:cubicBezTo>
                    <a:pt x="1234567" y="0"/>
                    <a:pt x="1257300" y="22733"/>
                    <a:pt x="1257300" y="50800"/>
                  </a:cubicBezTo>
                  <a:lnTo>
                    <a:pt x="1257300" y="1257300"/>
                  </a:lnTo>
                  <a:cubicBezTo>
                    <a:pt x="1257300" y="1285367"/>
                    <a:pt x="1234567" y="1308100"/>
                    <a:pt x="1206500" y="1308100"/>
                  </a:cubicBezTo>
                  <a:lnTo>
                    <a:pt x="0" y="1308100"/>
                  </a:lnTo>
                  <a:lnTo>
                    <a:pt x="0" y="1206500"/>
                  </a:lnTo>
                  <a:lnTo>
                    <a:pt x="1206500" y="1206500"/>
                  </a:lnTo>
                  <a:lnTo>
                    <a:pt x="1206500" y="1257300"/>
                  </a:lnTo>
                  <a:lnTo>
                    <a:pt x="1155700" y="1257300"/>
                  </a:lnTo>
                  <a:lnTo>
                    <a:pt x="1155700" y="50800"/>
                  </a:lnTo>
                  <a:lnTo>
                    <a:pt x="1206500" y="50800"/>
                  </a:lnTo>
                  <a:lnTo>
                    <a:pt x="120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86" id="86"/>
          <p:cNvSpPr/>
          <p:nvPr/>
        </p:nvSpPr>
        <p:spPr>
          <a:xfrm flipH="false" flipV="false" rot="0">
            <a:off x="3088186" y="6203156"/>
            <a:ext cx="401841" cy="357188"/>
          </a:xfrm>
          <a:custGeom>
            <a:avLst/>
            <a:gdLst/>
            <a:ahLst/>
            <a:cxnLst/>
            <a:rect r="r" b="b" t="t" l="l"/>
            <a:pathLst>
              <a:path h="357188" w="401841">
                <a:moveTo>
                  <a:pt x="0" y="0"/>
                </a:moveTo>
                <a:lnTo>
                  <a:pt x="401841" y="0"/>
                </a:lnTo>
                <a:lnTo>
                  <a:pt x="401841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1496450" y="7000875"/>
            <a:ext cx="3289672" cy="365519"/>
            <a:chOff x="0" y="0"/>
            <a:chExt cx="4000500" cy="4445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000500" cy="444500"/>
            </a:xfrm>
            <a:custGeom>
              <a:avLst/>
              <a:gdLst/>
              <a:ahLst/>
              <a:cxnLst/>
              <a:rect r="r" b="b" t="t" l="l"/>
              <a:pathLst>
                <a:path h="444500" w="4000500">
                  <a:moveTo>
                    <a:pt x="0" y="0"/>
                  </a:moveTo>
                  <a:lnTo>
                    <a:pt x="4000500" y="0"/>
                  </a:lnTo>
                  <a:lnTo>
                    <a:pt x="4000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76200"/>
              <a:ext cx="4000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Truck Management Module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62000" y="7524750"/>
            <a:ext cx="5143500" cy="619125"/>
            <a:chOff x="0" y="0"/>
            <a:chExt cx="6858000" cy="82550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6858000" cy="825500"/>
            </a:xfrm>
            <a:custGeom>
              <a:avLst/>
              <a:gdLst/>
              <a:ahLst/>
              <a:cxnLst/>
              <a:rect r="r" b="b" t="t" l="l"/>
              <a:pathLst>
                <a:path h="8255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825500"/>
                  </a:lnTo>
                  <a:lnTo>
                    <a:pt x="0" y="825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85725"/>
              <a:ext cx="6858000" cy="911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Vehicle </a:t>
              </a:r>
              <a:r>
                <a:rPr lang="en-US" sz="15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fleet tracking</a:t>
              </a: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maintenance schedules, capacity monitoring, and assignment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754856" y="8279606"/>
            <a:ext cx="5062538" cy="490538"/>
            <a:chOff x="0" y="0"/>
            <a:chExt cx="6750050" cy="65405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25400" y="25400"/>
              <a:ext cx="6699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603250"/>
                  </a:lnTo>
                  <a:lnTo>
                    <a:pt x="0" y="603250"/>
                  </a:lnTo>
                </a:path>
              </a:pathLst>
            </a:custGeom>
            <a:solidFill>
              <a:srgbClr val="FF6B6B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25400" y="0"/>
              <a:ext cx="6724650" cy="654050"/>
            </a:xfrm>
            <a:custGeom>
              <a:avLst/>
              <a:gdLst/>
              <a:ahLst/>
              <a:cxnLst/>
              <a:rect r="r" b="b" t="t" l="l"/>
              <a:pathLst>
                <a:path h="654050" w="6724650">
                  <a:moveTo>
                    <a:pt x="0" y="0"/>
                  </a:moveTo>
                  <a:lnTo>
                    <a:pt x="6699250" y="0"/>
                  </a:lnTo>
                  <a:cubicBezTo>
                    <a:pt x="6713220" y="0"/>
                    <a:pt x="6724650" y="11430"/>
                    <a:pt x="6724650" y="25400"/>
                  </a:cubicBezTo>
                  <a:lnTo>
                    <a:pt x="6724650" y="628650"/>
                  </a:lnTo>
                  <a:cubicBezTo>
                    <a:pt x="6724650" y="642620"/>
                    <a:pt x="6713220" y="654050"/>
                    <a:pt x="6699250" y="654050"/>
                  </a:cubicBezTo>
                  <a:lnTo>
                    <a:pt x="0" y="654050"/>
                  </a:lnTo>
                  <a:lnTo>
                    <a:pt x="0" y="603250"/>
                  </a:lnTo>
                  <a:lnTo>
                    <a:pt x="6699250" y="603250"/>
                  </a:lnTo>
                  <a:lnTo>
                    <a:pt x="6699250" y="628650"/>
                  </a:lnTo>
                  <a:lnTo>
                    <a:pt x="6673850" y="628650"/>
                  </a:lnTo>
                  <a:lnTo>
                    <a:pt x="6673850" y="25400"/>
                  </a:lnTo>
                  <a:lnTo>
                    <a:pt x="6699250" y="25400"/>
                  </a:lnTo>
                  <a:lnTo>
                    <a:pt x="6699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96" id="96"/>
          <p:cNvSpPr/>
          <p:nvPr/>
        </p:nvSpPr>
        <p:spPr>
          <a:xfrm flipH="false" flipV="false" rot="0">
            <a:off x="2542546" y="8453438"/>
            <a:ext cx="187528" cy="166688"/>
          </a:xfrm>
          <a:custGeom>
            <a:avLst/>
            <a:gdLst/>
            <a:ahLst/>
            <a:cxnLst/>
            <a:rect r="r" b="b" t="t" l="l"/>
            <a:pathLst>
              <a:path h="166688" w="187528">
                <a:moveTo>
                  <a:pt x="0" y="0"/>
                </a:moveTo>
                <a:lnTo>
                  <a:pt x="187529" y="0"/>
                </a:lnTo>
                <a:lnTo>
                  <a:pt x="187529" y="166687"/>
                </a:lnTo>
                <a:lnTo>
                  <a:pt x="0" y="1666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1083469" y="8405812"/>
            <a:ext cx="4649391" cy="238125"/>
            <a:chOff x="0" y="0"/>
            <a:chExt cx="6199188" cy="3175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199188" cy="317500"/>
            </a:xfrm>
            <a:custGeom>
              <a:avLst/>
              <a:gdLst/>
              <a:ahLst/>
              <a:cxnLst/>
              <a:rect r="r" b="b" t="t" l="l"/>
              <a:pathLst>
                <a:path h="317500" w="6199188">
                  <a:moveTo>
                    <a:pt x="0" y="0"/>
                  </a:moveTo>
                  <a:lnTo>
                    <a:pt x="6199188" y="0"/>
                  </a:lnTo>
                  <a:lnTo>
                    <a:pt x="6199188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445" r="0" b="-330445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47625"/>
              <a:ext cx="6199188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Fleet Operations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6319838" y="5605462"/>
            <a:ext cx="5648325" cy="3457575"/>
            <a:chOff x="0" y="0"/>
            <a:chExt cx="7531100" cy="461010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50800" y="50800"/>
              <a:ext cx="7429500" cy="4508500"/>
            </a:xfrm>
            <a:custGeom>
              <a:avLst/>
              <a:gdLst/>
              <a:ahLst/>
              <a:cxnLst/>
              <a:rect r="r" b="b" t="t" l="l"/>
              <a:pathLst>
                <a:path h="4508500" w="7429500">
                  <a:moveTo>
                    <a:pt x="0" y="0"/>
                  </a:moveTo>
                  <a:lnTo>
                    <a:pt x="7429500" y="0"/>
                  </a:lnTo>
                  <a:lnTo>
                    <a:pt x="7429500" y="4508500"/>
                  </a:lnTo>
                  <a:lnTo>
                    <a:pt x="0" y="4508500"/>
                  </a:ln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50800" y="0"/>
              <a:ext cx="74803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480300">
                  <a:moveTo>
                    <a:pt x="0" y="0"/>
                  </a:moveTo>
                  <a:lnTo>
                    <a:pt x="7429500" y="0"/>
                  </a:lnTo>
                  <a:cubicBezTo>
                    <a:pt x="7457567" y="0"/>
                    <a:pt x="7480300" y="22733"/>
                    <a:pt x="7480300" y="50800"/>
                  </a:cubicBezTo>
                  <a:lnTo>
                    <a:pt x="7480300" y="4559300"/>
                  </a:lnTo>
                  <a:cubicBezTo>
                    <a:pt x="7480300" y="4587367"/>
                    <a:pt x="7457567" y="4610100"/>
                    <a:pt x="7429500" y="4610100"/>
                  </a:cubicBezTo>
                  <a:lnTo>
                    <a:pt x="0" y="4610100"/>
                  </a:lnTo>
                  <a:lnTo>
                    <a:pt x="0" y="4508500"/>
                  </a:lnTo>
                  <a:lnTo>
                    <a:pt x="7429500" y="4508500"/>
                  </a:lnTo>
                  <a:lnTo>
                    <a:pt x="7429500" y="4559300"/>
                  </a:lnTo>
                  <a:lnTo>
                    <a:pt x="7378700" y="4559300"/>
                  </a:lnTo>
                  <a:lnTo>
                    <a:pt x="7378700" y="50800"/>
                  </a:lnTo>
                  <a:lnTo>
                    <a:pt x="7429500" y="50800"/>
                  </a:lnTo>
                  <a:lnTo>
                    <a:pt x="7429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8653462" y="5891212"/>
            <a:ext cx="981075" cy="981075"/>
            <a:chOff x="0" y="0"/>
            <a:chExt cx="1308100" cy="13081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50800" y="50800"/>
              <a:ext cx="12065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206500">
                  <a:moveTo>
                    <a:pt x="0" y="0"/>
                  </a:moveTo>
                  <a:lnTo>
                    <a:pt x="1206500" y="0"/>
                  </a:lnTo>
                  <a:lnTo>
                    <a:pt x="1206500" y="1206500"/>
                  </a:lnTo>
                  <a:lnTo>
                    <a:pt x="0" y="12065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50800" y="0"/>
              <a:ext cx="12573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257300">
                  <a:moveTo>
                    <a:pt x="0" y="0"/>
                  </a:moveTo>
                  <a:lnTo>
                    <a:pt x="1206500" y="0"/>
                  </a:lnTo>
                  <a:cubicBezTo>
                    <a:pt x="1234567" y="0"/>
                    <a:pt x="1257300" y="22733"/>
                    <a:pt x="1257300" y="50800"/>
                  </a:cubicBezTo>
                  <a:lnTo>
                    <a:pt x="1257300" y="1257300"/>
                  </a:lnTo>
                  <a:cubicBezTo>
                    <a:pt x="1257300" y="1285367"/>
                    <a:pt x="1234567" y="1308100"/>
                    <a:pt x="1206500" y="1308100"/>
                  </a:cubicBezTo>
                  <a:lnTo>
                    <a:pt x="0" y="1308100"/>
                  </a:lnTo>
                  <a:lnTo>
                    <a:pt x="0" y="1206500"/>
                  </a:lnTo>
                  <a:lnTo>
                    <a:pt x="1206500" y="1206500"/>
                  </a:lnTo>
                  <a:lnTo>
                    <a:pt x="1206500" y="1257300"/>
                  </a:lnTo>
                  <a:lnTo>
                    <a:pt x="1155700" y="1257300"/>
                  </a:lnTo>
                  <a:lnTo>
                    <a:pt x="1155700" y="50800"/>
                  </a:lnTo>
                  <a:lnTo>
                    <a:pt x="1206500" y="50800"/>
                  </a:lnTo>
                  <a:lnTo>
                    <a:pt x="120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06" id="106"/>
          <p:cNvSpPr/>
          <p:nvPr/>
        </p:nvSpPr>
        <p:spPr>
          <a:xfrm flipH="false" flipV="false" rot="0">
            <a:off x="8923734" y="6203156"/>
            <a:ext cx="446484" cy="357188"/>
          </a:xfrm>
          <a:custGeom>
            <a:avLst/>
            <a:gdLst/>
            <a:ahLst/>
            <a:cxnLst/>
            <a:rect r="r" b="b" t="t" l="l"/>
            <a:pathLst>
              <a:path h="357188" w="446484">
                <a:moveTo>
                  <a:pt x="0" y="0"/>
                </a:moveTo>
                <a:lnTo>
                  <a:pt x="446485" y="0"/>
                </a:lnTo>
                <a:lnTo>
                  <a:pt x="446485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7" id="107"/>
          <p:cNvGrpSpPr/>
          <p:nvPr/>
        </p:nvGrpSpPr>
        <p:grpSpPr>
          <a:xfrm rot="0">
            <a:off x="7621305" y="6960577"/>
            <a:ext cx="3416437" cy="373673"/>
            <a:chOff x="0" y="0"/>
            <a:chExt cx="4064000" cy="4445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064000" cy="444500"/>
            </a:xfrm>
            <a:custGeom>
              <a:avLst/>
              <a:gdLst/>
              <a:ahLst/>
              <a:cxnLst/>
              <a:rect r="r" b="b" t="t" l="l"/>
              <a:pathLst>
                <a:path h="4445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76200"/>
              <a:ext cx="40640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Agent Management Module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6619875" y="7524750"/>
            <a:ext cx="5143500" cy="619125"/>
            <a:chOff x="0" y="0"/>
            <a:chExt cx="6858000" cy="8255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6858000" cy="825500"/>
            </a:xfrm>
            <a:custGeom>
              <a:avLst/>
              <a:gdLst/>
              <a:ahLst/>
              <a:cxnLst/>
              <a:rect r="r" b="b" t="t" l="l"/>
              <a:pathLst>
                <a:path h="8255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825500"/>
                  </a:lnTo>
                  <a:lnTo>
                    <a:pt x="0" y="825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85725"/>
              <a:ext cx="6858000" cy="911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Delivery </a:t>
              </a:r>
              <a:r>
                <a:rPr lang="en-US" sz="1500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personnel management</a:t>
              </a:r>
              <a:r>
                <a:rPr lang="en-US" sz="1500">
                  <a:solidFill>
                    <a:srgbClr val="2D3436"/>
                  </a:solidFill>
                  <a:latin typeface="Arimo"/>
                  <a:ea typeface="Arimo"/>
                  <a:cs typeface="Arimo"/>
                  <a:sym typeface="Arimo"/>
                </a:rPr>
                <a:t> with performance tracking and route assignment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6612731" y="8279606"/>
            <a:ext cx="5062538" cy="490538"/>
            <a:chOff x="0" y="0"/>
            <a:chExt cx="6750050" cy="65405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25400" y="25400"/>
              <a:ext cx="6699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603250"/>
                  </a:lnTo>
                  <a:lnTo>
                    <a:pt x="0" y="60325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25400" y="0"/>
              <a:ext cx="6724650" cy="654050"/>
            </a:xfrm>
            <a:custGeom>
              <a:avLst/>
              <a:gdLst/>
              <a:ahLst/>
              <a:cxnLst/>
              <a:rect r="r" b="b" t="t" l="l"/>
              <a:pathLst>
                <a:path h="654050" w="6724650">
                  <a:moveTo>
                    <a:pt x="0" y="0"/>
                  </a:moveTo>
                  <a:lnTo>
                    <a:pt x="6699250" y="0"/>
                  </a:lnTo>
                  <a:cubicBezTo>
                    <a:pt x="6713220" y="0"/>
                    <a:pt x="6724650" y="11430"/>
                    <a:pt x="6724650" y="25400"/>
                  </a:cubicBezTo>
                  <a:lnTo>
                    <a:pt x="6724650" y="628650"/>
                  </a:lnTo>
                  <a:cubicBezTo>
                    <a:pt x="6724650" y="642620"/>
                    <a:pt x="6713220" y="654050"/>
                    <a:pt x="6699250" y="654050"/>
                  </a:cubicBezTo>
                  <a:lnTo>
                    <a:pt x="0" y="654050"/>
                  </a:lnTo>
                  <a:lnTo>
                    <a:pt x="0" y="603250"/>
                  </a:lnTo>
                  <a:lnTo>
                    <a:pt x="6699250" y="603250"/>
                  </a:lnTo>
                  <a:lnTo>
                    <a:pt x="6699250" y="628650"/>
                  </a:lnTo>
                  <a:lnTo>
                    <a:pt x="6673850" y="628650"/>
                  </a:lnTo>
                  <a:lnTo>
                    <a:pt x="6673850" y="25400"/>
                  </a:lnTo>
                  <a:lnTo>
                    <a:pt x="6699250" y="25400"/>
                  </a:lnTo>
                  <a:lnTo>
                    <a:pt x="6699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16" id="116"/>
          <p:cNvSpPr/>
          <p:nvPr/>
        </p:nvSpPr>
        <p:spPr>
          <a:xfrm flipH="false" flipV="false" rot="0">
            <a:off x="8413994" y="8453438"/>
            <a:ext cx="145847" cy="166688"/>
          </a:xfrm>
          <a:custGeom>
            <a:avLst/>
            <a:gdLst/>
            <a:ahLst/>
            <a:cxnLst/>
            <a:rect r="r" b="b" t="t" l="l"/>
            <a:pathLst>
              <a:path h="166688" w="145847">
                <a:moveTo>
                  <a:pt x="0" y="0"/>
                </a:moveTo>
                <a:lnTo>
                  <a:pt x="145847" y="0"/>
                </a:lnTo>
                <a:lnTo>
                  <a:pt x="145847" y="166687"/>
                </a:lnTo>
                <a:lnTo>
                  <a:pt x="0" y="16668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7" id="117"/>
          <p:cNvGrpSpPr/>
          <p:nvPr/>
        </p:nvGrpSpPr>
        <p:grpSpPr>
          <a:xfrm rot="0">
            <a:off x="6941344" y="8405812"/>
            <a:ext cx="4649391" cy="238125"/>
            <a:chOff x="0" y="0"/>
            <a:chExt cx="6199188" cy="3175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199188" cy="317500"/>
            </a:xfrm>
            <a:custGeom>
              <a:avLst/>
              <a:gdLst/>
              <a:ahLst/>
              <a:cxnLst/>
              <a:rect r="r" b="b" t="t" l="l"/>
              <a:pathLst>
                <a:path h="317500" w="6199188">
                  <a:moveTo>
                    <a:pt x="0" y="0"/>
                  </a:moveTo>
                  <a:lnTo>
                    <a:pt x="6199188" y="0"/>
                  </a:lnTo>
                  <a:lnTo>
                    <a:pt x="6199188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445" r="0" b="-330445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47625"/>
              <a:ext cx="6199188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HR Management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2177712" y="5605462"/>
            <a:ext cx="5648325" cy="3457575"/>
            <a:chOff x="0" y="0"/>
            <a:chExt cx="7531100" cy="4610100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50800" y="50800"/>
              <a:ext cx="7429500" cy="4508500"/>
            </a:xfrm>
            <a:custGeom>
              <a:avLst/>
              <a:gdLst/>
              <a:ahLst/>
              <a:cxnLst/>
              <a:rect r="r" b="b" t="t" l="l"/>
              <a:pathLst>
                <a:path h="4508500" w="7429500">
                  <a:moveTo>
                    <a:pt x="0" y="0"/>
                  </a:moveTo>
                  <a:lnTo>
                    <a:pt x="7429500" y="0"/>
                  </a:lnTo>
                  <a:lnTo>
                    <a:pt x="7429500" y="4508500"/>
                  </a:lnTo>
                  <a:lnTo>
                    <a:pt x="0" y="4508500"/>
                  </a:lnTo>
                </a:path>
              </a:pathLst>
            </a:custGeom>
            <a:solidFill>
              <a:srgbClr val="2D3436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50800" y="0"/>
              <a:ext cx="7480300" cy="4610100"/>
            </a:xfrm>
            <a:custGeom>
              <a:avLst/>
              <a:gdLst/>
              <a:ahLst/>
              <a:cxnLst/>
              <a:rect r="r" b="b" t="t" l="l"/>
              <a:pathLst>
                <a:path h="4610100" w="7480300">
                  <a:moveTo>
                    <a:pt x="0" y="0"/>
                  </a:moveTo>
                  <a:lnTo>
                    <a:pt x="7429500" y="0"/>
                  </a:lnTo>
                  <a:cubicBezTo>
                    <a:pt x="7457567" y="0"/>
                    <a:pt x="7480300" y="22733"/>
                    <a:pt x="7480300" y="50800"/>
                  </a:cubicBezTo>
                  <a:lnTo>
                    <a:pt x="7480300" y="4559300"/>
                  </a:lnTo>
                  <a:cubicBezTo>
                    <a:pt x="7480300" y="4587367"/>
                    <a:pt x="7457567" y="4610100"/>
                    <a:pt x="7429500" y="4610100"/>
                  </a:cubicBezTo>
                  <a:lnTo>
                    <a:pt x="0" y="4610100"/>
                  </a:lnTo>
                  <a:lnTo>
                    <a:pt x="0" y="4508500"/>
                  </a:lnTo>
                  <a:lnTo>
                    <a:pt x="7429500" y="4508500"/>
                  </a:lnTo>
                  <a:lnTo>
                    <a:pt x="7429500" y="4559300"/>
                  </a:lnTo>
                  <a:lnTo>
                    <a:pt x="7378700" y="4559300"/>
                  </a:lnTo>
                  <a:lnTo>
                    <a:pt x="7378700" y="50800"/>
                  </a:lnTo>
                  <a:lnTo>
                    <a:pt x="7429500" y="50800"/>
                  </a:lnTo>
                  <a:lnTo>
                    <a:pt x="7429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4511338" y="5891212"/>
            <a:ext cx="981075" cy="981075"/>
            <a:chOff x="0" y="0"/>
            <a:chExt cx="1308100" cy="13081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50800" y="50800"/>
              <a:ext cx="1206500" cy="1206500"/>
            </a:xfrm>
            <a:custGeom>
              <a:avLst/>
              <a:gdLst/>
              <a:ahLst/>
              <a:cxnLst/>
              <a:rect r="r" b="b" t="t" l="l"/>
              <a:pathLst>
                <a:path h="1206500" w="1206500">
                  <a:moveTo>
                    <a:pt x="0" y="0"/>
                  </a:moveTo>
                  <a:lnTo>
                    <a:pt x="1206500" y="0"/>
                  </a:lnTo>
                  <a:lnTo>
                    <a:pt x="1206500" y="1206500"/>
                  </a:lnTo>
                  <a:lnTo>
                    <a:pt x="0" y="120650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50800" y="0"/>
              <a:ext cx="12573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257300">
                  <a:moveTo>
                    <a:pt x="0" y="0"/>
                  </a:moveTo>
                  <a:lnTo>
                    <a:pt x="1206500" y="0"/>
                  </a:lnTo>
                  <a:cubicBezTo>
                    <a:pt x="1234567" y="0"/>
                    <a:pt x="1257300" y="22733"/>
                    <a:pt x="1257300" y="50800"/>
                  </a:cubicBezTo>
                  <a:lnTo>
                    <a:pt x="1257300" y="1257300"/>
                  </a:lnTo>
                  <a:cubicBezTo>
                    <a:pt x="1257300" y="1285367"/>
                    <a:pt x="1234567" y="1308100"/>
                    <a:pt x="1206500" y="1308100"/>
                  </a:cubicBezTo>
                  <a:lnTo>
                    <a:pt x="0" y="1308100"/>
                  </a:lnTo>
                  <a:lnTo>
                    <a:pt x="0" y="1206500"/>
                  </a:lnTo>
                  <a:lnTo>
                    <a:pt x="1206500" y="1206500"/>
                  </a:lnTo>
                  <a:lnTo>
                    <a:pt x="1206500" y="1257300"/>
                  </a:lnTo>
                  <a:lnTo>
                    <a:pt x="1155700" y="1257300"/>
                  </a:lnTo>
                  <a:lnTo>
                    <a:pt x="1155700" y="50800"/>
                  </a:lnTo>
                  <a:lnTo>
                    <a:pt x="1206500" y="50800"/>
                  </a:lnTo>
                  <a:lnTo>
                    <a:pt x="1206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126" id="126"/>
          <p:cNvSpPr/>
          <p:nvPr/>
        </p:nvSpPr>
        <p:spPr>
          <a:xfrm flipH="false" flipV="false" rot="0">
            <a:off x="14803936" y="6203156"/>
            <a:ext cx="401841" cy="357188"/>
          </a:xfrm>
          <a:custGeom>
            <a:avLst/>
            <a:gdLst/>
            <a:ahLst/>
            <a:cxnLst/>
            <a:rect r="r" b="b" t="t" l="l"/>
            <a:pathLst>
              <a:path h="357188" w="401841">
                <a:moveTo>
                  <a:pt x="0" y="0"/>
                </a:moveTo>
                <a:lnTo>
                  <a:pt x="401841" y="0"/>
                </a:lnTo>
                <a:lnTo>
                  <a:pt x="401841" y="357188"/>
                </a:lnTo>
                <a:lnTo>
                  <a:pt x="0" y="357188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7" id="127"/>
          <p:cNvGrpSpPr/>
          <p:nvPr/>
        </p:nvGrpSpPr>
        <p:grpSpPr>
          <a:xfrm rot="0">
            <a:off x="13481599" y="7000875"/>
            <a:ext cx="3328835" cy="365519"/>
            <a:chOff x="0" y="0"/>
            <a:chExt cx="4048125" cy="4445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4048124" cy="444500"/>
            </a:xfrm>
            <a:custGeom>
              <a:avLst/>
              <a:gdLst/>
              <a:ahLst/>
              <a:cxnLst/>
              <a:rect r="r" b="b" t="t" l="l"/>
              <a:pathLst>
                <a:path h="444500" w="4048124">
                  <a:moveTo>
                    <a:pt x="0" y="0"/>
                  </a:moveTo>
                  <a:lnTo>
                    <a:pt x="4048124" y="0"/>
                  </a:lnTo>
                  <a:lnTo>
                    <a:pt x="4048124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453" r="0" b="-12745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76200"/>
              <a:ext cx="4048125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Analytics &amp; Reports Module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2477750" y="7524750"/>
            <a:ext cx="5143500" cy="619125"/>
            <a:chOff x="0" y="0"/>
            <a:chExt cx="6858000" cy="825500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6858000" cy="825500"/>
            </a:xfrm>
            <a:custGeom>
              <a:avLst/>
              <a:gdLst/>
              <a:ahLst/>
              <a:cxnLst/>
              <a:rect r="r" b="b" t="t" l="l"/>
              <a:pathLst>
                <a:path h="8255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825500"/>
                  </a:lnTo>
                  <a:lnTo>
                    <a:pt x="0" y="825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1875" r="0" b="-111875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>
              <a:off x="0" y="-85725"/>
              <a:ext cx="6858000" cy="911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Comprehensive </a:t>
              </a:r>
              <a:r>
                <a:rPr lang="en-US" sz="1500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reporting system</a:t>
              </a:r>
              <a:r>
                <a:rPr lang="en-US" sz="1500">
                  <a:solidFill>
                    <a:srgbClr val="F5F5F5"/>
                  </a:solidFill>
                  <a:latin typeface="Arimo"/>
                  <a:ea typeface="Arimo"/>
                  <a:cs typeface="Arimo"/>
                  <a:sym typeface="Arimo"/>
                </a:rPr>
                <a:t> with data visualization, trend analysis, and export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2470606" y="8279606"/>
            <a:ext cx="5062538" cy="490538"/>
            <a:chOff x="0" y="0"/>
            <a:chExt cx="6750050" cy="65405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25400" y="25400"/>
              <a:ext cx="6699250" cy="603250"/>
            </a:xfrm>
            <a:custGeom>
              <a:avLst/>
              <a:gdLst/>
              <a:ahLst/>
              <a:cxnLst/>
              <a:rect r="r" b="b" t="t" l="l"/>
              <a:pathLst>
                <a:path h="603250" w="6699250">
                  <a:moveTo>
                    <a:pt x="0" y="0"/>
                  </a:moveTo>
                  <a:lnTo>
                    <a:pt x="6699250" y="0"/>
                  </a:lnTo>
                  <a:lnTo>
                    <a:pt x="6699250" y="603250"/>
                  </a:lnTo>
                  <a:lnTo>
                    <a:pt x="0" y="603250"/>
                  </a:lnTo>
                </a:path>
              </a:pathLst>
            </a:custGeom>
            <a:solidFill>
              <a:srgbClr val="FFE66D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25400" y="0"/>
              <a:ext cx="6724650" cy="654050"/>
            </a:xfrm>
            <a:custGeom>
              <a:avLst/>
              <a:gdLst/>
              <a:ahLst/>
              <a:cxnLst/>
              <a:rect r="r" b="b" t="t" l="l"/>
              <a:pathLst>
                <a:path h="654050" w="6724650">
                  <a:moveTo>
                    <a:pt x="0" y="0"/>
                  </a:moveTo>
                  <a:lnTo>
                    <a:pt x="6699250" y="0"/>
                  </a:lnTo>
                  <a:cubicBezTo>
                    <a:pt x="6713220" y="0"/>
                    <a:pt x="6724650" y="11430"/>
                    <a:pt x="6724650" y="25400"/>
                  </a:cubicBezTo>
                  <a:lnTo>
                    <a:pt x="6724650" y="628650"/>
                  </a:lnTo>
                  <a:cubicBezTo>
                    <a:pt x="6724650" y="642620"/>
                    <a:pt x="6713220" y="654050"/>
                    <a:pt x="6699250" y="654050"/>
                  </a:cubicBezTo>
                  <a:lnTo>
                    <a:pt x="0" y="654050"/>
                  </a:lnTo>
                  <a:lnTo>
                    <a:pt x="0" y="603250"/>
                  </a:lnTo>
                  <a:lnTo>
                    <a:pt x="6699250" y="603250"/>
                  </a:lnTo>
                  <a:lnTo>
                    <a:pt x="6699250" y="628650"/>
                  </a:lnTo>
                  <a:lnTo>
                    <a:pt x="6673850" y="628650"/>
                  </a:lnTo>
                  <a:lnTo>
                    <a:pt x="6673850" y="25400"/>
                  </a:lnTo>
                  <a:lnTo>
                    <a:pt x="6699250" y="25400"/>
                  </a:lnTo>
                  <a:lnTo>
                    <a:pt x="669925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136" id="136"/>
          <p:cNvSpPr/>
          <p:nvPr/>
        </p:nvSpPr>
        <p:spPr>
          <a:xfrm flipH="false" flipV="false" rot="0">
            <a:off x="14104068" y="8453438"/>
            <a:ext cx="125016" cy="166688"/>
          </a:xfrm>
          <a:custGeom>
            <a:avLst/>
            <a:gdLst/>
            <a:ahLst/>
            <a:cxnLst/>
            <a:rect r="r" b="b" t="t" l="l"/>
            <a:pathLst>
              <a:path h="166688" w="125016">
                <a:moveTo>
                  <a:pt x="0" y="0"/>
                </a:moveTo>
                <a:lnTo>
                  <a:pt x="125015" y="0"/>
                </a:lnTo>
                <a:lnTo>
                  <a:pt x="125015" y="166687"/>
                </a:lnTo>
                <a:lnTo>
                  <a:pt x="0" y="166687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7" id="137"/>
          <p:cNvGrpSpPr/>
          <p:nvPr/>
        </p:nvGrpSpPr>
        <p:grpSpPr>
          <a:xfrm rot="0">
            <a:off x="12799219" y="8405812"/>
            <a:ext cx="4649391" cy="238125"/>
            <a:chOff x="0" y="0"/>
            <a:chExt cx="6199188" cy="3175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199188" cy="317500"/>
            </a:xfrm>
            <a:custGeom>
              <a:avLst/>
              <a:gdLst/>
              <a:ahLst/>
              <a:cxnLst/>
              <a:rect r="r" b="b" t="t" l="l"/>
              <a:pathLst>
                <a:path h="317500" w="6199188">
                  <a:moveTo>
                    <a:pt x="0" y="0"/>
                  </a:moveTo>
                  <a:lnTo>
                    <a:pt x="6199188" y="0"/>
                  </a:lnTo>
                  <a:lnTo>
                    <a:pt x="6199188" y="317500"/>
                  </a:lnTo>
                  <a:lnTo>
                    <a:pt x="0" y="317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445" r="0" b="-330445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47625"/>
              <a:ext cx="6199188" cy="3651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312" b="true">
                  <a:solidFill>
                    <a:srgbClr val="2D3436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Business Intelligence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461962" y="9224962"/>
            <a:ext cx="17364075" cy="838200"/>
            <a:chOff x="0" y="0"/>
            <a:chExt cx="23152100" cy="11176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50800" y="50800"/>
              <a:ext cx="230505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3050500">
                  <a:moveTo>
                    <a:pt x="0" y="0"/>
                  </a:moveTo>
                  <a:lnTo>
                    <a:pt x="23050500" y="0"/>
                  </a:lnTo>
                  <a:lnTo>
                    <a:pt x="23050500" y="1016000"/>
                  </a:lnTo>
                  <a:lnTo>
                    <a:pt x="0" y="1016000"/>
                  </a:lnTo>
                </a:path>
              </a:pathLst>
            </a:custGeom>
            <a:solidFill>
              <a:srgbClr val="4ECDC4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50800" y="0"/>
              <a:ext cx="231013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23101300">
                  <a:moveTo>
                    <a:pt x="0" y="0"/>
                  </a:moveTo>
                  <a:lnTo>
                    <a:pt x="23050500" y="0"/>
                  </a:lnTo>
                  <a:cubicBezTo>
                    <a:pt x="23078567" y="0"/>
                    <a:pt x="23101300" y="22733"/>
                    <a:pt x="23101300" y="50800"/>
                  </a:cubicBezTo>
                  <a:lnTo>
                    <a:pt x="23101300" y="1066800"/>
                  </a:lnTo>
                  <a:cubicBezTo>
                    <a:pt x="23101300" y="1094867"/>
                    <a:pt x="23078567" y="1117600"/>
                    <a:pt x="23050500" y="1117600"/>
                  </a:cubicBezTo>
                  <a:lnTo>
                    <a:pt x="0" y="1117600"/>
                  </a:lnTo>
                  <a:lnTo>
                    <a:pt x="0" y="1016000"/>
                  </a:lnTo>
                  <a:lnTo>
                    <a:pt x="23050500" y="1016000"/>
                  </a:lnTo>
                  <a:lnTo>
                    <a:pt x="23050500" y="1066800"/>
                  </a:lnTo>
                  <a:lnTo>
                    <a:pt x="22999700" y="1066800"/>
                  </a:lnTo>
                  <a:lnTo>
                    <a:pt x="22999700" y="50800"/>
                  </a:lnTo>
                  <a:lnTo>
                    <a:pt x="23050500" y="50800"/>
                  </a:lnTo>
                  <a:lnTo>
                    <a:pt x="230505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2D3436"/>
            </a:solidFill>
          </p:spPr>
        </p:sp>
      </p:grpSp>
      <p:sp>
        <p:nvSpPr>
          <p:cNvPr name="Freeform 143" id="143"/>
          <p:cNvSpPr/>
          <p:nvPr/>
        </p:nvSpPr>
        <p:spPr>
          <a:xfrm flipH="false" flipV="false" rot="0">
            <a:off x="4172579" y="9513094"/>
            <a:ext cx="238125" cy="238125"/>
          </a:xfrm>
          <a:custGeom>
            <a:avLst/>
            <a:gdLst/>
            <a:ahLst/>
            <a:cxnLst/>
            <a:rect r="r" b="b" t="t" l="l"/>
            <a:pathLst>
              <a:path h="238125" w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4" id="144"/>
          <p:cNvGrpSpPr/>
          <p:nvPr/>
        </p:nvGrpSpPr>
        <p:grpSpPr>
          <a:xfrm rot="0">
            <a:off x="1323975" y="9477375"/>
            <a:ext cx="16621125" cy="333375"/>
            <a:chOff x="0" y="0"/>
            <a:chExt cx="22161500" cy="444500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22161500" cy="444500"/>
            </a:xfrm>
            <a:custGeom>
              <a:avLst/>
              <a:gdLst/>
              <a:ahLst/>
              <a:cxnLst/>
              <a:rect r="r" b="b" t="t" l="l"/>
              <a:pathLst>
                <a:path h="444500" w="22161500">
                  <a:moveTo>
                    <a:pt x="0" y="0"/>
                  </a:moveTo>
                  <a:lnTo>
                    <a:pt x="22161500" y="0"/>
                  </a:lnTo>
                  <a:lnTo>
                    <a:pt x="22161500" y="444500"/>
                  </a:lnTo>
                  <a:lnTo>
                    <a:pt x="0" y="4445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1468" r="0" b="-921468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-76200"/>
              <a:ext cx="22161500" cy="520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1875" b="true">
                  <a:solidFill>
                    <a:srgbClr val="F5F5F5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Six integrated modules provide complete logistics management from planning to analytics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DAHKlo8pYWY</dc:identifier>
  <dcterms:modified xsi:type="dcterms:W3CDTF">2011-08-01T06:04:30Z</dcterms:modified>
  <cp:revision>1</cp:revision>
  <dc:title>Smart Courier &amp; Logistics Optimization System.pptx</dc:title>
</cp:coreProperties>
</file>
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24384000" cy="13716000"/>
  <p:notesSz cx="13716000" cy="24384000"/>
  <p:embeddedFontLst>
    <p:embeddedFont>
      <p:font typeface="Quattrocento Sans" charset="-122" pitchFamily="34"/>
      <p:regular r:id="rId22"/>
    </p:embeddedFont>
    <p:embeddedFont>
      <p:font typeface="Coda" charset="-122" pitchFamily="34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Safe Limit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PM2.5</c:v>
                  </c:pt>
                  <c:pt idx="1">
                    <c:v>PM10</c:v>
                  </c:pt>
                  <c:pt idx="2">
                    <c:v>NO₂</c:v>
                  </c:pt>
                  <c:pt idx="3">
                    <c:v>O₃</c:v>
                  </c:pt>
                  <c:pt idx="4">
                    <c:v>CO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237</c:v>
                </c:pt>
                <c:pt idx="1">
                  <c:v>198</c:v>
                </c:pt>
                <c:pt idx="2">
                  <c:v>98</c:v>
                </c:pt>
                <c:pt idx="3">
                  <c:v>45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E8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 Forecast</c:v>
                </c:pt>
              </c:strCache>
            </c:strRef>
          </c:tx>
          <c:spPr>
            <a:solidFill>
              <a:srgbClr val="4361EE"/>
            </a:solidFill>
            <a:ln w="25400" cap="flat">
              <a:solidFill>
                <a:srgbClr val="4361E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361EE"/>
              </a:solidFill>
              <a:ln w="9525" cap="flat">
                <a:solidFill>
                  <a:srgbClr val="4361E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287</c:v>
                </c:pt>
                <c:pt idx="1">
                  <c:v>298</c:v>
                </c:pt>
                <c:pt idx="2">
                  <c:v>312</c:v>
                </c:pt>
                <c:pt idx="3">
                  <c:v>305</c:v>
                </c:pt>
                <c:pt idx="4">
                  <c:v>289</c:v>
                </c:pt>
                <c:pt idx="5">
                  <c:v>265</c:v>
                </c:pt>
                <c:pt idx="6">
                  <c:v>242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3A3A5C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E8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150"/>
        </c:scaling>
        <c:delete val="0"/>
        <c:axPos val="l"/>
        <c:majorGridlines>
          <c:spPr>
            <a:ln w="12700" cap="flat">
              <a:solidFill>
                <a:srgbClr val="3a3a5c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</c:v>
                </c:pt>
              </c:strCache>
            </c:strRef>
          </c:tx>
          <c:spPr>
            <a:solidFill>
              <a:srgbClr val="4361EE"/>
            </a:solidFill>
            <a:ln w="25400" cap="flat">
              <a:solidFill>
                <a:srgbClr val="4361E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361EE"/>
              </a:solidFill>
              <a:ln w="9525" cap="flat">
                <a:solidFill>
                  <a:srgbClr val="4361EE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77.1</c:v>
                </c:pt>
                <c:pt idx="1">
                  <c:v>72.8</c:v>
                </c:pt>
                <c:pt idx="2">
                  <c:v>77.5</c:v>
                </c:pt>
                <c:pt idx="3">
                  <c:v>80.2</c:v>
                </c:pt>
                <c:pt idx="4">
                  <c:v>88.3</c:v>
                </c:pt>
                <c:pt idx="5">
                  <c:v>78.4</c:v>
                </c:pt>
                <c:pt idx="6">
                  <c:v>73.8</c:v>
                </c:pt>
                <c:pt idx="7">
                  <c:v>72.5</c:v>
                </c:pt>
                <c:pt idx="8">
                  <c:v>75.7</c:v>
                </c:pt>
                <c:pt idx="9">
                  <c:v>80.9</c:v>
                </c:pt>
                <c:pt idx="10">
                  <c:v>80.3</c:v>
                </c:pt>
                <c:pt idx="11">
                  <c:v>85.1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28.6</c:v>
                </c:pt>
                <c:pt idx="1">
                  <c:v>19</c:v>
                </c:pt>
                <c:pt idx="2">
                  <c:v>12.9</c:v>
                </c:pt>
                <c:pt idx="3">
                  <c:v>13</c:v>
                </c:pt>
                <c:pt idx="4">
                  <c:v>22.5</c:v>
                </c:pt>
                <c:pt idx="5">
                  <c:v>17.3</c:v>
                </c:pt>
                <c:pt idx="6">
                  <c:v>18.5</c:v>
                </c:pt>
                <c:pt idx="7">
                  <c:v>23</c:v>
                </c:pt>
                <c:pt idx="8">
                  <c:v>26.9</c:v>
                </c:pt>
                <c:pt idx="9">
                  <c:v>26.8</c:v>
                </c:pt>
                <c:pt idx="10">
                  <c:v>26.4</c:v>
                </c:pt>
                <c:pt idx="11">
                  <c:v>25.5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AQI</c:v>
                </c:pt>
              </c:strCache>
            </c:strRef>
          </c:tx>
          <c:spPr>
            <a:solidFill>
              <a:srgbClr val="4361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287</c:v>
                </c:pt>
                <c:pt idx="1">
                  <c:v>298</c:v>
                </c:pt>
                <c:pt idx="2">
                  <c:v>312</c:v>
                </c:pt>
                <c:pt idx="3">
                  <c:v>305</c:v>
                </c:pt>
                <c:pt idx="4">
                  <c:v>289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9_Air_quality_in_Indian_capital_city.pn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95000"/>
                </a:srgbClr>
              </a:gs>
              <a:gs pos="55000">
                <a:srgbClr val="1A1A2E">
                  <a:alpha val="80000"/>
                </a:srgbClr>
              </a:gs>
              <a:gs pos="100000">
                <a:srgbClr val="1A1A2E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371600" y="123317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371600" y="3556000"/>
            <a:ext cx="16510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AI-POWERED AIR</a:t>
            </a:r>
            <a:endParaRPr lang="en-US" sz="12000" dirty="0"/>
          </a:p>
          <a:p>
            <a:pPr>
              <a:lnSpc>
                <a:spcPct val="110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QUALITY </a:t>
            </a:r>
            <a:pPr>
              <a:lnSpc>
                <a:spcPct val="110000"/>
              </a:lnSpc>
            </a:pPr>
            <a:r>
              <a:rPr lang="en-US" sz="12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MONITORING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1371600" y="73660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AQI Intelligence for 20+ Indian Cities</a:t>
            </a:r>
            <a:endParaRPr lang="en-US" sz="3200" dirty="0"/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Powered by Machine Learning Forecasting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20574000" y="14478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May 2026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0" name="Text 7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0955000" y="9144000"/>
            <a:ext cx="2286000" cy="2286000"/>
          </a:xfrm>
          <a:prstGeom prst="rect">
            <a:avLst/>
          </a:prstGeom>
          <a:solidFill>
            <a:srgbClr val="4361EE">
              <a:alpha val="25098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371600" y="9144000"/>
            <a:ext cx="7620000" cy="101600"/>
          </a:xfrm>
          <a:prstGeom prst="rect">
            <a:avLst/>
          </a:prstGeom>
          <a:gradFill rotWithShape="1" flip="none">
            <a:gsLst>
              <a:gs pos="0">
                <a:srgbClr val="2ECC71"/>
              </a:gs>
              <a:gs pos="25000">
                <a:srgbClr val="F39C12"/>
              </a:gs>
              <a:gs pos="50000">
                <a:srgbClr val="E67E22"/>
              </a:gs>
              <a:gs pos="75000">
                <a:srgbClr val="E74C3C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13" name="Text 10"/>
          <p:cNvSpPr/>
          <p:nvPr/>
        </p:nvSpPr>
        <p:spPr>
          <a:xfrm>
            <a:off x="1371600" y="939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___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Satisfactory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__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___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_____</a:t>
            </a:r>
            <a:pPr algn="just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762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72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CONTENTS</a:t>
            </a:r>
            <a:endParaRPr lang="en-US" sz="7200" dirty="0"/>
          </a:p>
        </p:txBody>
      </p:sp>
      <p:pic>
        <p:nvPicPr>
          <p:cNvPr id="6" name="Image 0" descr="https://kimi-img.moonshot.cn/pub/slides/okc/y7quss76h4lrg/mnt/agents/output/aqi-india/images/1_Delhi_Wakes_Up_to_an_Air_Pollution.png">    </p:cNvPr>
          <p:cNvPicPr>
            <a:picLocks noChangeAspect="1"/>
          </p:cNvPicPr>
          <p:nvPr/>
        </p:nvPicPr>
        <p:blipFill>
          <a:blip r:embed="rId1"/>
          <a:srcRect l="0" r="0" t="9258" b="9258"/>
          <a:stretch/>
        </p:blipFill>
        <p:spPr>
          <a:xfrm>
            <a:off x="12700000" y="1778000"/>
            <a:ext cx="10312400" cy="5588000"/>
          </a:xfrm>
          <a:prstGeom prst="roundRect">
            <a:avLst>
              <a:gd name="adj" fmla="val 8000"/>
            </a:avLst>
          </a:prstGeom>
        </p:spPr>
      </p:pic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6604000"/>
          <a:ext cx="21640800" cy="5588000"/>
        </p:xfrm>
        <a:graphic>
          <a:graphicData uri="http://schemas.openxmlformats.org/drawingml/2006/table">
            <a:tbl>
              <a:tblPr/>
              <a:tblGrid>
                <a:gridCol w="10820400"/>
                <a:gridCol w="10820400"/>
              </a:tblGrid>
              <a:tr h="1397000">
                <a:tc>
                  <a:txBody>
                    <a:bodyPr/>
                    <a:lstStyle/>
                    <a:p>
                      <a:pPr algn="l"/>
                      <a:r>
                        <a:rPr lang="en-US" sz="2600" b="1" u="none" dirty="0">
                          <a:solidFill>
                            <a:srgbClr val="4361EE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01  The Air Quality Crisis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b="1" u="none" dirty="0">
                          <a:solidFill>
                            <a:srgbClr val="4361EE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02  AI Forecasting Engine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1397000"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4361EE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03  Health Intelligence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4361EE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04  Platform Features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1397000"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8888AA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Current AQI landscape across India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8888AA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7-day predictive analytics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1397000"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8888AA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Personalized advisory system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600" u="none" dirty="0">
                          <a:solidFill>
                            <a:srgbClr val="8888AA"/>
                          </a:solidFill>
                          <a:latin typeface="QuattrocentoSans, MiSans" pitchFamily="34" charset="0"/>
                          <a:ea typeface="QuattrocentoSans, MiSans" pitchFamily="34" charset="-122"/>
                          <a:cs typeface="QuattrocentoSans, MiSans" pitchFamily="34" charset="-120"/>
                        </a:rPr>
                        <a:t>Interactive maps &amp; data sources</a:t>
                      </a:r>
                      <a:endParaRPr lang="en-US" sz="2600" dirty="0">
                        <a:latin typeface="QuattrocentoSans, MiSans" charset="0"/>
                        <a:ea typeface="QuattrocentoSans, MiSans" charset="0"/>
                        <a:cs typeface="QuattrocentoSans, Mi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6_Top_view_of_the_city_street_in_the.png">    </p:cNvPr>
          <p:cNvPicPr>
            <a:picLocks noChangeAspect="1"/>
          </p:cNvPicPr>
          <p:nvPr/>
        </p:nvPicPr>
        <p:blipFill>
          <a:blip r:embed="rId1"/>
          <a:srcRect l="18576" r="18576" t="0" b="0"/>
          <a:stretch/>
        </p:blipFill>
        <p:spPr>
          <a:xfrm>
            <a:off x="12661900" y="0"/>
            <a:ext cx="117221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661900" y="0"/>
            <a:ext cx="11722100" cy="13716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30000">
                <a:srgbClr val="1A1A2E">
                  <a:alpha val="67000"/>
                </a:srgbClr>
              </a:gs>
              <a:gs pos="100000">
                <a:srgbClr val="1A1A2E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371600" y="13843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2674600" y="0"/>
            <a:ext cx="0" cy="1371600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371600" y="123317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3716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064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THE AIR QUALITY</a:t>
            </a:r>
            <a:endParaRPr lang="en-US" sz="9600" dirty="0"/>
          </a:p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CRISIS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371600" y="711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Understanding pollution levels across 20+ Indian cities</a:t>
            </a:r>
            <a:endParaRPr lang="en-US" sz="3200" dirty="0"/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 real-time monitoring from CPCB stations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Current AQI Across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Major Cities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371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8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312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Lucknow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06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/>
        </p:spPr>
      </p:sp>
      <p:sp>
        <p:nvSpPr>
          <p:cNvPr id="10" name="Text 8"/>
          <p:cNvSpPr/>
          <p:nvPr/>
        </p:nvSpPr>
        <p:spPr>
          <a:xfrm>
            <a:off x="2006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298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54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1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298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81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Kanpur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89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FF6B6B"/>
          </a:solidFill>
          <a:ln/>
        </p:spPr>
      </p:sp>
      <p:sp>
        <p:nvSpPr>
          <p:cNvPr id="17" name="Text 15"/>
          <p:cNvSpPr/>
          <p:nvPr/>
        </p:nvSpPr>
        <p:spPr>
          <a:xfrm>
            <a:off x="5689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81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1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285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37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4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287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4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Delhi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72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9372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64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64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265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2420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547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276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47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Patna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055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13055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547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547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290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6103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230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245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230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Jaipur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6738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38" name="Text 36"/>
          <p:cNvSpPr/>
          <p:nvPr/>
        </p:nvSpPr>
        <p:spPr>
          <a:xfrm>
            <a:off x="16738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6230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6230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238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9659600" y="4064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786600" y="4191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198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9786600" y="5080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Kolkata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0294600" y="5715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45" name="Text 43"/>
          <p:cNvSpPr/>
          <p:nvPr/>
        </p:nvSpPr>
        <p:spPr>
          <a:xfrm>
            <a:off x="20294600" y="5715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9786600" y="6350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9786600" y="6858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210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371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98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165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98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Ahmedabad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2006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74C3C"/>
          </a:solidFill>
          <a:ln/>
        </p:spPr>
      </p:sp>
      <p:sp>
        <p:nvSpPr>
          <p:cNvPr id="52" name="Text 50"/>
          <p:cNvSpPr/>
          <p:nvPr/>
        </p:nvSpPr>
        <p:spPr>
          <a:xfrm>
            <a:off x="2006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498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98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158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054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81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142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181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689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59" name="Text 57"/>
          <p:cNvSpPr/>
          <p:nvPr/>
        </p:nvSpPr>
        <p:spPr>
          <a:xfrm>
            <a:off x="5689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181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5181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155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8737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64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134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864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Hyderabad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372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66" name="Text 64"/>
          <p:cNvSpPr/>
          <p:nvPr/>
        </p:nvSpPr>
        <p:spPr>
          <a:xfrm>
            <a:off x="9372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8864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864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128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2420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2547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112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2547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Pune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3055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/>
        </p:spPr>
      </p:sp>
      <p:sp>
        <p:nvSpPr>
          <p:cNvPr id="73" name="Text 71"/>
          <p:cNvSpPr/>
          <p:nvPr/>
        </p:nvSpPr>
        <p:spPr>
          <a:xfrm>
            <a:off x="13055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2547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2547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125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6103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230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39C1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96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16230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Bangalore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6738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F39C12"/>
          </a:solidFill>
          <a:ln/>
        </p:spPr>
      </p:sp>
      <p:sp>
        <p:nvSpPr>
          <p:cNvPr id="80" name="Text 78"/>
          <p:cNvSpPr/>
          <p:nvPr/>
        </p:nvSpPr>
        <p:spPr>
          <a:xfrm>
            <a:off x="16738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6230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📉 Falling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16230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102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9659600" y="800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9786600" y="8128000"/>
            <a:ext cx="3175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00" dirty="0">
                <a:solidFill>
                  <a:srgbClr val="F39C1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78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9786600" y="90170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Chennai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20294600" y="9652000"/>
            <a:ext cx="2159000" cy="406400"/>
          </a:xfrm>
          <a:prstGeom prst="roundRect">
            <a:avLst>
              <a:gd name="adj" fmla="val 16000"/>
            </a:avLst>
          </a:prstGeom>
          <a:solidFill>
            <a:srgbClr val="F39C12"/>
          </a:solidFill>
          <a:ln/>
        </p:spPr>
      </p:sp>
      <p:sp>
        <p:nvSpPr>
          <p:cNvPr id="87" name="Text 85"/>
          <p:cNvSpPr/>
          <p:nvPr/>
        </p:nvSpPr>
        <p:spPr>
          <a:xfrm>
            <a:off x="20294600" y="9652000"/>
            <a:ext cx="215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9786600" y="10287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📈 Rising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19786600" y="107950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7d avg: 82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1371600" y="1295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Data: CPCB Real-Time Monitoring Stations | Updated: May 2026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AQI Categories &amp;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 Impact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371600" y="4064000"/>
            <a:ext cx="21640800" cy="304800"/>
          </a:xfrm>
          <a:prstGeom prst="rect">
            <a:avLst/>
          </a:prstGeom>
          <a:gradFill rotWithShape="1" flip="none">
            <a:gsLst>
              <a:gs pos="0">
                <a:srgbClr val="2ECC71"/>
              </a:gs>
              <a:gs pos="20000">
                <a:srgbClr val="F39C12"/>
              </a:gs>
              <a:gs pos="40000">
                <a:srgbClr val="E67E22"/>
              </a:gs>
              <a:gs pos="60000">
                <a:srgbClr val="E74C3C"/>
              </a:gs>
              <a:gs pos="80000">
                <a:srgbClr val="FF6B6B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1371600" y="4826000"/>
            <a:ext cx="4064000" cy="635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4826000"/>
            <a:ext cx="4064000" cy="1016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1625600" y="5207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2ECC71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0-50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25600" y="584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6256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1625600" y="7366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Minimal impact on health. Air quality is satisfactory and poses little or no risk.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25600" y="9144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ECC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restrictions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ECC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Enjoy outdoor activities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65800" y="4826000"/>
            <a:ext cx="4064000" cy="635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5800" y="4826000"/>
            <a:ext cx="4064000" cy="1016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6" name="Text 14"/>
          <p:cNvSpPr/>
          <p:nvPr/>
        </p:nvSpPr>
        <p:spPr>
          <a:xfrm>
            <a:off x="6019800" y="5207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39C1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51-100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19800" y="584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SATISFACTORY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198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cubicBezTo>
                  <a:pt x="268585" y="0"/>
                  <a:pt x="281980" y="8037"/>
                  <a:pt x="288925" y="20836"/>
                </a:cubicBezTo>
                <a:lnTo>
                  <a:pt x="503238" y="417711"/>
                </a:lnTo>
                <a:cubicBezTo>
                  <a:pt x="509885" y="430014"/>
                  <a:pt x="509588" y="444897"/>
                  <a:pt x="502444" y="456902"/>
                </a:cubicBezTo>
                <a:cubicBezTo>
                  <a:pt x="495300" y="468908"/>
                  <a:pt x="482302" y="476250"/>
                  <a:pt x="468313" y="476250"/>
                </a:cubicBezTo>
                <a:lnTo>
                  <a:pt x="39688" y="476250"/>
                </a:lnTo>
                <a:cubicBezTo>
                  <a:pt x="25698" y="476250"/>
                  <a:pt x="12799" y="468908"/>
                  <a:pt x="5556" y="456902"/>
                </a:cubicBezTo>
                <a:cubicBezTo>
                  <a:pt x="-1687" y="444897"/>
                  <a:pt x="-1885" y="430014"/>
                  <a:pt x="4763" y="417711"/>
                </a:cubicBezTo>
                <a:lnTo>
                  <a:pt x="219075" y="20836"/>
                </a:lnTo>
                <a:cubicBezTo>
                  <a:pt x="226020" y="8037"/>
                  <a:pt x="239415" y="0"/>
                  <a:pt x="254000" y="0"/>
                </a:cubicBezTo>
                <a:close/>
                <a:moveTo>
                  <a:pt x="254000" y="166688"/>
                </a:moveTo>
                <a:cubicBezTo>
                  <a:pt x="240804" y="166688"/>
                  <a:pt x="230188" y="177304"/>
                  <a:pt x="230188" y="190500"/>
                </a:cubicBezTo>
                <a:lnTo>
                  <a:pt x="230188" y="301625"/>
                </a:lnTo>
                <a:cubicBezTo>
                  <a:pt x="230188" y="314821"/>
                  <a:pt x="240804" y="325438"/>
                  <a:pt x="254000" y="325438"/>
                </a:cubicBezTo>
                <a:cubicBezTo>
                  <a:pt x="267196" y="325438"/>
                  <a:pt x="277813" y="314821"/>
                  <a:pt x="277813" y="301625"/>
                </a:cubicBezTo>
                <a:lnTo>
                  <a:pt x="277813" y="190500"/>
                </a:lnTo>
                <a:cubicBezTo>
                  <a:pt x="277813" y="177304"/>
                  <a:pt x="267196" y="166688"/>
                  <a:pt x="254000" y="166688"/>
                </a:cubicBezTo>
                <a:close/>
                <a:moveTo>
                  <a:pt x="280491" y="381000"/>
                </a:moveTo>
                <a:cubicBezTo>
                  <a:pt x="281094" y="371167"/>
                  <a:pt x="276190" y="361811"/>
                  <a:pt x="267761" y="356712"/>
                </a:cubicBezTo>
                <a:cubicBezTo>
                  <a:pt x="259331" y="351613"/>
                  <a:pt x="248768" y="351613"/>
                  <a:pt x="240339" y="356712"/>
                </a:cubicBezTo>
                <a:cubicBezTo>
                  <a:pt x="231909" y="361811"/>
                  <a:pt x="227005" y="371167"/>
                  <a:pt x="227608" y="381000"/>
                </a:cubicBezTo>
                <a:cubicBezTo>
                  <a:pt x="227005" y="390833"/>
                  <a:pt x="231909" y="400189"/>
                  <a:pt x="240339" y="405288"/>
                </a:cubicBezTo>
                <a:cubicBezTo>
                  <a:pt x="248768" y="410387"/>
                  <a:pt x="259331" y="410387"/>
                  <a:pt x="267761" y="405288"/>
                </a:cubicBezTo>
                <a:cubicBezTo>
                  <a:pt x="276190" y="400189"/>
                  <a:pt x="281094" y="390833"/>
                  <a:pt x="280491" y="381000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19" name="Text 17"/>
          <p:cNvSpPr/>
          <p:nvPr/>
        </p:nvSpPr>
        <p:spPr>
          <a:xfrm>
            <a:off x="6019800" y="7366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 breathing discomfort for sensitive people. Acceptable air quality for most.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19800" y="9144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activities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 precautions for sensitive individuals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0" y="4826000"/>
            <a:ext cx="4064000" cy="635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60000" y="4826000"/>
            <a:ext cx="4064000" cy="1016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5207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101-200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414000" y="584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382250" y="6604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17500" y="31750"/>
                </a:moveTo>
                <a:cubicBezTo>
                  <a:pt x="317500" y="14188"/>
                  <a:pt x="303312" y="0"/>
                  <a:pt x="285750" y="0"/>
                </a:cubicBezTo>
                <a:cubicBezTo>
                  <a:pt x="268188" y="0"/>
                  <a:pt x="254000" y="14188"/>
                  <a:pt x="254000" y="31750"/>
                </a:cubicBezTo>
                <a:lnTo>
                  <a:pt x="254000" y="172541"/>
                </a:lnTo>
                <a:lnTo>
                  <a:pt x="222250" y="191591"/>
                </a:lnTo>
                <a:lnTo>
                  <a:pt x="222250" y="75803"/>
                </a:lnTo>
                <a:cubicBezTo>
                  <a:pt x="222250" y="51495"/>
                  <a:pt x="202505" y="31750"/>
                  <a:pt x="178197" y="31750"/>
                </a:cubicBezTo>
                <a:cubicBezTo>
                  <a:pt x="165795" y="31750"/>
                  <a:pt x="153988" y="37009"/>
                  <a:pt x="145653" y="46137"/>
                </a:cubicBezTo>
                <a:lnTo>
                  <a:pt x="119459" y="74910"/>
                </a:lnTo>
                <a:cubicBezTo>
                  <a:pt x="42565" y="159544"/>
                  <a:pt x="0" y="269677"/>
                  <a:pt x="0" y="383977"/>
                </a:cubicBezTo>
                <a:lnTo>
                  <a:pt x="0" y="414238"/>
                </a:lnTo>
                <a:cubicBezTo>
                  <a:pt x="0" y="466030"/>
                  <a:pt x="41970" y="508000"/>
                  <a:pt x="93762" y="508000"/>
                </a:cubicBezTo>
                <a:cubicBezTo>
                  <a:pt x="115590" y="508000"/>
                  <a:pt x="137120" y="502940"/>
                  <a:pt x="156666" y="493117"/>
                </a:cubicBezTo>
                <a:lnTo>
                  <a:pt x="161627" y="490637"/>
                </a:lnTo>
                <a:cubicBezTo>
                  <a:pt x="198735" y="472083"/>
                  <a:pt x="222151" y="434181"/>
                  <a:pt x="222151" y="392609"/>
                </a:cubicBezTo>
                <a:lnTo>
                  <a:pt x="222151" y="265609"/>
                </a:lnTo>
                <a:lnTo>
                  <a:pt x="285651" y="227509"/>
                </a:lnTo>
                <a:lnTo>
                  <a:pt x="349151" y="265609"/>
                </a:lnTo>
                <a:lnTo>
                  <a:pt x="349151" y="392609"/>
                </a:lnTo>
                <a:cubicBezTo>
                  <a:pt x="349151" y="434082"/>
                  <a:pt x="372566" y="472083"/>
                  <a:pt x="409674" y="490637"/>
                </a:cubicBezTo>
                <a:lnTo>
                  <a:pt x="414635" y="493117"/>
                </a:lnTo>
                <a:cubicBezTo>
                  <a:pt x="434181" y="502841"/>
                  <a:pt x="455712" y="508000"/>
                  <a:pt x="477540" y="508000"/>
                </a:cubicBezTo>
                <a:cubicBezTo>
                  <a:pt x="529332" y="508000"/>
                  <a:pt x="571302" y="466030"/>
                  <a:pt x="571302" y="414238"/>
                </a:cubicBezTo>
                <a:lnTo>
                  <a:pt x="571302" y="408087"/>
                </a:lnTo>
                <a:cubicBezTo>
                  <a:pt x="571302" y="297855"/>
                  <a:pt x="534888" y="190798"/>
                  <a:pt x="467717" y="103485"/>
                </a:cubicBezTo>
                <a:lnTo>
                  <a:pt x="425549" y="48320"/>
                </a:lnTo>
                <a:cubicBezTo>
                  <a:pt x="417513" y="37802"/>
                  <a:pt x="405011" y="31750"/>
                  <a:pt x="391815" y="31750"/>
                </a:cubicBezTo>
                <a:cubicBezTo>
                  <a:pt x="368300" y="31750"/>
                  <a:pt x="349250" y="50800"/>
                  <a:pt x="349250" y="74315"/>
                </a:cubicBezTo>
                <a:lnTo>
                  <a:pt x="349250" y="191591"/>
                </a:lnTo>
                <a:lnTo>
                  <a:pt x="317500" y="172541"/>
                </a:lnTo>
                <a:lnTo>
                  <a:pt x="317500" y="3175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7366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Breathing discomfort for people with lung disease. Sensitive groups should limit exposure.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14000" y="9144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prolonged exertion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groups limit outdoor time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554200" y="4826000"/>
            <a:ext cx="4064000" cy="635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554200" y="4826000"/>
            <a:ext cx="4064000" cy="1016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0" name="Text 28"/>
          <p:cNvSpPr/>
          <p:nvPr/>
        </p:nvSpPr>
        <p:spPr>
          <a:xfrm>
            <a:off x="14808200" y="5207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201-300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808200" y="584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4744700" y="6604000"/>
            <a:ext cx="635000" cy="508000"/>
          </a:xfrm>
          <a:custGeom>
            <a:avLst/>
            <a:gdLst/>
            <a:ahLst/>
            <a:cxnLst/>
            <a:rect l="l" t="t" r="r" b="b"/>
            <a:pathLst>
              <a:path w="635000" h="508000">
                <a:moveTo>
                  <a:pt x="317500" y="63500"/>
                </a:moveTo>
                <a:cubicBezTo>
                  <a:pt x="290513" y="63500"/>
                  <a:pt x="264120" y="71438"/>
                  <a:pt x="241697" y="86420"/>
                </a:cubicBezTo>
                <a:lnTo>
                  <a:pt x="204887" y="111026"/>
                </a:lnTo>
                <a:cubicBezTo>
                  <a:pt x="189210" y="121444"/>
                  <a:pt x="170855" y="127000"/>
                  <a:pt x="152003" y="127000"/>
                </a:cubicBezTo>
                <a:lnTo>
                  <a:pt x="63500" y="127000"/>
                </a:lnTo>
                <a:cubicBezTo>
                  <a:pt x="28476" y="127000"/>
                  <a:pt x="0" y="155476"/>
                  <a:pt x="0" y="190500"/>
                </a:cubicBezTo>
                <a:lnTo>
                  <a:pt x="0" y="268585"/>
                </a:lnTo>
                <a:cubicBezTo>
                  <a:pt x="0" y="330696"/>
                  <a:pt x="44847" y="383679"/>
                  <a:pt x="106164" y="393898"/>
                </a:cubicBezTo>
                <a:lnTo>
                  <a:pt x="203299" y="410071"/>
                </a:lnTo>
                <a:cubicBezTo>
                  <a:pt x="236041" y="431899"/>
                  <a:pt x="275332" y="444500"/>
                  <a:pt x="317500" y="444500"/>
                </a:cubicBezTo>
                <a:cubicBezTo>
                  <a:pt x="359668" y="444500"/>
                  <a:pt x="399058" y="431800"/>
                  <a:pt x="431701" y="410071"/>
                </a:cubicBezTo>
                <a:lnTo>
                  <a:pt x="528836" y="393799"/>
                </a:lnTo>
                <a:cubicBezTo>
                  <a:pt x="590054" y="383580"/>
                  <a:pt x="635000" y="330597"/>
                  <a:pt x="635000" y="268486"/>
                </a:cubicBezTo>
                <a:lnTo>
                  <a:pt x="635000" y="190401"/>
                </a:lnTo>
                <a:cubicBezTo>
                  <a:pt x="635000" y="155377"/>
                  <a:pt x="606524" y="126901"/>
                  <a:pt x="571500" y="126901"/>
                </a:cubicBezTo>
                <a:lnTo>
                  <a:pt x="482997" y="126901"/>
                </a:lnTo>
                <a:cubicBezTo>
                  <a:pt x="464145" y="126901"/>
                  <a:pt x="445790" y="121345"/>
                  <a:pt x="430113" y="110927"/>
                </a:cubicBezTo>
                <a:lnTo>
                  <a:pt x="393303" y="86420"/>
                </a:lnTo>
                <a:cubicBezTo>
                  <a:pt x="370880" y="71438"/>
                  <a:pt x="344488" y="63500"/>
                  <a:pt x="317500" y="63500"/>
                </a:cubicBezTo>
                <a:close/>
                <a:moveTo>
                  <a:pt x="134838" y="334268"/>
                </a:moveTo>
                <a:lnTo>
                  <a:pt x="116582" y="331192"/>
                </a:lnTo>
                <a:cubicBezTo>
                  <a:pt x="85923" y="326132"/>
                  <a:pt x="63500" y="299641"/>
                  <a:pt x="63500" y="268585"/>
                </a:cubicBezTo>
                <a:lnTo>
                  <a:pt x="63500" y="190500"/>
                </a:lnTo>
                <a:lnTo>
                  <a:pt x="111125" y="190500"/>
                </a:lnTo>
                <a:lnTo>
                  <a:pt x="111125" y="238125"/>
                </a:lnTo>
                <a:cubicBezTo>
                  <a:pt x="111125" y="272852"/>
                  <a:pt x="119658" y="305495"/>
                  <a:pt x="134838" y="334268"/>
                </a:cubicBezTo>
                <a:close/>
                <a:moveTo>
                  <a:pt x="518418" y="331192"/>
                </a:moveTo>
                <a:lnTo>
                  <a:pt x="500162" y="334268"/>
                </a:lnTo>
                <a:cubicBezTo>
                  <a:pt x="515342" y="305495"/>
                  <a:pt x="523875" y="272852"/>
                  <a:pt x="523875" y="238125"/>
                </a:cubicBezTo>
                <a:lnTo>
                  <a:pt x="523875" y="190500"/>
                </a:lnTo>
                <a:lnTo>
                  <a:pt x="571500" y="190500"/>
                </a:lnTo>
                <a:lnTo>
                  <a:pt x="571500" y="268585"/>
                </a:lnTo>
                <a:cubicBezTo>
                  <a:pt x="571500" y="299641"/>
                  <a:pt x="549077" y="326132"/>
                  <a:pt x="518418" y="331192"/>
                </a:cubicBezTo>
                <a:close/>
                <a:moveTo>
                  <a:pt x="190500" y="230188"/>
                </a:moveTo>
                <a:cubicBezTo>
                  <a:pt x="190500" y="216991"/>
                  <a:pt x="201116" y="206375"/>
                  <a:pt x="214313" y="206375"/>
                </a:cubicBezTo>
                <a:lnTo>
                  <a:pt x="420688" y="206375"/>
                </a:lnTo>
                <a:cubicBezTo>
                  <a:pt x="433884" y="206375"/>
                  <a:pt x="444500" y="216991"/>
                  <a:pt x="444500" y="230188"/>
                </a:cubicBezTo>
                <a:cubicBezTo>
                  <a:pt x="444500" y="243384"/>
                  <a:pt x="433884" y="254000"/>
                  <a:pt x="420688" y="254000"/>
                </a:cubicBezTo>
                <a:lnTo>
                  <a:pt x="214313" y="254000"/>
                </a:lnTo>
                <a:cubicBezTo>
                  <a:pt x="201116" y="254000"/>
                  <a:pt x="190500" y="243384"/>
                  <a:pt x="190500" y="230188"/>
                </a:cubicBezTo>
                <a:close/>
                <a:moveTo>
                  <a:pt x="246063" y="285750"/>
                </a:moveTo>
                <a:lnTo>
                  <a:pt x="388938" y="285750"/>
                </a:lnTo>
                <a:cubicBezTo>
                  <a:pt x="402134" y="285750"/>
                  <a:pt x="412750" y="296366"/>
                  <a:pt x="412750" y="309562"/>
                </a:cubicBezTo>
                <a:cubicBezTo>
                  <a:pt x="412750" y="322759"/>
                  <a:pt x="402134" y="333375"/>
                  <a:pt x="388938" y="333375"/>
                </a:cubicBezTo>
                <a:lnTo>
                  <a:pt x="246063" y="333375"/>
                </a:lnTo>
                <a:cubicBezTo>
                  <a:pt x="232866" y="333375"/>
                  <a:pt x="222250" y="322759"/>
                  <a:pt x="222250" y="309562"/>
                </a:cubicBezTo>
                <a:cubicBezTo>
                  <a:pt x="222250" y="296366"/>
                  <a:pt x="232866" y="285750"/>
                  <a:pt x="246063" y="28575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3" name="Text 31"/>
          <p:cNvSpPr/>
          <p:nvPr/>
        </p:nvSpPr>
        <p:spPr>
          <a:xfrm>
            <a:off x="14808200" y="7366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Breathing discomfort for most people. Health effects may be experienced by everyone.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808200" y="9144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outdoor activities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 mask, keep windows closed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8948400" y="4826000"/>
            <a:ext cx="4064000" cy="635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948400" y="4826000"/>
            <a:ext cx="4064000" cy="1016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7" name="Text 35"/>
          <p:cNvSpPr/>
          <p:nvPr/>
        </p:nvSpPr>
        <p:spPr>
          <a:xfrm>
            <a:off x="19202400" y="5207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300+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9202400" y="5842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SEVERE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9234150" y="6604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81000" y="142875"/>
                </a:moveTo>
                <a:cubicBezTo>
                  <a:pt x="381000" y="63996"/>
                  <a:pt x="309959" y="0"/>
                  <a:pt x="222250" y="0"/>
                </a:cubicBezTo>
                <a:cubicBezTo>
                  <a:pt x="134541" y="0"/>
                  <a:pt x="63500" y="63996"/>
                  <a:pt x="63500" y="142875"/>
                </a:cubicBezTo>
                <a:cubicBezTo>
                  <a:pt x="63500" y="189607"/>
                  <a:pt x="88404" y="231080"/>
                  <a:pt x="127000" y="257175"/>
                </a:cubicBezTo>
                <a:lnTo>
                  <a:pt x="127000" y="285750"/>
                </a:lnTo>
                <a:cubicBezTo>
                  <a:pt x="127000" y="303312"/>
                  <a:pt x="141188" y="317500"/>
                  <a:pt x="158750" y="317500"/>
                </a:cubicBezTo>
                <a:lnTo>
                  <a:pt x="285750" y="317500"/>
                </a:lnTo>
                <a:cubicBezTo>
                  <a:pt x="303312" y="317500"/>
                  <a:pt x="317500" y="303312"/>
                  <a:pt x="317500" y="285750"/>
                </a:cubicBezTo>
                <a:lnTo>
                  <a:pt x="317500" y="257175"/>
                </a:lnTo>
                <a:cubicBezTo>
                  <a:pt x="356096" y="231080"/>
                  <a:pt x="381000" y="189607"/>
                  <a:pt x="381000" y="142875"/>
                </a:cubicBezTo>
                <a:close/>
                <a:moveTo>
                  <a:pt x="158750" y="127000"/>
                </a:moveTo>
                <a:cubicBezTo>
                  <a:pt x="176273" y="127000"/>
                  <a:pt x="190500" y="141227"/>
                  <a:pt x="190500" y="158750"/>
                </a:cubicBezTo>
                <a:cubicBezTo>
                  <a:pt x="190500" y="176273"/>
                  <a:pt x="176273" y="190500"/>
                  <a:pt x="158750" y="190500"/>
                </a:cubicBezTo>
                <a:cubicBezTo>
                  <a:pt x="141227" y="190500"/>
                  <a:pt x="127000" y="176273"/>
                  <a:pt x="127000" y="158750"/>
                </a:cubicBezTo>
                <a:cubicBezTo>
                  <a:pt x="127000" y="141227"/>
                  <a:pt x="141227" y="127000"/>
                  <a:pt x="158750" y="127000"/>
                </a:cubicBezTo>
                <a:close/>
                <a:moveTo>
                  <a:pt x="254000" y="158750"/>
                </a:moveTo>
                <a:cubicBezTo>
                  <a:pt x="254000" y="141227"/>
                  <a:pt x="268227" y="127000"/>
                  <a:pt x="285750" y="127000"/>
                </a:cubicBezTo>
                <a:cubicBezTo>
                  <a:pt x="303273" y="127000"/>
                  <a:pt x="317500" y="141227"/>
                  <a:pt x="317500" y="158750"/>
                </a:cubicBezTo>
                <a:cubicBezTo>
                  <a:pt x="317500" y="176273"/>
                  <a:pt x="303273" y="190500"/>
                  <a:pt x="285750" y="190500"/>
                </a:cubicBezTo>
                <a:cubicBezTo>
                  <a:pt x="268227" y="190500"/>
                  <a:pt x="254000" y="176273"/>
                  <a:pt x="254000" y="158750"/>
                </a:cubicBezTo>
                <a:close/>
                <a:moveTo>
                  <a:pt x="442020" y="337046"/>
                </a:moveTo>
                <a:cubicBezTo>
                  <a:pt x="435273" y="320873"/>
                  <a:pt x="416719" y="313234"/>
                  <a:pt x="400546" y="319980"/>
                </a:cubicBezTo>
                <a:lnTo>
                  <a:pt x="222250" y="394196"/>
                </a:lnTo>
                <a:lnTo>
                  <a:pt x="43954" y="319980"/>
                </a:lnTo>
                <a:cubicBezTo>
                  <a:pt x="27781" y="313234"/>
                  <a:pt x="9227" y="320873"/>
                  <a:pt x="2480" y="337046"/>
                </a:cubicBezTo>
                <a:cubicBezTo>
                  <a:pt x="-4266" y="353219"/>
                  <a:pt x="3373" y="371773"/>
                  <a:pt x="19546" y="378520"/>
                </a:cubicBezTo>
                <a:lnTo>
                  <a:pt x="139700" y="428625"/>
                </a:lnTo>
                <a:lnTo>
                  <a:pt x="19546" y="478730"/>
                </a:lnTo>
                <a:cubicBezTo>
                  <a:pt x="3373" y="485477"/>
                  <a:pt x="-4266" y="504031"/>
                  <a:pt x="2480" y="520204"/>
                </a:cubicBezTo>
                <a:cubicBezTo>
                  <a:pt x="9227" y="536377"/>
                  <a:pt x="27781" y="544016"/>
                  <a:pt x="43954" y="537270"/>
                </a:cubicBezTo>
                <a:lnTo>
                  <a:pt x="222250" y="463054"/>
                </a:lnTo>
                <a:lnTo>
                  <a:pt x="400546" y="537270"/>
                </a:lnTo>
                <a:cubicBezTo>
                  <a:pt x="416719" y="544016"/>
                  <a:pt x="435273" y="536377"/>
                  <a:pt x="442020" y="520204"/>
                </a:cubicBezTo>
                <a:cubicBezTo>
                  <a:pt x="448766" y="504031"/>
                  <a:pt x="441127" y="485477"/>
                  <a:pt x="424954" y="478730"/>
                </a:cubicBezTo>
                <a:lnTo>
                  <a:pt x="304800" y="428625"/>
                </a:lnTo>
                <a:lnTo>
                  <a:pt x="424954" y="378520"/>
                </a:lnTo>
                <a:cubicBezTo>
                  <a:pt x="441127" y="371773"/>
                  <a:pt x="448766" y="353219"/>
                  <a:pt x="442020" y="337046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40" name="Text 38"/>
          <p:cNvSpPr/>
          <p:nvPr/>
        </p:nvSpPr>
        <p:spPr>
          <a:xfrm>
            <a:off x="19202400" y="7366000"/>
            <a:ext cx="355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Serious health effects for everyone. Emergency conditions. Avoid all outdoor exposure.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9202400" y="9144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indoors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air purifiers, N95 mandatory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Pollutant Monitoring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683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levels vs. safe limits — Delhi NCR (CPCB Station Data)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4572000"/>
          <a:ext cx="15240000" cy="7366000"/>
        </p:xfrm>
        <a:graphic>
          <a:graphicData uri="http://schemas.openxmlformats.org/drawingml/2006/table">
            <a:tbl>
              <a:tblPr/>
              <a:tblGrid>
                <a:gridCol w="2743200"/>
                <a:gridCol w="2438400"/>
                <a:gridCol w="2133600"/>
                <a:gridCol w="2438400"/>
                <a:gridCol w="2743200"/>
                <a:gridCol w="2743200"/>
              </a:tblGrid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Pollutant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Current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Safe Limit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Source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PM2.5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142 μg/m³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237%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Critical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Vehicles, Industry, Burning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PM10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198 μg/m³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198%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Unsafe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Dust, Construction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NO₂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67E2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78 μg/m³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39C1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98%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39C1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Near Limit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Traffic, Power Plants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O₃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 μg/m³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45%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Safe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Sunlight + NOx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1.2 mg/m³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2.0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60%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2ECC7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● Safe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8888A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Vehicle Exhaust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17018000" y="4572000"/>
          <a:ext cx="6096000" cy="736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1371600" y="1295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CPCB Real-Time Monitoring | Updated: May 2026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9_Air_quality_in_Indian_capital_city.png">    </p:cNvPr>
          <p:cNvPicPr>
            <a:picLocks noChangeAspect="1"/>
          </p:cNvPicPr>
          <p:nvPr/>
        </p:nvPicPr>
        <p:blipFill>
          <a:blip r:embed="rId1"/>
          <a:srcRect l="17951" r="17951" t="0" b="0"/>
          <a:stretch/>
        </p:blipFill>
        <p:spPr>
          <a:xfrm>
            <a:off x="12661900" y="0"/>
            <a:ext cx="117221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661900" y="0"/>
            <a:ext cx="11722100" cy="13716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30000">
                <a:srgbClr val="1A1A2E">
                  <a:alpha val="67000"/>
                </a:srgbClr>
              </a:gs>
              <a:gs pos="100000">
                <a:srgbClr val="1A1A2E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371600" y="13843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2674600" y="0"/>
            <a:ext cx="0" cy="1371600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371600" y="123317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3716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064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AI FORECASTING</a:t>
            </a:r>
            <a:endParaRPr lang="en-US" sz="9600" dirty="0"/>
          </a:p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ENGINE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371600" y="711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 Learning predictions powered by</a:t>
            </a:r>
            <a:endParaRPr lang="en-US" sz="3200" dirty="0"/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Random Forest regression for 7-day forecasting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7-Day AI Forecast —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Delhi</a:t>
            </a:r>
            <a:endParaRPr lang="en-US" sz="7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1371600" y="4064000"/>
          <a:ext cx="15240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018000" y="4064000"/>
          <a:ext cx="6096000" cy="5080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  <a:gridCol w="1524000"/>
                <a:gridCol w="1524000"/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Day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AQI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Level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Trend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D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📈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298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📈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312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Severe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📈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FF6B6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Severe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📉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289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📉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265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📉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242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74C3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Poor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u="none" dirty="0">
                          <a:solidFill>
                            <a:srgbClr val="E8E8F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📉</a:t>
                      </a:r>
                      <a:endParaRPr lang="en-US" sz="18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44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371600" y="9652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752600" y="9969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148828" y="69453"/>
                </a:moveTo>
                <a:cubicBezTo>
                  <a:pt x="148828" y="31130"/>
                  <a:pt x="179958" y="0"/>
                  <a:pt x="218281" y="0"/>
                </a:cubicBezTo>
                <a:lnTo>
                  <a:pt x="248047" y="0"/>
                </a:lnTo>
                <a:cubicBezTo>
                  <a:pt x="269999" y="0"/>
                  <a:pt x="287734" y="17735"/>
                  <a:pt x="287734" y="39688"/>
                </a:cubicBezTo>
                <a:lnTo>
                  <a:pt x="287734" y="595313"/>
                </a:lnTo>
                <a:cubicBezTo>
                  <a:pt x="287734" y="617265"/>
                  <a:pt x="269999" y="635000"/>
                  <a:pt x="248047" y="635000"/>
                </a:cubicBezTo>
                <a:lnTo>
                  <a:pt x="208359" y="635000"/>
                </a:lnTo>
                <a:cubicBezTo>
                  <a:pt x="171400" y="635000"/>
                  <a:pt x="140271" y="609699"/>
                  <a:pt x="131465" y="575469"/>
                </a:cubicBezTo>
                <a:cubicBezTo>
                  <a:pt x="130597" y="575469"/>
                  <a:pt x="129853" y="575469"/>
                  <a:pt x="128984" y="575469"/>
                </a:cubicBezTo>
                <a:cubicBezTo>
                  <a:pt x="74166" y="575469"/>
                  <a:pt x="29766" y="531068"/>
                  <a:pt x="29766" y="476250"/>
                </a:cubicBezTo>
                <a:cubicBezTo>
                  <a:pt x="29766" y="453926"/>
                  <a:pt x="37207" y="433338"/>
                  <a:pt x="49609" y="416719"/>
                </a:cubicBezTo>
                <a:cubicBezTo>
                  <a:pt x="25549" y="398611"/>
                  <a:pt x="9922" y="369838"/>
                  <a:pt x="9922" y="337344"/>
                </a:cubicBezTo>
                <a:cubicBezTo>
                  <a:pt x="9922" y="299021"/>
                  <a:pt x="31750" y="265658"/>
                  <a:pt x="63500" y="249163"/>
                </a:cubicBezTo>
                <a:cubicBezTo>
                  <a:pt x="54694" y="234280"/>
                  <a:pt x="49609" y="216917"/>
                  <a:pt x="49609" y="198438"/>
                </a:cubicBezTo>
                <a:cubicBezTo>
                  <a:pt x="49609" y="143619"/>
                  <a:pt x="94010" y="99219"/>
                  <a:pt x="148828" y="99219"/>
                </a:cubicBezTo>
                <a:lnTo>
                  <a:pt x="148828" y="69453"/>
                </a:lnTo>
                <a:close/>
                <a:moveTo>
                  <a:pt x="486172" y="69453"/>
                </a:moveTo>
                <a:lnTo>
                  <a:pt x="486172" y="99219"/>
                </a:lnTo>
                <a:cubicBezTo>
                  <a:pt x="540990" y="99219"/>
                  <a:pt x="585391" y="143619"/>
                  <a:pt x="585391" y="198438"/>
                </a:cubicBezTo>
                <a:cubicBezTo>
                  <a:pt x="585391" y="217041"/>
                  <a:pt x="580306" y="234404"/>
                  <a:pt x="571500" y="249163"/>
                </a:cubicBezTo>
                <a:cubicBezTo>
                  <a:pt x="603374" y="265658"/>
                  <a:pt x="625078" y="298896"/>
                  <a:pt x="625078" y="337344"/>
                </a:cubicBezTo>
                <a:cubicBezTo>
                  <a:pt x="625078" y="369838"/>
                  <a:pt x="609451" y="398611"/>
                  <a:pt x="585391" y="416719"/>
                </a:cubicBezTo>
                <a:cubicBezTo>
                  <a:pt x="597793" y="433338"/>
                  <a:pt x="605234" y="453926"/>
                  <a:pt x="605234" y="476250"/>
                </a:cubicBezTo>
                <a:cubicBezTo>
                  <a:pt x="605234" y="531068"/>
                  <a:pt x="560834" y="575469"/>
                  <a:pt x="506016" y="575469"/>
                </a:cubicBezTo>
                <a:cubicBezTo>
                  <a:pt x="505147" y="575469"/>
                  <a:pt x="504403" y="575469"/>
                  <a:pt x="503535" y="575469"/>
                </a:cubicBezTo>
                <a:cubicBezTo>
                  <a:pt x="494729" y="609699"/>
                  <a:pt x="463600" y="635000"/>
                  <a:pt x="426641" y="635000"/>
                </a:cubicBezTo>
                <a:lnTo>
                  <a:pt x="386953" y="635000"/>
                </a:lnTo>
                <a:cubicBezTo>
                  <a:pt x="365001" y="635000"/>
                  <a:pt x="347266" y="617265"/>
                  <a:pt x="347266" y="595313"/>
                </a:cubicBezTo>
                <a:lnTo>
                  <a:pt x="347266" y="39688"/>
                </a:lnTo>
                <a:cubicBezTo>
                  <a:pt x="347266" y="17735"/>
                  <a:pt x="365001" y="0"/>
                  <a:pt x="386953" y="0"/>
                </a:cubicBezTo>
                <a:lnTo>
                  <a:pt x="416719" y="0"/>
                </a:lnTo>
                <a:cubicBezTo>
                  <a:pt x="455042" y="0"/>
                  <a:pt x="486172" y="31130"/>
                  <a:pt x="486172" y="69453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0" name="Text 6"/>
          <p:cNvSpPr/>
          <p:nvPr/>
        </p:nvSpPr>
        <p:spPr>
          <a:xfrm>
            <a:off x="2667000" y="9906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87% Prediction Accuracy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±15 AQI points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trained on 3 years of CPCB historical data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864600" y="9652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9245600" y="9969500"/>
            <a:ext cx="635000" cy="635000"/>
          </a:xfrm>
          <a:custGeom>
            <a:avLst/>
            <a:gdLst/>
            <a:ahLst/>
            <a:cxnLst/>
            <a:rect l="l" t="t" r="r" b="b"/>
            <a:pathLst>
              <a:path w="635000" h="635000">
                <a:moveTo>
                  <a:pt x="79375" y="79375"/>
                </a:moveTo>
                <a:cubicBezTo>
                  <a:pt x="79375" y="57423"/>
                  <a:pt x="61640" y="39688"/>
                  <a:pt x="39688" y="39688"/>
                </a:cubicBezTo>
                <a:cubicBezTo>
                  <a:pt x="17735" y="39688"/>
                  <a:pt x="0" y="57423"/>
                  <a:pt x="0" y="79375"/>
                </a:cubicBezTo>
                <a:lnTo>
                  <a:pt x="0" y="496094"/>
                </a:lnTo>
                <a:cubicBezTo>
                  <a:pt x="0" y="550912"/>
                  <a:pt x="44400" y="595313"/>
                  <a:pt x="99219" y="595313"/>
                </a:cubicBezTo>
                <a:lnTo>
                  <a:pt x="595313" y="595313"/>
                </a:lnTo>
                <a:cubicBezTo>
                  <a:pt x="617265" y="595313"/>
                  <a:pt x="635000" y="577577"/>
                  <a:pt x="635000" y="555625"/>
                </a:cubicBezTo>
                <a:cubicBezTo>
                  <a:pt x="635000" y="533673"/>
                  <a:pt x="617265" y="515937"/>
                  <a:pt x="595313" y="515937"/>
                </a:cubicBezTo>
                <a:lnTo>
                  <a:pt x="99219" y="515937"/>
                </a:lnTo>
                <a:cubicBezTo>
                  <a:pt x="88305" y="515937"/>
                  <a:pt x="79375" y="507008"/>
                  <a:pt x="79375" y="496094"/>
                </a:cubicBezTo>
                <a:lnTo>
                  <a:pt x="79375" y="79375"/>
                </a:lnTo>
                <a:close/>
                <a:moveTo>
                  <a:pt x="583654" y="186779"/>
                </a:moveTo>
                <a:cubicBezTo>
                  <a:pt x="599157" y="171276"/>
                  <a:pt x="599157" y="146100"/>
                  <a:pt x="583654" y="130597"/>
                </a:cubicBezTo>
                <a:cubicBezTo>
                  <a:pt x="568151" y="115094"/>
                  <a:pt x="542975" y="115094"/>
                  <a:pt x="527472" y="130597"/>
                </a:cubicBezTo>
                <a:lnTo>
                  <a:pt x="396875" y="261317"/>
                </a:lnTo>
                <a:lnTo>
                  <a:pt x="325686" y="190252"/>
                </a:lnTo>
                <a:cubicBezTo>
                  <a:pt x="310183" y="174749"/>
                  <a:pt x="285006" y="174749"/>
                  <a:pt x="269503" y="190252"/>
                </a:cubicBezTo>
                <a:lnTo>
                  <a:pt x="150440" y="309314"/>
                </a:lnTo>
                <a:cubicBezTo>
                  <a:pt x="134938" y="324817"/>
                  <a:pt x="134938" y="349994"/>
                  <a:pt x="150440" y="365497"/>
                </a:cubicBezTo>
                <a:cubicBezTo>
                  <a:pt x="165943" y="381000"/>
                  <a:pt x="191120" y="381000"/>
                  <a:pt x="206623" y="365497"/>
                </a:cubicBezTo>
                <a:lnTo>
                  <a:pt x="297656" y="274464"/>
                </a:lnTo>
                <a:lnTo>
                  <a:pt x="368846" y="345653"/>
                </a:lnTo>
                <a:cubicBezTo>
                  <a:pt x="384349" y="361156"/>
                  <a:pt x="409525" y="361156"/>
                  <a:pt x="425028" y="345653"/>
                </a:cubicBezTo>
                <a:lnTo>
                  <a:pt x="583778" y="186903"/>
                </a:ln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3" name="Text 9"/>
          <p:cNvSpPr/>
          <p:nvPr/>
        </p:nvSpPr>
        <p:spPr>
          <a:xfrm>
            <a:off x="10160000" y="99060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 Recognition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seasonal trends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Festival impacts, weather correlations, diurnal cycles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371600" y="1295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ML Model: Random Forest Regression | Data: CPCB Historical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5_From_New_Delhi_to_New_York_millions.png">    </p:cNvPr>
          <p:cNvPicPr>
            <a:picLocks noChangeAspect="1"/>
          </p:cNvPicPr>
          <p:nvPr/>
        </p:nvPicPr>
        <p:blipFill>
          <a:blip r:embed="rId1"/>
          <a:srcRect l="30842" r="30842" t="0" b="0"/>
          <a:stretch/>
        </p:blipFill>
        <p:spPr>
          <a:xfrm>
            <a:off x="12661900" y="0"/>
            <a:ext cx="117221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661900" y="0"/>
            <a:ext cx="11722100" cy="13716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30000">
                <a:srgbClr val="1A1A2E">
                  <a:alpha val="67000"/>
                </a:srgbClr>
              </a:gs>
              <a:gs pos="100000">
                <a:srgbClr val="1A1A2E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371600" y="13843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2674600" y="0"/>
            <a:ext cx="0" cy="1371600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371600" y="123317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3716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064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</a:t>
            </a:r>
            <a:endParaRPr lang="en-US" sz="9600" dirty="0"/>
          </a:p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INTELLIGENCE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371600" y="711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Personalized health recommendations based on</a:t>
            </a:r>
            <a:endParaRPr lang="en-US" sz="3200" dirty="0"/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real-time AQI, age group, and medical conditions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778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Dynamic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Health Advisory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System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683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Actionable health advice updates dynamically based on current AQI readings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5588000"/>
            <a:ext cx="21640800" cy="50800"/>
          </a:xfrm>
          <a:prstGeom prst="rect">
            <a:avLst/>
          </a:prstGeom>
          <a:gradFill rotWithShape="1" flip="none">
            <a:gsLst>
              <a:gs pos="0">
                <a:srgbClr val="2ECC71"/>
              </a:gs>
              <a:gs pos="20000">
                <a:srgbClr val="F39C12"/>
              </a:gs>
              <a:gs pos="40000">
                <a:srgbClr val="E67E22"/>
              </a:gs>
              <a:gs pos="60000">
                <a:srgbClr val="E74C3C"/>
              </a:gs>
              <a:gs pos="80000">
                <a:srgbClr val="FF6B6B"/>
              </a:gs>
              <a:gs pos="100000">
                <a:srgbClr val="FF6B6B"/>
              </a:gs>
            </a:gsLst>
            <a:lin ang="0" scaled="1"/>
          </a:gradFill>
          <a:ln/>
        </p:spPr>
      </p:sp>
      <p:sp>
        <p:nvSpPr>
          <p:cNvPr id="8" name="Shape 6"/>
          <p:cNvSpPr/>
          <p:nvPr/>
        </p:nvSpPr>
        <p:spPr>
          <a:xfrm>
            <a:off x="1752600" y="5410200"/>
            <a:ext cx="406400" cy="4064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6070600" y="5410200"/>
            <a:ext cx="406400" cy="4064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8600" y="5410200"/>
            <a:ext cx="406400" cy="40640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1" name="Shape 9"/>
          <p:cNvSpPr/>
          <p:nvPr/>
        </p:nvSpPr>
        <p:spPr>
          <a:xfrm>
            <a:off x="14706600" y="5410200"/>
            <a:ext cx="406400" cy="4064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Shape 10"/>
          <p:cNvSpPr/>
          <p:nvPr/>
        </p:nvSpPr>
        <p:spPr>
          <a:xfrm>
            <a:off x="19024600" y="5410200"/>
            <a:ext cx="406400" cy="4064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6350000"/>
            <a:ext cx="4064000" cy="533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25600" y="660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ECC71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0-50 GOOD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654175" y="7366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29046" y="-28575"/>
                </a:moveTo>
                <a:cubicBezTo>
                  <a:pt x="256646" y="-28575"/>
                  <a:pt x="279053" y="-6168"/>
                  <a:pt x="279053" y="21431"/>
                </a:cubicBezTo>
                <a:cubicBezTo>
                  <a:pt x="279053" y="49030"/>
                  <a:pt x="256646" y="71438"/>
                  <a:pt x="229046" y="71438"/>
                </a:cubicBezTo>
                <a:cubicBezTo>
                  <a:pt x="201447" y="71438"/>
                  <a:pt x="179040" y="49030"/>
                  <a:pt x="179040" y="21431"/>
                </a:cubicBezTo>
                <a:cubicBezTo>
                  <a:pt x="179040" y="-6168"/>
                  <a:pt x="201447" y="-28575"/>
                  <a:pt x="229046" y="-28575"/>
                </a:cubicBezTo>
                <a:close/>
                <a:moveTo>
                  <a:pt x="110371" y="157163"/>
                </a:moveTo>
                <a:cubicBezTo>
                  <a:pt x="107424" y="157163"/>
                  <a:pt x="104835" y="158948"/>
                  <a:pt x="103763" y="161627"/>
                </a:cubicBezTo>
                <a:lnTo>
                  <a:pt x="84118" y="210651"/>
                </a:lnTo>
                <a:cubicBezTo>
                  <a:pt x="78224" y="225296"/>
                  <a:pt x="61615" y="232440"/>
                  <a:pt x="46970" y="226546"/>
                </a:cubicBezTo>
                <a:cubicBezTo>
                  <a:pt x="32325" y="220653"/>
                  <a:pt x="25182" y="204043"/>
                  <a:pt x="31075" y="189399"/>
                </a:cubicBezTo>
                <a:lnTo>
                  <a:pt x="50631" y="140375"/>
                </a:lnTo>
                <a:cubicBezTo>
                  <a:pt x="60454" y="115997"/>
                  <a:pt x="84028" y="100013"/>
                  <a:pt x="110371" y="100013"/>
                </a:cubicBezTo>
                <a:lnTo>
                  <a:pt x="197257" y="100013"/>
                </a:lnTo>
                <a:cubicBezTo>
                  <a:pt x="222706" y="100013"/>
                  <a:pt x="246191" y="113496"/>
                  <a:pt x="258961" y="135463"/>
                </a:cubicBezTo>
                <a:lnTo>
                  <a:pt x="288250" y="185738"/>
                </a:lnTo>
                <a:lnTo>
                  <a:pt x="343257" y="185738"/>
                </a:lnTo>
                <a:cubicBezTo>
                  <a:pt x="359063" y="185738"/>
                  <a:pt x="371832" y="198507"/>
                  <a:pt x="371832" y="214313"/>
                </a:cubicBezTo>
                <a:cubicBezTo>
                  <a:pt x="371832" y="230118"/>
                  <a:pt x="359063" y="242888"/>
                  <a:pt x="343257" y="242888"/>
                </a:cubicBezTo>
                <a:lnTo>
                  <a:pt x="288250" y="242888"/>
                </a:lnTo>
                <a:cubicBezTo>
                  <a:pt x="267891" y="242888"/>
                  <a:pt x="249138" y="232083"/>
                  <a:pt x="238869" y="214491"/>
                </a:cubicBezTo>
                <a:lnTo>
                  <a:pt x="229939" y="199221"/>
                </a:lnTo>
                <a:lnTo>
                  <a:pt x="211455" y="262086"/>
                </a:lnTo>
                <a:lnTo>
                  <a:pt x="278785" y="282267"/>
                </a:lnTo>
                <a:cubicBezTo>
                  <a:pt x="303520" y="289679"/>
                  <a:pt x="316111" y="317093"/>
                  <a:pt x="305663" y="340757"/>
                </a:cubicBezTo>
                <a:lnTo>
                  <a:pt x="255121" y="454521"/>
                </a:lnTo>
                <a:cubicBezTo>
                  <a:pt x="248692" y="468987"/>
                  <a:pt x="231815" y="475417"/>
                  <a:pt x="217438" y="468987"/>
                </a:cubicBezTo>
                <a:cubicBezTo>
                  <a:pt x="203061" y="462558"/>
                  <a:pt x="196542" y="445681"/>
                  <a:pt x="202972" y="431304"/>
                </a:cubicBezTo>
                <a:lnTo>
                  <a:pt x="246906" y="332363"/>
                </a:lnTo>
                <a:lnTo>
                  <a:pt x="161270" y="306645"/>
                </a:lnTo>
                <a:cubicBezTo>
                  <a:pt x="132070" y="297894"/>
                  <a:pt x="114836" y="267623"/>
                  <a:pt x="122247" y="238065"/>
                </a:cubicBezTo>
                <a:lnTo>
                  <a:pt x="142518" y="157163"/>
                </a:lnTo>
                <a:lnTo>
                  <a:pt x="110460" y="157163"/>
                </a:lnTo>
                <a:close/>
                <a:moveTo>
                  <a:pt x="103227" y="318790"/>
                </a:moveTo>
                <a:cubicBezTo>
                  <a:pt x="115104" y="332095"/>
                  <a:pt x="130641" y="342275"/>
                  <a:pt x="148947" y="347722"/>
                </a:cubicBezTo>
                <a:lnTo>
                  <a:pt x="153144" y="348972"/>
                </a:lnTo>
                <a:lnTo>
                  <a:pt x="146983" y="366206"/>
                </a:lnTo>
                <a:cubicBezTo>
                  <a:pt x="141803" y="380762"/>
                  <a:pt x="132695" y="393710"/>
                  <a:pt x="120819" y="403533"/>
                </a:cubicBezTo>
                <a:lnTo>
                  <a:pt x="47238" y="464165"/>
                </a:lnTo>
                <a:cubicBezTo>
                  <a:pt x="35094" y="474166"/>
                  <a:pt x="17056" y="472470"/>
                  <a:pt x="7054" y="460325"/>
                </a:cubicBezTo>
                <a:cubicBezTo>
                  <a:pt x="-2947" y="448181"/>
                  <a:pt x="-1250" y="430143"/>
                  <a:pt x="10894" y="420142"/>
                </a:cubicBezTo>
                <a:lnTo>
                  <a:pt x="84475" y="359509"/>
                </a:lnTo>
                <a:cubicBezTo>
                  <a:pt x="88493" y="356205"/>
                  <a:pt x="91440" y="351919"/>
                  <a:pt x="93226" y="347097"/>
                </a:cubicBezTo>
                <a:lnTo>
                  <a:pt x="103227" y="318790"/>
                </a:ln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1625600" y="8001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restrictions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Enjoy outdoor activities freely. Air quality is satisfactory with minimal health risk.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25600" y="1028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CC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Outdoor exercise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CC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Windows open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2ECC7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No mask needed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5800" y="6350000"/>
            <a:ext cx="4064000" cy="533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9800" y="660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600" dirty="0">
                <a:solidFill>
                  <a:srgbClr val="F39C1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51-100 SATISFACTORY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76950" y="7366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50" y="71438"/>
                </a:moveTo>
                <a:cubicBezTo>
                  <a:pt x="199049" y="71438"/>
                  <a:pt x="221456" y="49030"/>
                  <a:pt x="221456" y="21431"/>
                </a:cubicBezTo>
                <a:cubicBezTo>
                  <a:pt x="221456" y="-6168"/>
                  <a:pt x="199049" y="-28575"/>
                  <a:pt x="171450" y="-28575"/>
                </a:cubicBezTo>
                <a:cubicBezTo>
                  <a:pt x="143851" y="-28575"/>
                  <a:pt x="121444" y="-6168"/>
                  <a:pt x="121444" y="21431"/>
                </a:cubicBezTo>
                <a:cubicBezTo>
                  <a:pt x="121444" y="49030"/>
                  <a:pt x="143851" y="71438"/>
                  <a:pt x="171450" y="71438"/>
                </a:cubicBezTo>
                <a:close/>
                <a:moveTo>
                  <a:pt x="94119" y="203508"/>
                </a:moveTo>
                <a:lnTo>
                  <a:pt x="114300" y="183326"/>
                </a:lnTo>
                <a:lnTo>
                  <a:pt x="114300" y="245209"/>
                </a:lnTo>
                <a:cubicBezTo>
                  <a:pt x="114300" y="270212"/>
                  <a:pt x="125194" y="294055"/>
                  <a:pt x="144214" y="310307"/>
                </a:cubicBezTo>
                <a:lnTo>
                  <a:pt x="207972" y="364956"/>
                </a:lnTo>
                <a:cubicBezTo>
                  <a:pt x="213241" y="369510"/>
                  <a:pt x="216724" y="375761"/>
                  <a:pt x="217706" y="382637"/>
                </a:cubicBezTo>
                <a:lnTo>
                  <a:pt x="228957" y="461308"/>
                </a:lnTo>
                <a:cubicBezTo>
                  <a:pt x="231190" y="476935"/>
                  <a:pt x="245656" y="487829"/>
                  <a:pt x="261283" y="485596"/>
                </a:cubicBezTo>
                <a:cubicBezTo>
                  <a:pt x="276910" y="483364"/>
                  <a:pt x="287804" y="468898"/>
                  <a:pt x="285571" y="453271"/>
                </a:cubicBezTo>
                <a:lnTo>
                  <a:pt x="274320" y="374600"/>
                </a:lnTo>
                <a:cubicBezTo>
                  <a:pt x="271373" y="353973"/>
                  <a:pt x="261015" y="335220"/>
                  <a:pt x="245209" y="321647"/>
                </a:cubicBezTo>
                <a:lnTo>
                  <a:pt x="214402" y="295215"/>
                </a:lnTo>
                <a:lnTo>
                  <a:pt x="214402" y="192345"/>
                </a:lnTo>
                <a:lnTo>
                  <a:pt x="217795" y="196542"/>
                </a:lnTo>
                <a:cubicBezTo>
                  <a:pt x="234047" y="216902"/>
                  <a:pt x="258693" y="228689"/>
                  <a:pt x="284768" y="228689"/>
                </a:cubicBezTo>
                <a:lnTo>
                  <a:pt x="314414" y="228689"/>
                </a:lnTo>
                <a:cubicBezTo>
                  <a:pt x="330220" y="228689"/>
                  <a:pt x="342989" y="215920"/>
                  <a:pt x="342989" y="200114"/>
                </a:cubicBezTo>
                <a:cubicBezTo>
                  <a:pt x="342989" y="184309"/>
                  <a:pt x="330220" y="171539"/>
                  <a:pt x="314414" y="171539"/>
                </a:cubicBezTo>
                <a:lnTo>
                  <a:pt x="284768" y="171539"/>
                </a:lnTo>
                <a:cubicBezTo>
                  <a:pt x="276106" y="171539"/>
                  <a:pt x="267891" y="167610"/>
                  <a:pt x="262444" y="160824"/>
                </a:cubicBezTo>
                <a:lnTo>
                  <a:pt x="246459" y="140821"/>
                </a:lnTo>
                <a:cubicBezTo>
                  <a:pt x="225921" y="115104"/>
                  <a:pt x="194756" y="100102"/>
                  <a:pt x="161806" y="100102"/>
                </a:cubicBezTo>
                <a:cubicBezTo>
                  <a:pt x="133052" y="100102"/>
                  <a:pt x="105460" y="111532"/>
                  <a:pt x="85189" y="131891"/>
                </a:cubicBezTo>
                <a:lnTo>
                  <a:pt x="53667" y="163056"/>
                </a:lnTo>
                <a:cubicBezTo>
                  <a:pt x="37594" y="179130"/>
                  <a:pt x="28575" y="200918"/>
                  <a:pt x="28575" y="223689"/>
                </a:cubicBezTo>
                <a:lnTo>
                  <a:pt x="28575" y="257175"/>
                </a:lnTo>
                <a:cubicBezTo>
                  <a:pt x="28575" y="272981"/>
                  <a:pt x="41344" y="285750"/>
                  <a:pt x="57150" y="285750"/>
                </a:cubicBezTo>
                <a:cubicBezTo>
                  <a:pt x="72956" y="285750"/>
                  <a:pt x="85725" y="272981"/>
                  <a:pt x="85725" y="257175"/>
                </a:cubicBezTo>
                <a:lnTo>
                  <a:pt x="85725" y="223689"/>
                </a:lnTo>
                <a:cubicBezTo>
                  <a:pt x="85725" y="216098"/>
                  <a:pt x="88761" y="208865"/>
                  <a:pt x="94119" y="203508"/>
                </a:cubicBezTo>
                <a:close/>
                <a:moveTo>
                  <a:pt x="105192" y="363706"/>
                </a:moveTo>
                <a:cubicBezTo>
                  <a:pt x="103852" y="368350"/>
                  <a:pt x="101352" y="372636"/>
                  <a:pt x="97959" y="376029"/>
                </a:cubicBezTo>
                <a:lnTo>
                  <a:pt x="36969" y="437019"/>
                </a:lnTo>
                <a:cubicBezTo>
                  <a:pt x="25807" y="448181"/>
                  <a:pt x="25807" y="466308"/>
                  <a:pt x="36969" y="477470"/>
                </a:cubicBezTo>
                <a:cubicBezTo>
                  <a:pt x="48131" y="488632"/>
                  <a:pt x="66258" y="488632"/>
                  <a:pt x="77420" y="477470"/>
                </a:cubicBezTo>
                <a:lnTo>
                  <a:pt x="138410" y="416481"/>
                </a:lnTo>
                <a:cubicBezTo>
                  <a:pt x="148679" y="406211"/>
                  <a:pt x="156180" y="393442"/>
                  <a:pt x="160199" y="379422"/>
                </a:cubicBezTo>
                <a:lnTo>
                  <a:pt x="162163" y="372636"/>
                </a:lnTo>
                <a:lnTo>
                  <a:pt x="121087" y="337453"/>
                </a:lnTo>
                <a:cubicBezTo>
                  <a:pt x="118854" y="335488"/>
                  <a:pt x="116622" y="333524"/>
                  <a:pt x="114479" y="331381"/>
                </a:cubicBezTo>
                <a:lnTo>
                  <a:pt x="105192" y="363706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6019800" y="8001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 activities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 precautions for sensitive individuals. Monitor symptoms if you have respiratory conditions.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19800" y="1028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Most activities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△ Sensitive groups cautious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39C1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No mask needed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0160000" y="6350000"/>
            <a:ext cx="4064000" cy="533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14000" y="660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E67E22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101-200 MODERATE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14000" y="736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9133" y="7680"/>
                </a:moveTo>
                <a:cubicBezTo>
                  <a:pt x="220117" y="-2500"/>
                  <a:pt x="237083" y="-2500"/>
                  <a:pt x="247977" y="7680"/>
                </a:cubicBezTo>
                <a:lnTo>
                  <a:pt x="328613" y="82421"/>
                </a:lnTo>
                <a:lnTo>
                  <a:pt x="328613" y="71438"/>
                </a:lnTo>
                <a:cubicBezTo>
                  <a:pt x="328613" y="55632"/>
                  <a:pt x="341382" y="42863"/>
                  <a:pt x="357188" y="42863"/>
                </a:cubicBezTo>
                <a:lnTo>
                  <a:pt x="385763" y="42863"/>
                </a:lnTo>
                <a:cubicBezTo>
                  <a:pt x="401568" y="42863"/>
                  <a:pt x="414338" y="55632"/>
                  <a:pt x="414338" y="71438"/>
                </a:cubicBezTo>
                <a:lnTo>
                  <a:pt x="414338" y="162074"/>
                </a:lnTo>
                <a:lnTo>
                  <a:pt x="448092" y="193417"/>
                </a:lnTo>
                <a:cubicBezTo>
                  <a:pt x="456664" y="201454"/>
                  <a:pt x="459522" y="213866"/>
                  <a:pt x="455235" y="224760"/>
                </a:cubicBezTo>
                <a:cubicBezTo>
                  <a:pt x="450949" y="235654"/>
                  <a:pt x="440412" y="242888"/>
                  <a:pt x="428625" y="242888"/>
                </a:cubicBezTo>
                <a:lnTo>
                  <a:pt x="414338" y="242888"/>
                </a:lnTo>
                <a:lnTo>
                  <a:pt x="414338" y="400050"/>
                </a:lnTo>
                <a:cubicBezTo>
                  <a:pt x="414338" y="431572"/>
                  <a:pt x="388709" y="457200"/>
                  <a:pt x="357188" y="457200"/>
                </a:cubicBezTo>
                <a:lnTo>
                  <a:pt x="100013" y="457200"/>
                </a:lnTo>
                <a:cubicBezTo>
                  <a:pt x="68491" y="457200"/>
                  <a:pt x="42863" y="431572"/>
                  <a:pt x="42863" y="400050"/>
                </a:cubicBezTo>
                <a:lnTo>
                  <a:pt x="42863" y="242888"/>
                </a:lnTo>
                <a:lnTo>
                  <a:pt x="28575" y="242888"/>
                </a:lnTo>
                <a:cubicBezTo>
                  <a:pt x="16788" y="242888"/>
                  <a:pt x="6251" y="235654"/>
                  <a:pt x="1965" y="224760"/>
                </a:cubicBezTo>
                <a:cubicBezTo>
                  <a:pt x="-2322" y="213866"/>
                  <a:pt x="536" y="201364"/>
                  <a:pt x="9108" y="193417"/>
                </a:cubicBezTo>
                <a:lnTo>
                  <a:pt x="209133" y="7680"/>
                </a:lnTo>
                <a:close/>
                <a:moveTo>
                  <a:pt x="214313" y="285750"/>
                </a:moveTo>
                <a:cubicBezTo>
                  <a:pt x="190649" y="285750"/>
                  <a:pt x="171450" y="304949"/>
                  <a:pt x="171450" y="328613"/>
                </a:cubicBezTo>
                <a:lnTo>
                  <a:pt x="171450" y="414338"/>
                </a:lnTo>
                <a:lnTo>
                  <a:pt x="285750" y="414338"/>
                </a:lnTo>
                <a:lnTo>
                  <a:pt x="285750" y="328613"/>
                </a:lnTo>
                <a:cubicBezTo>
                  <a:pt x="285750" y="304949"/>
                  <a:pt x="266551" y="285750"/>
                  <a:pt x="242888" y="285750"/>
                </a:cubicBezTo>
                <a:lnTo>
                  <a:pt x="214313" y="28575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14000" y="8001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exertion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Sensitive groups should limit outdoor exposure. Consider shorter outdoor sessions.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14000" y="1028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△ Limit prolonged outdoor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△ Sensitive groups stay in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△ Mask optional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4554200" y="6350000"/>
            <a:ext cx="4064000" cy="533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08200" y="660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201-300 POOR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779625" y="736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57175" y="57150"/>
                </a:moveTo>
                <a:cubicBezTo>
                  <a:pt x="57150" y="57150"/>
                  <a:pt x="0" y="142875"/>
                  <a:pt x="0" y="242888"/>
                </a:cubicBezTo>
                <a:cubicBezTo>
                  <a:pt x="0" y="342900"/>
                  <a:pt x="71438" y="400050"/>
                  <a:pt x="157163" y="400050"/>
                </a:cubicBezTo>
                <a:lnTo>
                  <a:pt x="164663" y="400050"/>
                </a:lnTo>
                <a:cubicBezTo>
                  <a:pt x="186273" y="400050"/>
                  <a:pt x="206097" y="387816"/>
                  <a:pt x="215741" y="368439"/>
                </a:cubicBezTo>
                <a:lnTo>
                  <a:pt x="236458" y="327094"/>
                </a:lnTo>
                <a:cubicBezTo>
                  <a:pt x="240387" y="319236"/>
                  <a:pt x="248335" y="314325"/>
                  <a:pt x="257175" y="314325"/>
                </a:cubicBezTo>
                <a:cubicBezTo>
                  <a:pt x="266015" y="314325"/>
                  <a:pt x="273963" y="319236"/>
                  <a:pt x="277892" y="327094"/>
                </a:cubicBezTo>
                <a:lnTo>
                  <a:pt x="298609" y="368439"/>
                </a:lnTo>
                <a:cubicBezTo>
                  <a:pt x="308253" y="387816"/>
                  <a:pt x="328077" y="400050"/>
                  <a:pt x="349687" y="400050"/>
                </a:cubicBezTo>
                <a:lnTo>
                  <a:pt x="357187" y="400050"/>
                </a:lnTo>
                <a:cubicBezTo>
                  <a:pt x="442912" y="400050"/>
                  <a:pt x="514350" y="342900"/>
                  <a:pt x="514350" y="242888"/>
                </a:cubicBezTo>
                <a:cubicBezTo>
                  <a:pt x="514350" y="142875"/>
                  <a:pt x="457200" y="57150"/>
                  <a:pt x="257175" y="57150"/>
                </a:cubicBezTo>
                <a:close/>
                <a:moveTo>
                  <a:pt x="85725" y="228600"/>
                </a:moveTo>
                <a:cubicBezTo>
                  <a:pt x="85725" y="197058"/>
                  <a:pt x="111333" y="171450"/>
                  <a:pt x="142875" y="171450"/>
                </a:cubicBezTo>
                <a:cubicBezTo>
                  <a:pt x="174417" y="171450"/>
                  <a:pt x="200025" y="197058"/>
                  <a:pt x="200025" y="228600"/>
                </a:cubicBezTo>
                <a:cubicBezTo>
                  <a:pt x="200025" y="260142"/>
                  <a:pt x="174417" y="285750"/>
                  <a:pt x="142875" y="285750"/>
                </a:cubicBezTo>
                <a:cubicBezTo>
                  <a:pt x="111333" y="285750"/>
                  <a:pt x="85725" y="260142"/>
                  <a:pt x="85725" y="228600"/>
                </a:cubicBezTo>
                <a:close/>
                <a:moveTo>
                  <a:pt x="371475" y="171450"/>
                </a:moveTo>
                <a:cubicBezTo>
                  <a:pt x="403017" y="171450"/>
                  <a:pt x="428625" y="197058"/>
                  <a:pt x="428625" y="228600"/>
                </a:cubicBezTo>
                <a:cubicBezTo>
                  <a:pt x="428625" y="260142"/>
                  <a:pt x="403017" y="285750"/>
                  <a:pt x="371475" y="285750"/>
                </a:cubicBezTo>
                <a:cubicBezTo>
                  <a:pt x="339933" y="285750"/>
                  <a:pt x="314325" y="260142"/>
                  <a:pt x="314325" y="228600"/>
                </a:cubicBezTo>
                <a:cubicBezTo>
                  <a:pt x="314325" y="197058"/>
                  <a:pt x="339933" y="171450"/>
                  <a:pt x="371475" y="171450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14808200" y="8001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 outdoor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Wear mask outside. Keep windows closed. Use air purifiers indoors if available.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808200" y="1028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Avoid outdoor exercise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Keep windows closed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Wear N95 mask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8948400" y="6350000"/>
            <a:ext cx="4064000" cy="533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202400" y="6604000"/>
            <a:ext cx="355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300+ SEVERE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9202400" y="7366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41727" y="0"/>
                  <a:pt x="253782" y="7233"/>
                  <a:pt x="260033" y="18752"/>
                </a:cubicBezTo>
                <a:lnTo>
                  <a:pt x="452914" y="375940"/>
                </a:lnTo>
                <a:cubicBezTo>
                  <a:pt x="458897" y="387013"/>
                  <a:pt x="458629" y="400407"/>
                  <a:pt x="452199" y="411212"/>
                </a:cubicBezTo>
                <a:cubicBezTo>
                  <a:pt x="445770" y="422017"/>
                  <a:pt x="434072" y="428625"/>
                  <a:pt x="421481" y="428625"/>
                </a:cubicBezTo>
                <a:lnTo>
                  <a:pt x="35719" y="428625"/>
                </a:lnTo>
                <a:cubicBezTo>
                  <a:pt x="23128" y="428625"/>
                  <a:pt x="11519" y="422017"/>
                  <a:pt x="5001" y="411212"/>
                </a:cubicBezTo>
                <a:cubicBezTo>
                  <a:pt x="-1518" y="400407"/>
                  <a:pt x="-1697" y="387013"/>
                  <a:pt x="4286" y="375940"/>
                </a:cubicBezTo>
                <a:lnTo>
                  <a:pt x="197168" y="18752"/>
                </a:lnTo>
                <a:cubicBezTo>
                  <a:pt x="203418" y="7233"/>
                  <a:pt x="215473" y="0"/>
                  <a:pt x="228600" y="0"/>
                </a:cubicBezTo>
                <a:close/>
                <a:moveTo>
                  <a:pt x="228600" y="150019"/>
                </a:moveTo>
                <a:cubicBezTo>
                  <a:pt x="216724" y="150019"/>
                  <a:pt x="207169" y="159574"/>
                  <a:pt x="207169" y="171450"/>
                </a:cubicBezTo>
                <a:lnTo>
                  <a:pt x="207169" y="271463"/>
                </a:lnTo>
                <a:cubicBezTo>
                  <a:pt x="207169" y="283339"/>
                  <a:pt x="216724" y="292894"/>
                  <a:pt x="228600" y="292894"/>
                </a:cubicBezTo>
                <a:cubicBezTo>
                  <a:pt x="240476" y="292894"/>
                  <a:pt x="250031" y="283339"/>
                  <a:pt x="250031" y="271463"/>
                </a:cubicBezTo>
                <a:lnTo>
                  <a:pt x="250031" y="171450"/>
                </a:lnTo>
                <a:cubicBezTo>
                  <a:pt x="250031" y="159574"/>
                  <a:pt x="240476" y="150019"/>
                  <a:pt x="228600" y="150019"/>
                </a:cubicBezTo>
                <a:close/>
                <a:moveTo>
                  <a:pt x="252442" y="342900"/>
                </a:moveTo>
                <a:cubicBezTo>
                  <a:pt x="252985" y="334050"/>
                  <a:pt x="248571" y="325630"/>
                  <a:pt x="240985" y="321041"/>
                </a:cubicBezTo>
                <a:cubicBezTo>
                  <a:pt x="233398" y="316452"/>
                  <a:pt x="223891" y="316452"/>
                  <a:pt x="216305" y="321041"/>
                </a:cubicBezTo>
                <a:cubicBezTo>
                  <a:pt x="208718" y="325630"/>
                  <a:pt x="204305" y="334050"/>
                  <a:pt x="204847" y="342900"/>
                </a:cubicBezTo>
                <a:cubicBezTo>
                  <a:pt x="204305" y="351750"/>
                  <a:pt x="208718" y="360170"/>
                  <a:pt x="216305" y="364759"/>
                </a:cubicBezTo>
                <a:cubicBezTo>
                  <a:pt x="223891" y="369348"/>
                  <a:pt x="233398" y="369348"/>
                  <a:pt x="240985" y="364759"/>
                </a:cubicBezTo>
                <a:cubicBezTo>
                  <a:pt x="248571" y="360170"/>
                  <a:pt x="252985" y="351750"/>
                  <a:pt x="252442" y="34290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6" name="Text 34"/>
          <p:cNvSpPr/>
          <p:nvPr/>
        </p:nvSpPr>
        <p:spPr>
          <a:xfrm>
            <a:off x="19202400" y="8001000"/>
            <a:ext cx="355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Stay indoors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air purifiers. N95 mask mandatory if going outside. Seek medical help if symptoms appear.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9202400" y="10287000"/>
            <a:ext cx="355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 Stay indoors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N95 mask mandatory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 Air purifier essential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905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Personalized Protection by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Age &amp; Health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371600" y="3937000"/>
            <a:ext cx="571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AGE-SPECIFIC RECOMMENDATIONS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4699000"/>
            <a:ext cx="5080000" cy="3556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57375" y="5016500"/>
            <a:ext cx="349250" cy="558800"/>
          </a:xfrm>
          <a:custGeom>
            <a:avLst/>
            <a:gdLst/>
            <a:ahLst/>
            <a:cxnLst/>
            <a:rect l="l" t="t" r="r" b="b"/>
            <a:pathLst>
              <a:path w="349250" h="558800">
                <a:moveTo>
                  <a:pt x="104775" y="69850"/>
                </a:moveTo>
                <a:cubicBezTo>
                  <a:pt x="104775" y="31299"/>
                  <a:pt x="136074" y="0"/>
                  <a:pt x="174625" y="0"/>
                </a:cubicBezTo>
                <a:cubicBezTo>
                  <a:pt x="213176" y="0"/>
                  <a:pt x="244475" y="31299"/>
                  <a:pt x="244475" y="69850"/>
                </a:cubicBezTo>
                <a:cubicBezTo>
                  <a:pt x="244475" y="108401"/>
                  <a:pt x="213176" y="139700"/>
                  <a:pt x="174625" y="139700"/>
                </a:cubicBezTo>
                <a:cubicBezTo>
                  <a:pt x="136074" y="139700"/>
                  <a:pt x="104775" y="108401"/>
                  <a:pt x="104775" y="69850"/>
                </a:cubicBezTo>
                <a:close/>
                <a:moveTo>
                  <a:pt x="157163" y="419100"/>
                </a:moveTo>
                <a:lnTo>
                  <a:pt x="157163" y="523875"/>
                </a:lnTo>
                <a:cubicBezTo>
                  <a:pt x="157163" y="543193"/>
                  <a:pt x="141555" y="558800"/>
                  <a:pt x="122238" y="558800"/>
                </a:cubicBezTo>
                <a:cubicBezTo>
                  <a:pt x="102920" y="558800"/>
                  <a:pt x="87313" y="543193"/>
                  <a:pt x="87313" y="523875"/>
                </a:cubicBezTo>
                <a:lnTo>
                  <a:pt x="87313" y="314107"/>
                </a:lnTo>
                <a:lnTo>
                  <a:pt x="64502" y="350341"/>
                </a:lnTo>
                <a:cubicBezTo>
                  <a:pt x="54243" y="366713"/>
                  <a:pt x="32633" y="371515"/>
                  <a:pt x="16371" y="361255"/>
                </a:cubicBezTo>
                <a:cubicBezTo>
                  <a:pt x="109" y="350996"/>
                  <a:pt x="-4911" y="329496"/>
                  <a:pt x="5348" y="313234"/>
                </a:cubicBezTo>
                <a:lnTo>
                  <a:pt x="48895" y="244148"/>
                </a:lnTo>
                <a:cubicBezTo>
                  <a:pt x="76071" y="200819"/>
                  <a:pt x="123547" y="174625"/>
                  <a:pt x="174625" y="174625"/>
                </a:cubicBezTo>
                <a:cubicBezTo>
                  <a:pt x="225703" y="174625"/>
                  <a:pt x="273179" y="200819"/>
                  <a:pt x="300355" y="244038"/>
                </a:cubicBezTo>
                <a:lnTo>
                  <a:pt x="343902" y="313234"/>
                </a:lnTo>
                <a:cubicBezTo>
                  <a:pt x="354161" y="329605"/>
                  <a:pt x="349250" y="351105"/>
                  <a:pt x="332988" y="361365"/>
                </a:cubicBezTo>
                <a:cubicBezTo>
                  <a:pt x="316726" y="371624"/>
                  <a:pt x="295116" y="366713"/>
                  <a:pt x="284857" y="350451"/>
                </a:cubicBezTo>
                <a:lnTo>
                  <a:pt x="261938" y="314107"/>
                </a:lnTo>
                <a:lnTo>
                  <a:pt x="261938" y="523875"/>
                </a:lnTo>
                <a:cubicBezTo>
                  <a:pt x="261938" y="543193"/>
                  <a:pt x="246330" y="558800"/>
                  <a:pt x="227013" y="558800"/>
                </a:cubicBezTo>
                <a:cubicBezTo>
                  <a:pt x="207695" y="558800"/>
                  <a:pt x="192088" y="543193"/>
                  <a:pt x="192088" y="523875"/>
                </a:cubicBezTo>
                <a:lnTo>
                  <a:pt x="192088" y="419100"/>
                </a:lnTo>
                <a:lnTo>
                  <a:pt x="157163" y="419100"/>
                </a:ln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9" name="Text 7"/>
          <p:cNvSpPr/>
          <p:nvPr/>
        </p:nvSpPr>
        <p:spPr>
          <a:xfrm>
            <a:off x="2540000" y="5016500"/>
            <a:ext cx="355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Children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52600" y="5842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indoors when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74C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&gt; 150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Limit outdoor play during high pollution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N95 masks designed for kids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schools have air purifiers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31000" y="4699000"/>
            <a:ext cx="5080000" cy="3556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46925" y="5016500"/>
            <a:ext cx="488950" cy="558800"/>
          </a:xfrm>
          <a:custGeom>
            <a:avLst/>
            <a:gdLst/>
            <a:ahLst/>
            <a:cxnLst/>
            <a:rect l="l" t="t" r="r" b="b"/>
            <a:pathLst>
              <a:path w="488950" h="558800">
                <a:moveTo>
                  <a:pt x="253206" y="-34925"/>
                </a:moveTo>
                <a:cubicBezTo>
                  <a:pt x="286939" y="-34925"/>
                  <a:pt x="314325" y="-7539"/>
                  <a:pt x="314325" y="26194"/>
                </a:cubicBezTo>
                <a:cubicBezTo>
                  <a:pt x="314325" y="59926"/>
                  <a:pt x="286939" y="87313"/>
                  <a:pt x="253206" y="87313"/>
                </a:cubicBezTo>
                <a:cubicBezTo>
                  <a:pt x="219474" y="87313"/>
                  <a:pt x="192088" y="59926"/>
                  <a:pt x="192088" y="26194"/>
                </a:cubicBezTo>
                <a:cubicBezTo>
                  <a:pt x="192088" y="-7539"/>
                  <a:pt x="219474" y="-34925"/>
                  <a:pt x="253206" y="-34925"/>
                </a:cubicBezTo>
                <a:close/>
                <a:moveTo>
                  <a:pt x="157163" y="258336"/>
                </a:moveTo>
                <a:lnTo>
                  <a:pt x="106630" y="326440"/>
                </a:lnTo>
                <a:cubicBezTo>
                  <a:pt x="95171" y="341938"/>
                  <a:pt x="73233" y="345212"/>
                  <a:pt x="57735" y="333643"/>
                </a:cubicBezTo>
                <a:cubicBezTo>
                  <a:pt x="42237" y="322074"/>
                  <a:pt x="38963" y="300246"/>
                  <a:pt x="50532" y="284748"/>
                </a:cubicBezTo>
                <a:lnTo>
                  <a:pt x="127476" y="181064"/>
                </a:lnTo>
                <a:cubicBezTo>
                  <a:pt x="154980" y="144066"/>
                  <a:pt x="198309" y="122238"/>
                  <a:pt x="244475" y="122238"/>
                </a:cubicBezTo>
                <a:cubicBezTo>
                  <a:pt x="290641" y="122238"/>
                  <a:pt x="333970" y="144066"/>
                  <a:pt x="361474" y="181064"/>
                </a:cubicBezTo>
                <a:lnTo>
                  <a:pt x="438418" y="284748"/>
                </a:lnTo>
                <a:cubicBezTo>
                  <a:pt x="449878" y="300246"/>
                  <a:pt x="446713" y="322074"/>
                  <a:pt x="431215" y="333643"/>
                </a:cubicBezTo>
                <a:cubicBezTo>
                  <a:pt x="415717" y="345212"/>
                  <a:pt x="393889" y="341938"/>
                  <a:pt x="382320" y="326440"/>
                </a:cubicBezTo>
                <a:lnTo>
                  <a:pt x="331788" y="258336"/>
                </a:lnTo>
                <a:lnTo>
                  <a:pt x="331788" y="558800"/>
                </a:lnTo>
                <a:cubicBezTo>
                  <a:pt x="331788" y="578118"/>
                  <a:pt x="316180" y="593725"/>
                  <a:pt x="296863" y="593725"/>
                </a:cubicBezTo>
                <a:cubicBezTo>
                  <a:pt x="277545" y="593725"/>
                  <a:pt x="261938" y="578118"/>
                  <a:pt x="261938" y="558800"/>
                </a:cubicBezTo>
                <a:lnTo>
                  <a:pt x="261938" y="384175"/>
                </a:lnTo>
                <a:cubicBezTo>
                  <a:pt x="261938" y="374571"/>
                  <a:pt x="254079" y="366713"/>
                  <a:pt x="244475" y="366713"/>
                </a:cubicBezTo>
                <a:cubicBezTo>
                  <a:pt x="234871" y="366713"/>
                  <a:pt x="227013" y="374571"/>
                  <a:pt x="227013" y="384175"/>
                </a:cubicBezTo>
                <a:lnTo>
                  <a:pt x="227013" y="558800"/>
                </a:lnTo>
                <a:cubicBezTo>
                  <a:pt x="227013" y="578118"/>
                  <a:pt x="211405" y="593725"/>
                  <a:pt x="192088" y="593725"/>
                </a:cubicBezTo>
                <a:cubicBezTo>
                  <a:pt x="172770" y="593725"/>
                  <a:pt x="157163" y="578118"/>
                  <a:pt x="157163" y="558800"/>
                </a:cubicBezTo>
                <a:lnTo>
                  <a:pt x="157163" y="258336"/>
                </a:lnTo>
                <a:close/>
                <a:moveTo>
                  <a:pt x="427831" y="419100"/>
                </a:moveTo>
                <a:cubicBezTo>
                  <a:pt x="423029" y="419100"/>
                  <a:pt x="419100" y="423029"/>
                  <a:pt x="419100" y="427831"/>
                </a:cubicBezTo>
                <a:cubicBezTo>
                  <a:pt x="419100" y="442347"/>
                  <a:pt x="407422" y="454025"/>
                  <a:pt x="392906" y="454025"/>
                </a:cubicBezTo>
                <a:cubicBezTo>
                  <a:pt x="378391" y="454025"/>
                  <a:pt x="366713" y="442347"/>
                  <a:pt x="366713" y="427831"/>
                </a:cubicBezTo>
                <a:cubicBezTo>
                  <a:pt x="366713" y="394107"/>
                  <a:pt x="394107" y="366713"/>
                  <a:pt x="427831" y="366713"/>
                </a:cubicBezTo>
                <a:cubicBezTo>
                  <a:pt x="461556" y="366713"/>
                  <a:pt x="488950" y="394107"/>
                  <a:pt x="488950" y="427831"/>
                </a:cubicBezTo>
                <a:lnTo>
                  <a:pt x="488950" y="567531"/>
                </a:lnTo>
                <a:cubicBezTo>
                  <a:pt x="488950" y="582047"/>
                  <a:pt x="477272" y="593725"/>
                  <a:pt x="462756" y="593725"/>
                </a:cubicBezTo>
                <a:cubicBezTo>
                  <a:pt x="448241" y="593725"/>
                  <a:pt x="436563" y="582047"/>
                  <a:pt x="436563" y="567531"/>
                </a:cubicBezTo>
                <a:lnTo>
                  <a:pt x="436563" y="427831"/>
                </a:lnTo>
                <a:cubicBezTo>
                  <a:pt x="436563" y="423029"/>
                  <a:pt x="432633" y="419100"/>
                  <a:pt x="427831" y="419100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3" name="Text 11"/>
          <p:cNvSpPr/>
          <p:nvPr/>
        </p:nvSpPr>
        <p:spPr>
          <a:xfrm>
            <a:off x="7899400" y="5016500"/>
            <a:ext cx="355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Seniors (60+)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2000" y="5842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morning walks during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E67E2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pollution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Stay hydrated throughout the day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medications accessible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for breathing difficulty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2090400" y="4699000"/>
            <a:ext cx="5080000" cy="3556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71400" y="5016500"/>
            <a:ext cx="558800" cy="558800"/>
          </a:xfrm>
          <a:custGeom>
            <a:avLst/>
            <a:gdLst/>
            <a:ahLst/>
            <a:cxnLst/>
            <a:rect l="l" t="t" r="r" b="b"/>
            <a:pathLst>
              <a:path w="558800" h="558800">
                <a:moveTo>
                  <a:pt x="69850" y="227013"/>
                </a:moveTo>
                <a:lnTo>
                  <a:pt x="69850" y="314325"/>
                </a:lnTo>
                <a:cubicBezTo>
                  <a:pt x="69850" y="372170"/>
                  <a:pt x="116780" y="419100"/>
                  <a:pt x="174625" y="419100"/>
                </a:cubicBezTo>
                <a:lnTo>
                  <a:pt x="384175" y="419100"/>
                </a:lnTo>
                <a:cubicBezTo>
                  <a:pt x="442020" y="419100"/>
                  <a:pt x="488950" y="372170"/>
                  <a:pt x="488950" y="314325"/>
                </a:cubicBezTo>
                <a:lnTo>
                  <a:pt x="488950" y="192088"/>
                </a:lnTo>
                <a:lnTo>
                  <a:pt x="532606" y="192088"/>
                </a:lnTo>
                <a:cubicBezTo>
                  <a:pt x="547122" y="192088"/>
                  <a:pt x="558800" y="180409"/>
                  <a:pt x="558800" y="165894"/>
                </a:cubicBezTo>
                <a:cubicBezTo>
                  <a:pt x="558800" y="151378"/>
                  <a:pt x="547122" y="139700"/>
                  <a:pt x="532606" y="139700"/>
                </a:cubicBezTo>
                <a:lnTo>
                  <a:pt x="462756" y="139700"/>
                </a:lnTo>
                <a:cubicBezTo>
                  <a:pt x="448241" y="139700"/>
                  <a:pt x="436563" y="151378"/>
                  <a:pt x="436563" y="165894"/>
                </a:cubicBezTo>
                <a:lnTo>
                  <a:pt x="436563" y="227013"/>
                </a:lnTo>
                <a:lnTo>
                  <a:pt x="69850" y="227013"/>
                </a:lnTo>
                <a:close/>
                <a:moveTo>
                  <a:pt x="70068" y="174625"/>
                </a:moveTo>
                <a:lnTo>
                  <a:pt x="314325" y="174625"/>
                </a:lnTo>
                <a:lnTo>
                  <a:pt x="314325" y="34925"/>
                </a:lnTo>
                <a:cubicBezTo>
                  <a:pt x="314325" y="15607"/>
                  <a:pt x="298718" y="0"/>
                  <a:pt x="279400" y="0"/>
                </a:cubicBezTo>
                <a:lnTo>
                  <a:pt x="253206" y="0"/>
                </a:lnTo>
                <a:cubicBezTo>
                  <a:pt x="154871" y="0"/>
                  <a:pt x="74652" y="77381"/>
                  <a:pt x="70068" y="174625"/>
                </a:cubicBezTo>
                <a:close/>
                <a:moveTo>
                  <a:pt x="174625" y="506413"/>
                </a:moveTo>
                <a:cubicBezTo>
                  <a:pt x="174625" y="477499"/>
                  <a:pt x="151151" y="454025"/>
                  <a:pt x="122238" y="454025"/>
                </a:cubicBezTo>
                <a:cubicBezTo>
                  <a:pt x="93324" y="454025"/>
                  <a:pt x="69850" y="477499"/>
                  <a:pt x="69850" y="506413"/>
                </a:cubicBezTo>
                <a:cubicBezTo>
                  <a:pt x="69850" y="535326"/>
                  <a:pt x="93324" y="558800"/>
                  <a:pt x="122238" y="558800"/>
                </a:cubicBezTo>
                <a:cubicBezTo>
                  <a:pt x="151151" y="558800"/>
                  <a:pt x="174625" y="535326"/>
                  <a:pt x="174625" y="506413"/>
                </a:cubicBezTo>
                <a:close/>
                <a:moveTo>
                  <a:pt x="488950" y="506413"/>
                </a:moveTo>
                <a:cubicBezTo>
                  <a:pt x="488950" y="477499"/>
                  <a:pt x="465476" y="454025"/>
                  <a:pt x="436563" y="454025"/>
                </a:cubicBezTo>
                <a:cubicBezTo>
                  <a:pt x="407649" y="454025"/>
                  <a:pt x="384175" y="477499"/>
                  <a:pt x="384175" y="506413"/>
                </a:cubicBezTo>
                <a:cubicBezTo>
                  <a:pt x="384175" y="535326"/>
                  <a:pt x="407649" y="558800"/>
                  <a:pt x="436563" y="558800"/>
                </a:cubicBezTo>
                <a:cubicBezTo>
                  <a:pt x="465476" y="558800"/>
                  <a:pt x="488950" y="535326"/>
                  <a:pt x="488950" y="506413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0" y="5016500"/>
            <a:ext cx="355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Pregnant Women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71400" y="5842000"/>
            <a:ext cx="431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Minimize outdoor exposure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indoor air purification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peak traffic hours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Consult doctor if feeling unwell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7449800" y="4699000"/>
            <a:ext cx="5588000" cy="3556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900650" y="5016500"/>
            <a:ext cx="419100" cy="558800"/>
          </a:xfrm>
          <a:custGeom>
            <a:avLst/>
            <a:gdLst/>
            <a:ahLst/>
            <a:cxnLst/>
            <a:rect l="l" t="t" r="r" b="b"/>
            <a:pathLst>
              <a:path w="419100" h="558800">
                <a:moveTo>
                  <a:pt x="270669" y="26194"/>
                </a:moveTo>
                <a:cubicBezTo>
                  <a:pt x="270669" y="-7539"/>
                  <a:pt x="243282" y="-34925"/>
                  <a:pt x="209550" y="-34925"/>
                </a:cubicBezTo>
                <a:cubicBezTo>
                  <a:pt x="175818" y="-34925"/>
                  <a:pt x="148431" y="-7539"/>
                  <a:pt x="148431" y="26194"/>
                </a:cubicBezTo>
                <a:cubicBezTo>
                  <a:pt x="148431" y="59926"/>
                  <a:pt x="175818" y="87312"/>
                  <a:pt x="209550" y="87313"/>
                </a:cubicBezTo>
                <a:cubicBezTo>
                  <a:pt x="243282" y="87313"/>
                  <a:pt x="270669" y="59926"/>
                  <a:pt x="270669" y="26194"/>
                </a:cubicBezTo>
                <a:close/>
                <a:moveTo>
                  <a:pt x="296863" y="258336"/>
                </a:moveTo>
                <a:lnTo>
                  <a:pt x="347395" y="326440"/>
                </a:lnTo>
                <a:cubicBezTo>
                  <a:pt x="358854" y="341938"/>
                  <a:pt x="380792" y="345212"/>
                  <a:pt x="396290" y="333643"/>
                </a:cubicBezTo>
                <a:cubicBezTo>
                  <a:pt x="411788" y="322074"/>
                  <a:pt x="415062" y="300246"/>
                  <a:pt x="403493" y="284748"/>
                </a:cubicBezTo>
                <a:lnTo>
                  <a:pt x="326549" y="181064"/>
                </a:lnTo>
                <a:cubicBezTo>
                  <a:pt x="299045" y="144066"/>
                  <a:pt x="255716" y="122238"/>
                  <a:pt x="209550" y="122238"/>
                </a:cubicBezTo>
                <a:cubicBezTo>
                  <a:pt x="163384" y="122238"/>
                  <a:pt x="120055" y="144066"/>
                  <a:pt x="92551" y="181064"/>
                </a:cubicBezTo>
                <a:lnTo>
                  <a:pt x="15607" y="284748"/>
                </a:lnTo>
                <a:cubicBezTo>
                  <a:pt x="4147" y="300246"/>
                  <a:pt x="7312" y="322074"/>
                  <a:pt x="22810" y="333643"/>
                </a:cubicBezTo>
                <a:cubicBezTo>
                  <a:pt x="38308" y="345212"/>
                  <a:pt x="60136" y="341938"/>
                  <a:pt x="71705" y="326440"/>
                </a:cubicBezTo>
                <a:lnTo>
                  <a:pt x="122238" y="258336"/>
                </a:lnTo>
                <a:lnTo>
                  <a:pt x="122238" y="558800"/>
                </a:lnTo>
                <a:cubicBezTo>
                  <a:pt x="122238" y="578118"/>
                  <a:pt x="137845" y="593725"/>
                  <a:pt x="157163" y="593725"/>
                </a:cubicBezTo>
                <a:cubicBezTo>
                  <a:pt x="176480" y="593725"/>
                  <a:pt x="192088" y="578118"/>
                  <a:pt x="192088" y="558800"/>
                </a:cubicBezTo>
                <a:lnTo>
                  <a:pt x="192088" y="384175"/>
                </a:lnTo>
                <a:cubicBezTo>
                  <a:pt x="192088" y="374571"/>
                  <a:pt x="199946" y="366713"/>
                  <a:pt x="209550" y="366713"/>
                </a:cubicBezTo>
                <a:cubicBezTo>
                  <a:pt x="219154" y="366713"/>
                  <a:pt x="227013" y="374571"/>
                  <a:pt x="227013" y="384175"/>
                </a:cubicBezTo>
                <a:lnTo>
                  <a:pt x="227013" y="558800"/>
                </a:lnTo>
                <a:cubicBezTo>
                  <a:pt x="227013" y="578118"/>
                  <a:pt x="242620" y="593725"/>
                  <a:pt x="261938" y="593725"/>
                </a:cubicBezTo>
                <a:cubicBezTo>
                  <a:pt x="281255" y="593725"/>
                  <a:pt x="296863" y="578118"/>
                  <a:pt x="296863" y="558800"/>
                </a:cubicBezTo>
                <a:lnTo>
                  <a:pt x="296863" y="258336"/>
                </a:ln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21" name="Text 19"/>
          <p:cNvSpPr/>
          <p:nvPr/>
        </p:nvSpPr>
        <p:spPr>
          <a:xfrm>
            <a:off x="18618200" y="501650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830800" y="5842000"/>
            <a:ext cx="482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Follow standard AQI precautions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Wear N95 when AQI &gt; 200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Limit outdoor exercise in poor air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air purifiers at home/office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8636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CONDITION CONSIDERATIONS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371600" y="9398000"/>
            <a:ext cx="6858000" cy="279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20850" y="97155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317500" y="31750"/>
                </a:moveTo>
                <a:cubicBezTo>
                  <a:pt x="317500" y="14188"/>
                  <a:pt x="303312" y="0"/>
                  <a:pt x="285750" y="0"/>
                </a:cubicBezTo>
                <a:cubicBezTo>
                  <a:pt x="268188" y="0"/>
                  <a:pt x="254000" y="14188"/>
                  <a:pt x="254000" y="31750"/>
                </a:cubicBezTo>
                <a:lnTo>
                  <a:pt x="254000" y="172541"/>
                </a:lnTo>
                <a:lnTo>
                  <a:pt x="222250" y="191591"/>
                </a:lnTo>
                <a:lnTo>
                  <a:pt x="222250" y="75803"/>
                </a:lnTo>
                <a:cubicBezTo>
                  <a:pt x="222250" y="51495"/>
                  <a:pt x="202505" y="31750"/>
                  <a:pt x="178197" y="31750"/>
                </a:cubicBezTo>
                <a:cubicBezTo>
                  <a:pt x="165795" y="31750"/>
                  <a:pt x="153988" y="37009"/>
                  <a:pt x="145653" y="46137"/>
                </a:cubicBezTo>
                <a:lnTo>
                  <a:pt x="119459" y="74910"/>
                </a:lnTo>
                <a:cubicBezTo>
                  <a:pt x="42565" y="159544"/>
                  <a:pt x="0" y="269677"/>
                  <a:pt x="0" y="383977"/>
                </a:cubicBezTo>
                <a:lnTo>
                  <a:pt x="0" y="414238"/>
                </a:lnTo>
                <a:cubicBezTo>
                  <a:pt x="0" y="466030"/>
                  <a:pt x="41970" y="508000"/>
                  <a:pt x="93762" y="508000"/>
                </a:cubicBezTo>
                <a:cubicBezTo>
                  <a:pt x="115590" y="508000"/>
                  <a:pt x="137120" y="502940"/>
                  <a:pt x="156666" y="493117"/>
                </a:cubicBezTo>
                <a:lnTo>
                  <a:pt x="161627" y="490637"/>
                </a:lnTo>
                <a:cubicBezTo>
                  <a:pt x="198735" y="472083"/>
                  <a:pt x="222151" y="434181"/>
                  <a:pt x="222151" y="392609"/>
                </a:cubicBezTo>
                <a:lnTo>
                  <a:pt x="222151" y="265609"/>
                </a:lnTo>
                <a:lnTo>
                  <a:pt x="285651" y="227509"/>
                </a:lnTo>
                <a:lnTo>
                  <a:pt x="349151" y="265609"/>
                </a:lnTo>
                <a:lnTo>
                  <a:pt x="349151" y="392609"/>
                </a:lnTo>
                <a:cubicBezTo>
                  <a:pt x="349151" y="434082"/>
                  <a:pt x="372566" y="472083"/>
                  <a:pt x="409674" y="490637"/>
                </a:cubicBezTo>
                <a:lnTo>
                  <a:pt x="414635" y="493117"/>
                </a:lnTo>
                <a:cubicBezTo>
                  <a:pt x="434181" y="502841"/>
                  <a:pt x="455712" y="508000"/>
                  <a:pt x="477540" y="508000"/>
                </a:cubicBezTo>
                <a:cubicBezTo>
                  <a:pt x="529332" y="508000"/>
                  <a:pt x="571302" y="466030"/>
                  <a:pt x="571302" y="414238"/>
                </a:cubicBezTo>
                <a:lnTo>
                  <a:pt x="571302" y="408087"/>
                </a:lnTo>
                <a:cubicBezTo>
                  <a:pt x="571302" y="297855"/>
                  <a:pt x="534888" y="190798"/>
                  <a:pt x="467717" y="103485"/>
                </a:cubicBezTo>
                <a:lnTo>
                  <a:pt x="425549" y="48320"/>
                </a:lnTo>
                <a:cubicBezTo>
                  <a:pt x="417513" y="37802"/>
                  <a:pt x="405011" y="31750"/>
                  <a:pt x="391815" y="31750"/>
                </a:cubicBezTo>
                <a:cubicBezTo>
                  <a:pt x="368300" y="31750"/>
                  <a:pt x="349250" y="50800"/>
                  <a:pt x="349250" y="74315"/>
                </a:cubicBezTo>
                <a:lnTo>
                  <a:pt x="349250" y="191591"/>
                </a:lnTo>
                <a:lnTo>
                  <a:pt x="317500" y="172541"/>
                </a:lnTo>
                <a:lnTo>
                  <a:pt x="317500" y="31750"/>
                </a:ln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2489200" y="9715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Asthma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52600" y="10414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inhaler accessible at all times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Monitor symptoms closely when AQI &gt; 100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Pre-medicate before going outside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83600" y="9398000"/>
            <a:ext cx="6858000" cy="279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864600" y="971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5750" y="31750"/>
                </a:moveTo>
                <a:cubicBezTo>
                  <a:pt x="285750" y="14188"/>
                  <a:pt x="271562" y="0"/>
                  <a:pt x="254000" y="0"/>
                </a:cubicBezTo>
                <a:cubicBezTo>
                  <a:pt x="236438" y="0"/>
                  <a:pt x="222250" y="14188"/>
                  <a:pt x="222250" y="31750"/>
                </a:cubicBezTo>
                <a:lnTo>
                  <a:pt x="222250" y="238125"/>
                </a:lnTo>
                <a:cubicBezTo>
                  <a:pt x="222250" y="246856"/>
                  <a:pt x="215106" y="254000"/>
                  <a:pt x="206375" y="254000"/>
                </a:cubicBezTo>
                <a:cubicBezTo>
                  <a:pt x="197644" y="254000"/>
                  <a:pt x="190500" y="246856"/>
                  <a:pt x="190500" y="238125"/>
                </a:cubicBezTo>
                <a:lnTo>
                  <a:pt x="190500" y="63500"/>
                </a:lnTo>
                <a:cubicBezTo>
                  <a:pt x="190500" y="45938"/>
                  <a:pt x="176312" y="31750"/>
                  <a:pt x="158750" y="31750"/>
                </a:cubicBezTo>
                <a:cubicBezTo>
                  <a:pt x="141188" y="31750"/>
                  <a:pt x="127000" y="45938"/>
                  <a:pt x="127000" y="63500"/>
                </a:cubicBezTo>
                <a:lnTo>
                  <a:pt x="127000" y="333375"/>
                </a:lnTo>
                <a:cubicBezTo>
                  <a:pt x="127000" y="334863"/>
                  <a:pt x="127000" y="336451"/>
                  <a:pt x="127099" y="337939"/>
                </a:cubicBezTo>
                <a:lnTo>
                  <a:pt x="67072" y="280789"/>
                </a:lnTo>
                <a:cubicBezTo>
                  <a:pt x="51197" y="265708"/>
                  <a:pt x="26095" y="266303"/>
                  <a:pt x="10914" y="282178"/>
                </a:cubicBezTo>
                <a:cubicBezTo>
                  <a:pt x="-4266" y="298053"/>
                  <a:pt x="-3572" y="323155"/>
                  <a:pt x="12303" y="338336"/>
                </a:cubicBezTo>
                <a:lnTo>
                  <a:pt x="123825" y="444500"/>
                </a:lnTo>
                <a:cubicBezTo>
                  <a:pt x="166588" y="485279"/>
                  <a:pt x="223441" y="508000"/>
                  <a:pt x="282575" y="508000"/>
                </a:cubicBezTo>
                <a:lnTo>
                  <a:pt x="301625" y="508000"/>
                </a:lnTo>
                <a:cubicBezTo>
                  <a:pt x="398066" y="508000"/>
                  <a:pt x="476250" y="429816"/>
                  <a:pt x="476250" y="333375"/>
                </a:cubicBezTo>
                <a:lnTo>
                  <a:pt x="476250" y="127000"/>
                </a:lnTo>
                <a:cubicBezTo>
                  <a:pt x="476250" y="109438"/>
                  <a:pt x="462062" y="95250"/>
                  <a:pt x="444500" y="95250"/>
                </a:cubicBezTo>
                <a:cubicBezTo>
                  <a:pt x="426938" y="95250"/>
                  <a:pt x="412750" y="109438"/>
                  <a:pt x="412750" y="127000"/>
                </a:cubicBezTo>
                <a:lnTo>
                  <a:pt x="412750" y="238125"/>
                </a:lnTo>
                <a:cubicBezTo>
                  <a:pt x="412750" y="246856"/>
                  <a:pt x="405606" y="254000"/>
                  <a:pt x="396875" y="254000"/>
                </a:cubicBezTo>
                <a:cubicBezTo>
                  <a:pt x="388144" y="254000"/>
                  <a:pt x="381000" y="246856"/>
                  <a:pt x="381000" y="238125"/>
                </a:cubicBezTo>
                <a:lnTo>
                  <a:pt x="381000" y="63500"/>
                </a:lnTo>
                <a:cubicBezTo>
                  <a:pt x="381000" y="45938"/>
                  <a:pt x="366812" y="31750"/>
                  <a:pt x="349250" y="31750"/>
                </a:cubicBezTo>
                <a:cubicBezTo>
                  <a:pt x="331688" y="31750"/>
                  <a:pt x="317500" y="45938"/>
                  <a:pt x="317500" y="63500"/>
                </a:cubicBezTo>
                <a:lnTo>
                  <a:pt x="317500" y="238125"/>
                </a:lnTo>
                <a:cubicBezTo>
                  <a:pt x="317500" y="246856"/>
                  <a:pt x="310356" y="254000"/>
                  <a:pt x="301625" y="254000"/>
                </a:cubicBezTo>
                <a:cubicBezTo>
                  <a:pt x="292894" y="254000"/>
                  <a:pt x="285750" y="246856"/>
                  <a:pt x="285750" y="238125"/>
                </a:cubicBezTo>
                <a:lnTo>
                  <a:pt x="285750" y="31750"/>
                </a:lnTo>
                <a:close/>
                <a:moveTo>
                  <a:pt x="198438" y="349250"/>
                </a:moveTo>
                <a:cubicBezTo>
                  <a:pt x="198438" y="336108"/>
                  <a:pt x="209108" y="325438"/>
                  <a:pt x="222250" y="325438"/>
                </a:cubicBezTo>
                <a:cubicBezTo>
                  <a:pt x="235392" y="325438"/>
                  <a:pt x="246063" y="336108"/>
                  <a:pt x="246063" y="349250"/>
                </a:cubicBezTo>
                <a:cubicBezTo>
                  <a:pt x="246063" y="362392"/>
                  <a:pt x="235392" y="373063"/>
                  <a:pt x="222250" y="373063"/>
                </a:cubicBezTo>
                <a:cubicBezTo>
                  <a:pt x="209108" y="373063"/>
                  <a:pt x="198438" y="362392"/>
                  <a:pt x="198438" y="349250"/>
                </a:cubicBezTo>
                <a:close/>
                <a:moveTo>
                  <a:pt x="317500" y="293688"/>
                </a:moveTo>
                <a:cubicBezTo>
                  <a:pt x="330642" y="293688"/>
                  <a:pt x="341313" y="304358"/>
                  <a:pt x="341313" y="317500"/>
                </a:cubicBezTo>
                <a:cubicBezTo>
                  <a:pt x="341313" y="330642"/>
                  <a:pt x="330642" y="341313"/>
                  <a:pt x="317500" y="341313"/>
                </a:cubicBezTo>
                <a:cubicBezTo>
                  <a:pt x="304358" y="341313"/>
                  <a:pt x="293688" y="330642"/>
                  <a:pt x="293688" y="317500"/>
                </a:cubicBezTo>
                <a:cubicBezTo>
                  <a:pt x="293688" y="304358"/>
                  <a:pt x="304358" y="293688"/>
                  <a:pt x="317500" y="293688"/>
                </a:cubicBezTo>
                <a:close/>
                <a:moveTo>
                  <a:pt x="357188" y="381000"/>
                </a:moveTo>
                <a:cubicBezTo>
                  <a:pt x="357188" y="367858"/>
                  <a:pt x="367858" y="357188"/>
                  <a:pt x="381000" y="357188"/>
                </a:cubicBezTo>
                <a:cubicBezTo>
                  <a:pt x="394142" y="357188"/>
                  <a:pt x="404813" y="367858"/>
                  <a:pt x="404813" y="381000"/>
                </a:cubicBezTo>
                <a:cubicBezTo>
                  <a:pt x="404813" y="394142"/>
                  <a:pt x="394142" y="404813"/>
                  <a:pt x="381000" y="404813"/>
                </a:cubicBezTo>
                <a:cubicBezTo>
                  <a:pt x="367858" y="404813"/>
                  <a:pt x="357188" y="394142"/>
                  <a:pt x="357188" y="381000"/>
                </a:cubicBezTo>
                <a:close/>
                <a:moveTo>
                  <a:pt x="269875" y="404813"/>
                </a:moveTo>
                <a:cubicBezTo>
                  <a:pt x="283017" y="404813"/>
                  <a:pt x="293688" y="415483"/>
                  <a:pt x="293688" y="428625"/>
                </a:cubicBezTo>
                <a:cubicBezTo>
                  <a:pt x="293688" y="441767"/>
                  <a:pt x="283017" y="452437"/>
                  <a:pt x="269875" y="452437"/>
                </a:cubicBezTo>
                <a:cubicBezTo>
                  <a:pt x="256733" y="452437"/>
                  <a:pt x="246063" y="441767"/>
                  <a:pt x="246063" y="428625"/>
                </a:cubicBezTo>
                <a:cubicBezTo>
                  <a:pt x="246063" y="415483"/>
                  <a:pt x="256733" y="404813"/>
                  <a:pt x="269875" y="404813"/>
                </a:cubicBez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0" y="9715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Allergies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864600" y="10414000"/>
            <a:ext cx="609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peak pollution hours (morning/evening)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Keep windows closed during high pollen + pollution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 antihistamines as prescribed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5595600" y="9398000"/>
            <a:ext cx="7416800" cy="2794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5976600" y="971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107057"/>
                </a:moveTo>
                <a:lnTo>
                  <a:pt x="239117" y="86420"/>
                </a:lnTo>
                <a:cubicBezTo>
                  <a:pt x="214313" y="52090"/>
                  <a:pt x="174526" y="31750"/>
                  <a:pt x="132060" y="31750"/>
                </a:cubicBezTo>
                <a:cubicBezTo>
                  <a:pt x="59134" y="31750"/>
                  <a:pt x="0" y="90884"/>
                  <a:pt x="0" y="163810"/>
                </a:cubicBezTo>
                <a:lnTo>
                  <a:pt x="0" y="166390"/>
                </a:lnTo>
                <a:cubicBezTo>
                  <a:pt x="0" y="189805"/>
                  <a:pt x="6152" y="214015"/>
                  <a:pt x="16470" y="238125"/>
                </a:cubicBezTo>
                <a:lnTo>
                  <a:pt x="121642" y="238125"/>
                </a:lnTo>
                <a:cubicBezTo>
                  <a:pt x="124817" y="238125"/>
                  <a:pt x="127695" y="236240"/>
                  <a:pt x="128984" y="233263"/>
                </a:cubicBezTo>
                <a:lnTo>
                  <a:pt x="160536" y="157559"/>
                </a:lnTo>
                <a:cubicBezTo>
                  <a:pt x="164207" y="148828"/>
                  <a:pt x="172740" y="143073"/>
                  <a:pt x="182166" y="142875"/>
                </a:cubicBezTo>
                <a:cubicBezTo>
                  <a:pt x="191591" y="142677"/>
                  <a:pt x="200323" y="148233"/>
                  <a:pt x="204192" y="156865"/>
                </a:cubicBezTo>
                <a:lnTo>
                  <a:pt x="255091" y="269875"/>
                </a:lnTo>
                <a:lnTo>
                  <a:pt x="296168" y="187722"/>
                </a:lnTo>
                <a:cubicBezTo>
                  <a:pt x="300236" y="179685"/>
                  <a:pt x="308471" y="174526"/>
                  <a:pt x="317500" y="174526"/>
                </a:cubicBezTo>
                <a:cubicBezTo>
                  <a:pt x="326529" y="174526"/>
                  <a:pt x="334764" y="179586"/>
                  <a:pt x="338832" y="187722"/>
                </a:cubicBezTo>
                <a:lnTo>
                  <a:pt x="361851" y="233660"/>
                </a:lnTo>
                <a:cubicBezTo>
                  <a:pt x="363240" y="236339"/>
                  <a:pt x="365919" y="238026"/>
                  <a:pt x="368995" y="238026"/>
                </a:cubicBezTo>
                <a:lnTo>
                  <a:pt x="491629" y="238026"/>
                </a:lnTo>
                <a:cubicBezTo>
                  <a:pt x="502047" y="213916"/>
                  <a:pt x="508099" y="189706"/>
                  <a:pt x="508099" y="166291"/>
                </a:cubicBezTo>
                <a:lnTo>
                  <a:pt x="508099" y="163711"/>
                </a:lnTo>
                <a:cubicBezTo>
                  <a:pt x="508000" y="90884"/>
                  <a:pt x="448866" y="31750"/>
                  <a:pt x="375940" y="31750"/>
                </a:cubicBezTo>
                <a:cubicBezTo>
                  <a:pt x="333573" y="31750"/>
                  <a:pt x="293688" y="52090"/>
                  <a:pt x="268883" y="86420"/>
                </a:cubicBezTo>
                <a:lnTo>
                  <a:pt x="254000" y="106958"/>
                </a:lnTo>
                <a:close/>
                <a:moveTo>
                  <a:pt x="465931" y="285750"/>
                </a:moveTo>
                <a:lnTo>
                  <a:pt x="368895" y="285750"/>
                </a:lnTo>
                <a:cubicBezTo>
                  <a:pt x="347861" y="285750"/>
                  <a:pt x="328613" y="273844"/>
                  <a:pt x="319187" y="254992"/>
                </a:cubicBezTo>
                <a:lnTo>
                  <a:pt x="317500" y="251619"/>
                </a:lnTo>
                <a:lnTo>
                  <a:pt x="275332" y="336054"/>
                </a:lnTo>
                <a:cubicBezTo>
                  <a:pt x="271264" y="344289"/>
                  <a:pt x="262731" y="349448"/>
                  <a:pt x="253504" y="349250"/>
                </a:cubicBezTo>
                <a:cubicBezTo>
                  <a:pt x="244277" y="349052"/>
                  <a:pt x="236041" y="343595"/>
                  <a:pt x="232271" y="335260"/>
                </a:cubicBezTo>
                <a:lnTo>
                  <a:pt x="183356" y="226616"/>
                </a:lnTo>
                <a:lnTo>
                  <a:pt x="172938" y="251619"/>
                </a:lnTo>
                <a:cubicBezTo>
                  <a:pt x="164306" y="272355"/>
                  <a:pt x="144066" y="285849"/>
                  <a:pt x="121642" y="285849"/>
                </a:cubicBezTo>
                <a:lnTo>
                  <a:pt x="42069" y="285849"/>
                </a:lnTo>
                <a:cubicBezTo>
                  <a:pt x="88900" y="359073"/>
                  <a:pt x="164108" y="426442"/>
                  <a:pt x="211138" y="462359"/>
                </a:cubicBezTo>
                <a:cubicBezTo>
                  <a:pt x="223441" y="471686"/>
                  <a:pt x="238522" y="476349"/>
                  <a:pt x="253901" y="476349"/>
                </a:cubicBezTo>
                <a:cubicBezTo>
                  <a:pt x="269280" y="476349"/>
                  <a:pt x="284460" y="471785"/>
                  <a:pt x="296664" y="462359"/>
                </a:cubicBezTo>
                <a:cubicBezTo>
                  <a:pt x="343892" y="426343"/>
                  <a:pt x="419100" y="358973"/>
                  <a:pt x="465931" y="285750"/>
                </a:cubicBezTo>
                <a:close/>
              </a:path>
            </a:pathLst>
          </a:custGeom>
          <a:solidFill>
            <a:srgbClr val="FF6B6B"/>
          </a:solidFill>
          <a:ln/>
        </p:spPr>
      </p:sp>
      <p:sp>
        <p:nvSpPr>
          <p:cNvPr id="34" name="Text 32"/>
          <p:cNvSpPr/>
          <p:nvPr/>
        </p:nvSpPr>
        <p:spPr>
          <a:xfrm>
            <a:off x="16713200" y="9715500"/>
            <a:ext cx="317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Heart Disease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976600" y="10414000"/>
            <a:ext cx="66548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Minimize outdoor exertion when AQI &gt; 150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Seek medical advice if symptoms appear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Avoid morning walks in poor air quality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10_India_Savors_a_Rare_Upside_to_Coronavirus.png">    </p:cNvPr>
          <p:cNvPicPr>
            <a:picLocks noChangeAspect="1"/>
          </p:cNvPicPr>
          <p:nvPr/>
        </p:nvPicPr>
        <p:blipFill>
          <a:blip r:embed="rId1"/>
          <a:srcRect l="21519" r="21519" t="0" b="0"/>
          <a:stretch/>
        </p:blipFill>
        <p:spPr>
          <a:xfrm>
            <a:off x="12661900" y="0"/>
            <a:ext cx="117221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2661900" y="0"/>
            <a:ext cx="11722100" cy="13716000"/>
          </a:xfrm>
          <a:prstGeom prst="rect">
            <a:avLst/>
          </a:prstGeom>
          <a:gradFill rotWithShape="1" flip="none">
            <a:gsLst>
              <a:gs pos="0">
                <a:srgbClr val="1A1A2E"/>
              </a:gs>
              <a:gs pos="30000">
                <a:srgbClr val="1A1A2E">
                  <a:alpha val="67000"/>
                </a:srgbClr>
              </a:gs>
              <a:gs pos="100000">
                <a:srgbClr val="1A1A2E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371600" y="13843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2674600" y="0"/>
            <a:ext cx="0" cy="1371600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1371600" y="12331700"/>
            <a:ext cx="112903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371600" y="3048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4064000"/>
            <a:ext cx="10795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PLATFORM</a:t>
            </a:r>
            <a:endParaRPr lang="en-US" sz="9600" dirty="0"/>
          </a:p>
          <a:p>
            <a:pPr>
              <a:lnSpc>
                <a:spcPct val="105000"/>
              </a:lnSpc>
            </a:pPr>
            <a:r>
              <a:rPr lang="en-US" sz="9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FEATURES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1371600" y="7112000"/>
            <a:ext cx="1016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visualization, city selection,</a:t>
            </a:r>
            <a:endParaRPr lang="en-US" sz="3200" dirty="0"/>
          </a:p>
          <a:p>
            <a:pPr>
              <a:lnSpc>
                <a:spcPct val="130000"/>
              </a:lnSpc>
            </a:pPr>
            <a:r>
              <a:rPr lang="en-US" sz="3200" dirty="0">
                <a:solidFill>
                  <a:srgbClr val="E8E8F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and comprehensive data integration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1" name="Text 8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905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Interactive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India Map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&amp; Quick City Select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371600" y="4064000"/>
            <a:ext cx="11430000" cy="762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26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Scatter Map — India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1625600" y="4826000"/>
          <a:ext cx="10922000" cy="660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13208000" y="4064000"/>
            <a:ext cx="9804400" cy="762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5890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Quick City Select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589000" y="5080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12" name="Text 9"/>
          <p:cNvSpPr/>
          <p:nvPr/>
        </p:nvSpPr>
        <p:spPr>
          <a:xfrm>
            <a:off x="13589000" y="508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Delhi 287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5900400" y="5080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15900400" y="508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Mumbai 142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8211800" y="5080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39C12"/>
          </a:solidFill>
          <a:ln/>
        </p:spPr>
      </p:sp>
      <p:sp>
        <p:nvSpPr>
          <p:cNvPr id="16" name="Text 13"/>
          <p:cNvSpPr/>
          <p:nvPr/>
        </p:nvSpPr>
        <p:spPr>
          <a:xfrm>
            <a:off x="18211800" y="508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Bangalore 96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0523200" y="50800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F39C12"/>
          </a:solidFill>
          <a:ln/>
        </p:spPr>
      </p:sp>
      <p:sp>
        <p:nvSpPr>
          <p:cNvPr id="18" name="Text 15"/>
          <p:cNvSpPr/>
          <p:nvPr/>
        </p:nvSpPr>
        <p:spPr>
          <a:xfrm>
            <a:off x="20523200" y="508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Chennai 78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3589000" y="58674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/>
        </p:spPr>
      </p:sp>
      <p:sp>
        <p:nvSpPr>
          <p:cNvPr id="20" name="Text 17"/>
          <p:cNvSpPr/>
          <p:nvPr/>
        </p:nvSpPr>
        <p:spPr>
          <a:xfrm>
            <a:off x="13589000" y="58674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Kolkata 198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5900400" y="58674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/>
        </p:spPr>
      </p:sp>
      <p:sp>
        <p:nvSpPr>
          <p:cNvPr id="22" name="Text 19"/>
          <p:cNvSpPr/>
          <p:nvPr/>
        </p:nvSpPr>
        <p:spPr>
          <a:xfrm>
            <a:off x="15900400" y="58674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Hyderabad 134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8211800" y="58674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67E22"/>
          </a:solidFill>
          <a:ln/>
        </p:spPr>
      </p:sp>
      <p:sp>
        <p:nvSpPr>
          <p:cNvPr id="24" name="Text 21"/>
          <p:cNvSpPr/>
          <p:nvPr/>
        </p:nvSpPr>
        <p:spPr>
          <a:xfrm>
            <a:off x="18211800" y="58674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Pune 112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20523200" y="5867400"/>
            <a:ext cx="2159000" cy="635000"/>
          </a:xfrm>
          <a:prstGeom prst="roundRect">
            <a:avLst>
              <a:gd name="adj" fmla="val 12000"/>
            </a:avLst>
          </a:prstGeom>
          <a:solidFill>
            <a:srgbClr val="E74C3C"/>
          </a:solidFill>
          <a:ln/>
        </p:spPr>
      </p:sp>
      <p:sp>
        <p:nvSpPr>
          <p:cNvPr id="26" name="Text 23"/>
          <p:cNvSpPr/>
          <p:nvPr/>
        </p:nvSpPr>
        <p:spPr>
          <a:xfrm>
            <a:off x="20523200" y="58674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Ahmedabad 165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3589000" y="685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Delhi — Detailed View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3589000" y="74930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29" name="Text 26"/>
          <p:cNvSpPr/>
          <p:nvPr/>
        </p:nvSpPr>
        <p:spPr>
          <a:xfrm>
            <a:off x="13589000" y="762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E74C3C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287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589000" y="831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AQI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5900400" y="74930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32" name="Text 29"/>
          <p:cNvSpPr/>
          <p:nvPr/>
        </p:nvSpPr>
        <p:spPr>
          <a:xfrm>
            <a:off x="15900400" y="762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E8E8F0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265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5900400" y="831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7-Day Avg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8211800" y="74930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35" name="Text 32"/>
          <p:cNvSpPr/>
          <p:nvPr/>
        </p:nvSpPr>
        <p:spPr>
          <a:xfrm>
            <a:off x="18211800" y="762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FF6B6B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342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8211800" y="831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(30d)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20523200" y="74930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0F1B3D"/>
          </a:solidFill>
          <a:ln/>
        </p:spPr>
      </p:sp>
      <p:sp>
        <p:nvSpPr>
          <p:cNvPr id="38" name="Text 35"/>
          <p:cNvSpPr/>
          <p:nvPr/>
        </p:nvSpPr>
        <p:spPr>
          <a:xfrm>
            <a:off x="20523200" y="7620000"/>
            <a:ext cx="2159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2ECC71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156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20523200" y="8318500"/>
            <a:ext cx="215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(30d)</a:t>
            </a:r>
            <a:endParaRPr lang="en-US" sz="1600" dirty="0"/>
          </a:p>
        </p:txBody>
      </p:sp>
      <p:graphicFrame>
        <p:nvGraphicFramePr>
          <p:cNvPr id="40" name="Chart 1" descr=""/>
          <p:cNvGraphicFramePr/>
          <p:nvPr/>
        </p:nvGraphicFramePr>
        <p:xfrm>
          <a:off x="13589000" y="9271000"/>
          <a:ext cx="9271000" cy="215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 37"/>
          <p:cNvSpPr/>
          <p:nvPr/>
        </p:nvSpPr>
        <p:spPr>
          <a:xfrm>
            <a:off x="1371600" y="1295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Interactive map with color-coded AQI markers across India</a:t>
            </a:r>
            <a:endParaRPr lang="en-US" sz="1400" dirty="0"/>
          </a:p>
        </p:txBody>
      </p:sp>
      <p:sp>
        <p:nvSpPr>
          <p:cNvPr id="42" name="Text 38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1384300"/>
            <a:ext cx="21640800" cy="0"/>
          </a:xfrm>
          <a:prstGeom prst="line">
            <a:avLst/>
          </a:prstGeom>
          <a:noFill/>
          <a:ln w="9525">
            <a:solidFill>
              <a:srgbClr val="3A3A5C"/>
            </a:solidFill>
            <a:prstDash val="solid"/>
            <a:headEnd type="none"/>
            <a:tailEnd type="none"/>
          </a:ln>
        </p:spPr>
      </p:sp>
      <p:sp>
        <p:nvSpPr>
          <p:cNvPr id="3" name="Shape 1"/>
          <p:cNvSpPr/>
          <p:nvPr/>
        </p:nvSpPr>
        <p:spPr>
          <a:xfrm>
            <a:off x="1371600" y="17526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2184400" y="1714500"/>
            <a:ext cx="254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40000"/>
            <a:ext cx="19050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Sources &amp; </a:t>
            </a:r>
            <a:pPr>
              <a:lnSpc>
                <a:spcPct val="110000"/>
              </a:lnSpc>
            </a:pPr>
            <a:r>
              <a:rPr lang="en-US" sz="56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Platform Architecture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371600" y="4064000"/>
            <a:ext cx="10668000" cy="762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526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DATA SOURCES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24025" y="5207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9" name="Text 7"/>
          <p:cNvSpPr/>
          <p:nvPr/>
        </p:nvSpPr>
        <p:spPr>
          <a:xfrm>
            <a:off x="2413000" y="5080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CPCB Monitoring Stations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Central Pollution Control Board real-time station data across India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752600" y="635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07169" y="0"/>
                </a:moveTo>
                <a:cubicBezTo>
                  <a:pt x="345222" y="0"/>
                  <a:pt x="457200" y="111978"/>
                  <a:pt x="457200" y="250031"/>
                </a:cubicBezTo>
                <a:cubicBezTo>
                  <a:pt x="457200" y="261908"/>
                  <a:pt x="447645" y="271463"/>
                  <a:pt x="435769" y="271463"/>
                </a:cubicBezTo>
                <a:cubicBezTo>
                  <a:pt x="423892" y="271463"/>
                  <a:pt x="414338" y="261908"/>
                  <a:pt x="414338" y="250031"/>
                </a:cubicBezTo>
                <a:cubicBezTo>
                  <a:pt x="414338" y="135642"/>
                  <a:pt x="321558" y="42863"/>
                  <a:pt x="207169" y="42863"/>
                </a:cubicBezTo>
                <a:cubicBezTo>
                  <a:pt x="195292" y="42863"/>
                  <a:pt x="185738" y="33308"/>
                  <a:pt x="185738" y="21431"/>
                </a:cubicBezTo>
                <a:cubicBezTo>
                  <a:pt x="185738" y="9555"/>
                  <a:pt x="195292" y="0"/>
                  <a:pt x="207169" y="0"/>
                </a:cubicBezTo>
                <a:close/>
                <a:moveTo>
                  <a:pt x="185738" y="107156"/>
                </a:moveTo>
                <a:cubicBezTo>
                  <a:pt x="185738" y="95280"/>
                  <a:pt x="195292" y="85725"/>
                  <a:pt x="207169" y="85725"/>
                </a:cubicBezTo>
                <a:cubicBezTo>
                  <a:pt x="297894" y="85725"/>
                  <a:pt x="371475" y="159306"/>
                  <a:pt x="371475" y="250031"/>
                </a:cubicBezTo>
                <a:cubicBezTo>
                  <a:pt x="371475" y="261908"/>
                  <a:pt x="361920" y="271463"/>
                  <a:pt x="350044" y="271463"/>
                </a:cubicBezTo>
                <a:cubicBezTo>
                  <a:pt x="338167" y="271463"/>
                  <a:pt x="328613" y="261908"/>
                  <a:pt x="328613" y="250031"/>
                </a:cubicBezTo>
                <a:cubicBezTo>
                  <a:pt x="328613" y="182969"/>
                  <a:pt x="274231" y="128588"/>
                  <a:pt x="207169" y="128588"/>
                </a:cubicBezTo>
                <a:cubicBezTo>
                  <a:pt x="195292" y="128588"/>
                  <a:pt x="185738" y="119033"/>
                  <a:pt x="185738" y="107156"/>
                </a:cubicBezTo>
                <a:close/>
                <a:moveTo>
                  <a:pt x="23574" y="127427"/>
                </a:moveTo>
                <a:cubicBezTo>
                  <a:pt x="31433" y="111442"/>
                  <a:pt x="52507" y="109657"/>
                  <a:pt x="65097" y="122247"/>
                </a:cubicBezTo>
                <a:lnTo>
                  <a:pt x="179844" y="236994"/>
                </a:lnTo>
                <a:lnTo>
                  <a:pt x="208419" y="208419"/>
                </a:lnTo>
                <a:cubicBezTo>
                  <a:pt x="219581" y="197257"/>
                  <a:pt x="237708" y="197257"/>
                  <a:pt x="248870" y="208419"/>
                </a:cubicBezTo>
                <a:cubicBezTo>
                  <a:pt x="260033" y="219581"/>
                  <a:pt x="260033" y="237708"/>
                  <a:pt x="248870" y="248870"/>
                </a:cubicBezTo>
                <a:lnTo>
                  <a:pt x="220295" y="277445"/>
                </a:lnTo>
                <a:lnTo>
                  <a:pt x="335042" y="392192"/>
                </a:lnTo>
                <a:cubicBezTo>
                  <a:pt x="347633" y="404783"/>
                  <a:pt x="345758" y="425768"/>
                  <a:pt x="329863" y="433715"/>
                </a:cubicBezTo>
                <a:cubicBezTo>
                  <a:pt x="299323" y="448806"/>
                  <a:pt x="265033" y="457289"/>
                  <a:pt x="228689" y="457289"/>
                </a:cubicBezTo>
                <a:cubicBezTo>
                  <a:pt x="102424" y="457289"/>
                  <a:pt x="89" y="354955"/>
                  <a:pt x="89" y="228689"/>
                </a:cubicBezTo>
                <a:cubicBezTo>
                  <a:pt x="89" y="192345"/>
                  <a:pt x="8572" y="157966"/>
                  <a:pt x="23664" y="127516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1" name="Text 9"/>
          <p:cNvSpPr/>
          <p:nvPr/>
        </p:nvSpPr>
        <p:spPr>
          <a:xfrm>
            <a:off x="2413000" y="6223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City Coverage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Delhi, Mumbai, Bangalore, Chennai, Kolkata, Hyderabad + 15 more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81175" y="74930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3" name="Text 11"/>
          <p:cNvSpPr/>
          <p:nvPr/>
        </p:nvSpPr>
        <p:spPr>
          <a:xfrm>
            <a:off x="2413000" y="7366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Historical Pattern Database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3+ years of historical data for AI model training and trend analysis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724025" y="8636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5" name="Text 13"/>
          <p:cNvSpPr/>
          <p:nvPr/>
        </p:nvSpPr>
        <p:spPr>
          <a:xfrm>
            <a:off x="2413000" y="8509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API Integration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Meteorological data for pollution-weather correlation modeling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752600" y="977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714" y="171450"/>
                </a:moveTo>
                <a:lnTo>
                  <a:pt x="435769" y="171450"/>
                </a:lnTo>
                <a:cubicBezTo>
                  <a:pt x="447645" y="171450"/>
                  <a:pt x="457200" y="161895"/>
                  <a:pt x="457200" y="150019"/>
                </a:cubicBezTo>
                <a:lnTo>
                  <a:pt x="457200" y="21431"/>
                </a:lnTo>
                <a:cubicBezTo>
                  <a:pt x="457200" y="12769"/>
                  <a:pt x="452021" y="4911"/>
                  <a:pt x="443984" y="1607"/>
                </a:cubicBezTo>
                <a:cubicBezTo>
                  <a:pt x="435947" y="-1697"/>
                  <a:pt x="426750" y="179"/>
                  <a:pt x="420588" y="6251"/>
                </a:cubicBezTo>
                <a:lnTo>
                  <a:pt x="374422" y="52507"/>
                </a:lnTo>
                <a:cubicBezTo>
                  <a:pt x="334863" y="19735"/>
                  <a:pt x="283964" y="0"/>
                  <a:pt x="228600" y="0"/>
                </a:cubicBezTo>
                <a:cubicBezTo>
                  <a:pt x="113407" y="0"/>
                  <a:pt x="18127" y="85189"/>
                  <a:pt x="2322" y="196007"/>
                </a:cubicBezTo>
                <a:cubicBezTo>
                  <a:pt x="89" y="211634"/>
                  <a:pt x="10894" y="226100"/>
                  <a:pt x="26521" y="228332"/>
                </a:cubicBezTo>
                <a:cubicBezTo>
                  <a:pt x="42148" y="230565"/>
                  <a:pt x="56614" y="219670"/>
                  <a:pt x="58847" y="204133"/>
                </a:cubicBezTo>
                <a:cubicBezTo>
                  <a:pt x="70723" y="120997"/>
                  <a:pt x="142250" y="57150"/>
                  <a:pt x="228600" y="57150"/>
                </a:cubicBezTo>
                <a:cubicBezTo>
                  <a:pt x="268248" y="57150"/>
                  <a:pt x="304681" y="70545"/>
                  <a:pt x="333702" y="93137"/>
                </a:cubicBezTo>
                <a:lnTo>
                  <a:pt x="292001" y="134838"/>
                </a:lnTo>
                <a:cubicBezTo>
                  <a:pt x="285839" y="141000"/>
                  <a:pt x="284053" y="150197"/>
                  <a:pt x="287357" y="158234"/>
                </a:cubicBezTo>
                <a:cubicBezTo>
                  <a:pt x="290661" y="166271"/>
                  <a:pt x="298519" y="171450"/>
                  <a:pt x="307181" y="171450"/>
                </a:cubicBezTo>
                <a:lnTo>
                  <a:pt x="428714" y="171450"/>
                </a:lnTo>
                <a:close/>
                <a:moveTo>
                  <a:pt x="454968" y="261193"/>
                </a:moveTo>
                <a:cubicBezTo>
                  <a:pt x="457200" y="245566"/>
                  <a:pt x="446306" y="231100"/>
                  <a:pt x="430768" y="228868"/>
                </a:cubicBezTo>
                <a:cubicBezTo>
                  <a:pt x="415230" y="226635"/>
                  <a:pt x="400675" y="237530"/>
                  <a:pt x="398443" y="253067"/>
                </a:cubicBezTo>
                <a:cubicBezTo>
                  <a:pt x="386566" y="336113"/>
                  <a:pt x="315039" y="399961"/>
                  <a:pt x="228689" y="399961"/>
                </a:cubicBezTo>
                <a:cubicBezTo>
                  <a:pt x="189041" y="399961"/>
                  <a:pt x="152608" y="386566"/>
                  <a:pt x="123587" y="363974"/>
                </a:cubicBezTo>
                <a:lnTo>
                  <a:pt x="165199" y="322362"/>
                </a:lnTo>
                <a:cubicBezTo>
                  <a:pt x="171361" y="316200"/>
                  <a:pt x="173147" y="307003"/>
                  <a:pt x="169843" y="298966"/>
                </a:cubicBezTo>
                <a:cubicBezTo>
                  <a:pt x="166539" y="290929"/>
                  <a:pt x="158681" y="285750"/>
                  <a:pt x="150019" y="285750"/>
                </a:cubicBezTo>
                <a:lnTo>
                  <a:pt x="21431" y="285750"/>
                </a:lnTo>
                <a:cubicBezTo>
                  <a:pt x="9555" y="285750"/>
                  <a:pt x="0" y="295305"/>
                  <a:pt x="0" y="307181"/>
                </a:cubicBezTo>
                <a:lnTo>
                  <a:pt x="0" y="435769"/>
                </a:lnTo>
                <a:cubicBezTo>
                  <a:pt x="0" y="444431"/>
                  <a:pt x="5179" y="452289"/>
                  <a:pt x="13216" y="455593"/>
                </a:cubicBezTo>
                <a:cubicBezTo>
                  <a:pt x="21253" y="458897"/>
                  <a:pt x="30450" y="457021"/>
                  <a:pt x="36612" y="450949"/>
                </a:cubicBezTo>
                <a:lnTo>
                  <a:pt x="82867" y="404693"/>
                </a:lnTo>
                <a:cubicBezTo>
                  <a:pt x="122337" y="437465"/>
                  <a:pt x="173236" y="457200"/>
                  <a:pt x="228600" y="457200"/>
                </a:cubicBezTo>
                <a:cubicBezTo>
                  <a:pt x="343793" y="457200"/>
                  <a:pt x="439073" y="372011"/>
                  <a:pt x="454878" y="261193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17" name="Text 15"/>
          <p:cNvSpPr/>
          <p:nvPr/>
        </p:nvSpPr>
        <p:spPr>
          <a:xfrm>
            <a:off x="2413000" y="9652000"/>
            <a:ext cx="914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Data Refresh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Hourly updates from all active monitoring stations nationwide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44400" y="4064000"/>
            <a:ext cx="10668000" cy="7620000"/>
          </a:xfrm>
          <a:prstGeom prst="roundRect">
            <a:avLst>
              <a:gd name="adj" fmla="val 6000"/>
            </a:avLst>
          </a:prstGeom>
          <a:solidFill>
            <a:srgbClr val="242442"/>
          </a:solidFill>
          <a:ln w="12700">
            <a:solidFill>
              <a:srgbClr val="3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725400" y="4318000"/>
            <a:ext cx="508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METRICS DISPLAYED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725400" y="520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13335000" y="5143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AQI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color-coded category badge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725400" y="596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50800" y="36751"/>
                  <a:pt x="39449" y="25400"/>
                  <a:pt x="25400" y="25400"/>
                </a:cubicBezTo>
                <a:cubicBezTo>
                  <a:pt x="11351" y="25400"/>
                  <a:pt x="0" y="36751"/>
                  <a:pt x="0" y="50800"/>
                </a:cubicBezTo>
                <a:lnTo>
                  <a:pt x="0" y="317500"/>
                </a:lnTo>
                <a:cubicBezTo>
                  <a:pt x="0" y="352584"/>
                  <a:pt x="28416" y="381000"/>
                  <a:pt x="635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cubicBezTo>
                  <a:pt x="406400" y="341551"/>
                  <a:pt x="395049" y="330200"/>
                  <a:pt x="381000" y="330200"/>
                </a:cubicBezTo>
                <a:lnTo>
                  <a:pt x="63500" y="330200"/>
                </a:lnTo>
                <a:cubicBezTo>
                  <a:pt x="56515" y="330200"/>
                  <a:pt x="50800" y="324485"/>
                  <a:pt x="50800" y="317500"/>
                </a:cubicBezTo>
                <a:lnTo>
                  <a:pt x="50800" y="50800"/>
                </a:lnTo>
                <a:close/>
                <a:moveTo>
                  <a:pt x="373539" y="119539"/>
                </a:moveTo>
                <a:cubicBezTo>
                  <a:pt x="383461" y="109617"/>
                  <a:pt x="383461" y="93504"/>
                  <a:pt x="373539" y="83582"/>
                </a:cubicBezTo>
                <a:cubicBezTo>
                  <a:pt x="363617" y="73660"/>
                  <a:pt x="347504" y="73660"/>
                  <a:pt x="337582" y="83582"/>
                </a:cubicBezTo>
                <a:lnTo>
                  <a:pt x="254000" y="167243"/>
                </a:lnTo>
                <a:lnTo>
                  <a:pt x="208439" y="121761"/>
                </a:lnTo>
                <a:cubicBezTo>
                  <a:pt x="198517" y="111839"/>
                  <a:pt x="182404" y="111839"/>
                  <a:pt x="172482" y="121761"/>
                </a:cubicBezTo>
                <a:lnTo>
                  <a:pt x="96282" y="197961"/>
                </a:lnTo>
                <a:cubicBezTo>
                  <a:pt x="86360" y="207883"/>
                  <a:pt x="86360" y="223996"/>
                  <a:pt x="96282" y="233918"/>
                </a:cubicBezTo>
                <a:cubicBezTo>
                  <a:pt x="106204" y="243840"/>
                  <a:pt x="122317" y="243840"/>
                  <a:pt x="132239" y="233918"/>
                </a:cubicBezTo>
                <a:lnTo>
                  <a:pt x="190500" y="175657"/>
                </a:lnTo>
                <a:lnTo>
                  <a:pt x="236061" y="221218"/>
                </a:lnTo>
                <a:cubicBezTo>
                  <a:pt x="245983" y="231140"/>
                  <a:pt x="262096" y="231140"/>
                  <a:pt x="272018" y="221218"/>
                </a:cubicBezTo>
                <a:lnTo>
                  <a:pt x="373618" y="119618"/>
                </a:lnTo>
                <a:close/>
              </a:path>
            </a:pathLst>
          </a:custGeom>
          <a:solidFill>
            <a:srgbClr val="F39C12"/>
          </a:solidFill>
          <a:ln/>
        </p:spPr>
      </p:sp>
      <p:sp>
        <p:nvSpPr>
          <p:cNvPr id="23" name="Text 21"/>
          <p:cNvSpPr/>
          <p:nvPr/>
        </p:nvSpPr>
        <p:spPr>
          <a:xfrm>
            <a:off x="13335000" y="5905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7-Day Average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trend direction indicator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725400" y="673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13335000" y="6667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Peak AQI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last 30 days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725400" y="749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2ECC71"/>
          </a:solidFill>
          <a:ln/>
        </p:spPr>
      </p:sp>
      <p:sp>
        <p:nvSpPr>
          <p:cNvPr id="27" name="Text 25"/>
          <p:cNvSpPr/>
          <p:nvPr/>
        </p:nvSpPr>
        <p:spPr>
          <a:xfrm>
            <a:off x="13335000" y="7429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AQI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last 30 days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50800" y="8255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1600" y="0"/>
                </a:moveTo>
                <a:cubicBezTo>
                  <a:pt x="115649" y="0"/>
                  <a:pt x="127000" y="11351"/>
                  <a:pt x="127000" y="25400"/>
                </a:cubicBezTo>
                <a:lnTo>
                  <a:pt x="127000" y="50800"/>
                </a:lnTo>
                <a:lnTo>
                  <a:pt x="228600" y="50800"/>
                </a:lnTo>
                <a:lnTo>
                  <a:pt x="228600" y="25400"/>
                </a:lnTo>
                <a:cubicBezTo>
                  <a:pt x="228600" y="11351"/>
                  <a:pt x="239951" y="0"/>
                  <a:pt x="254000" y="0"/>
                </a:cubicBezTo>
                <a:cubicBezTo>
                  <a:pt x="268049" y="0"/>
                  <a:pt x="279400" y="11351"/>
                  <a:pt x="279400" y="25400"/>
                </a:cubicBezTo>
                <a:lnTo>
                  <a:pt x="279400" y="50800"/>
                </a:lnTo>
                <a:lnTo>
                  <a:pt x="304800" y="50800"/>
                </a:lnTo>
                <a:cubicBezTo>
                  <a:pt x="332819" y="50800"/>
                  <a:pt x="355600" y="73581"/>
                  <a:pt x="355600" y="1016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2781" y="50800"/>
                  <a:pt x="50800" y="50800"/>
                </a:cubicBezTo>
                <a:lnTo>
                  <a:pt x="76200" y="50800"/>
                </a:lnTo>
                <a:lnTo>
                  <a:pt x="76200" y="25400"/>
                </a:lnTo>
                <a:cubicBezTo>
                  <a:pt x="76200" y="11351"/>
                  <a:pt x="87551" y="0"/>
                  <a:pt x="101600" y="0"/>
                </a:cubicBezTo>
                <a:close/>
                <a:moveTo>
                  <a:pt x="50800" y="190500"/>
                </a:moveTo>
                <a:lnTo>
                  <a:pt x="50800" y="215900"/>
                </a:lnTo>
                <a:cubicBezTo>
                  <a:pt x="50800" y="222885"/>
                  <a:pt x="56515" y="228600"/>
                  <a:pt x="63500" y="228600"/>
                </a:cubicBezTo>
                <a:lnTo>
                  <a:pt x="88900" y="228600"/>
                </a:lnTo>
                <a:cubicBezTo>
                  <a:pt x="95885" y="228600"/>
                  <a:pt x="101600" y="222885"/>
                  <a:pt x="101600" y="215900"/>
                </a:cubicBezTo>
                <a:lnTo>
                  <a:pt x="101600" y="190500"/>
                </a:lnTo>
                <a:cubicBezTo>
                  <a:pt x="101600" y="183515"/>
                  <a:pt x="95885" y="177800"/>
                  <a:pt x="88900" y="177800"/>
                </a:cubicBezTo>
                <a:lnTo>
                  <a:pt x="63500" y="177800"/>
                </a:lnTo>
                <a:cubicBezTo>
                  <a:pt x="56515" y="177800"/>
                  <a:pt x="50800" y="183515"/>
                  <a:pt x="50800" y="190500"/>
                </a:cubicBezTo>
                <a:close/>
                <a:moveTo>
                  <a:pt x="152400" y="190500"/>
                </a:moveTo>
                <a:lnTo>
                  <a:pt x="152400" y="215900"/>
                </a:lnTo>
                <a:cubicBezTo>
                  <a:pt x="152400" y="222885"/>
                  <a:pt x="158115" y="228600"/>
                  <a:pt x="165100" y="228600"/>
                </a:cubicBezTo>
                <a:lnTo>
                  <a:pt x="190500" y="228600"/>
                </a:lnTo>
                <a:cubicBezTo>
                  <a:pt x="197485" y="228600"/>
                  <a:pt x="203200" y="222885"/>
                  <a:pt x="203200" y="215900"/>
                </a:cubicBezTo>
                <a:lnTo>
                  <a:pt x="203200" y="190500"/>
                </a:lnTo>
                <a:cubicBezTo>
                  <a:pt x="203200" y="183515"/>
                  <a:pt x="197485" y="177800"/>
                  <a:pt x="190500" y="177800"/>
                </a:cubicBezTo>
                <a:lnTo>
                  <a:pt x="165100" y="177800"/>
                </a:lnTo>
                <a:cubicBezTo>
                  <a:pt x="158115" y="177800"/>
                  <a:pt x="152400" y="183515"/>
                  <a:pt x="152400" y="190500"/>
                </a:cubicBezTo>
                <a:close/>
                <a:moveTo>
                  <a:pt x="266700" y="177800"/>
                </a:moveTo>
                <a:cubicBezTo>
                  <a:pt x="259715" y="177800"/>
                  <a:pt x="254000" y="183515"/>
                  <a:pt x="254000" y="190500"/>
                </a:cubicBezTo>
                <a:lnTo>
                  <a:pt x="254000" y="215900"/>
                </a:lnTo>
                <a:cubicBezTo>
                  <a:pt x="254000" y="222885"/>
                  <a:pt x="259715" y="228600"/>
                  <a:pt x="266700" y="228600"/>
                </a:cubicBezTo>
                <a:lnTo>
                  <a:pt x="292100" y="228600"/>
                </a:lnTo>
                <a:cubicBezTo>
                  <a:pt x="299085" y="228600"/>
                  <a:pt x="304800" y="222885"/>
                  <a:pt x="304800" y="215900"/>
                </a:cubicBezTo>
                <a:lnTo>
                  <a:pt x="304800" y="190500"/>
                </a:lnTo>
                <a:cubicBezTo>
                  <a:pt x="304800" y="183515"/>
                  <a:pt x="299085" y="177800"/>
                  <a:pt x="292100" y="177800"/>
                </a:cubicBezTo>
                <a:lnTo>
                  <a:pt x="266700" y="177800"/>
                </a:lnTo>
                <a:close/>
                <a:moveTo>
                  <a:pt x="50800" y="292100"/>
                </a:moveTo>
                <a:lnTo>
                  <a:pt x="50800" y="317500"/>
                </a:lnTo>
                <a:cubicBezTo>
                  <a:pt x="50800" y="324485"/>
                  <a:pt x="56515" y="330200"/>
                  <a:pt x="63500" y="330200"/>
                </a:cubicBezTo>
                <a:lnTo>
                  <a:pt x="88900" y="330200"/>
                </a:lnTo>
                <a:cubicBezTo>
                  <a:pt x="95885" y="330200"/>
                  <a:pt x="101600" y="324485"/>
                  <a:pt x="101600" y="317500"/>
                </a:cubicBezTo>
                <a:lnTo>
                  <a:pt x="101600" y="292100"/>
                </a:lnTo>
                <a:cubicBezTo>
                  <a:pt x="101600" y="285115"/>
                  <a:pt x="95885" y="279400"/>
                  <a:pt x="88900" y="279400"/>
                </a:cubicBezTo>
                <a:lnTo>
                  <a:pt x="63500" y="279400"/>
                </a:lnTo>
                <a:cubicBezTo>
                  <a:pt x="56515" y="279400"/>
                  <a:pt x="50800" y="285115"/>
                  <a:pt x="50800" y="292100"/>
                </a:cubicBezTo>
                <a:close/>
                <a:moveTo>
                  <a:pt x="165100" y="279400"/>
                </a:moveTo>
                <a:cubicBezTo>
                  <a:pt x="158115" y="279400"/>
                  <a:pt x="152400" y="285115"/>
                  <a:pt x="152400" y="292100"/>
                </a:cubicBezTo>
                <a:lnTo>
                  <a:pt x="152400" y="317500"/>
                </a:lnTo>
                <a:cubicBezTo>
                  <a:pt x="152400" y="324485"/>
                  <a:pt x="158115" y="330200"/>
                  <a:pt x="165100" y="330200"/>
                </a:cubicBezTo>
                <a:lnTo>
                  <a:pt x="190500" y="330200"/>
                </a:lnTo>
                <a:cubicBezTo>
                  <a:pt x="197485" y="330200"/>
                  <a:pt x="203200" y="324485"/>
                  <a:pt x="203200" y="317500"/>
                </a:cubicBezTo>
                <a:lnTo>
                  <a:pt x="203200" y="292100"/>
                </a:lnTo>
                <a:cubicBezTo>
                  <a:pt x="203200" y="285115"/>
                  <a:pt x="197485" y="279400"/>
                  <a:pt x="190500" y="279400"/>
                </a:cubicBezTo>
                <a:lnTo>
                  <a:pt x="165100" y="279400"/>
                </a:lnTo>
                <a:close/>
                <a:moveTo>
                  <a:pt x="254000" y="292100"/>
                </a:moveTo>
                <a:lnTo>
                  <a:pt x="254000" y="317500"/>
                </a:lnTo>
                <a:cubicBezTo>
                  <a:pt x="254000" y="324485"/>
                  <a:pt x="259715" y="330200"/>
                  <a:pt x="266700" y="330200"/>
                </a:cubicBezTo>
                <a:lnTo>
                  <a:pt x="292100" y="330200"/>
                </a:lnTo>
                <a:cubicBezTo>
                  <a:pt x="299085" y="330200"/>
                  <a:pt x="304800" y="324485"/>
                  <a:pt x="304800" y="317500"/>
                </a:cubicBezTo>
                <a:lnTo>
                  <a:pt x="304800" y="292100"/>
                </a:lnTo>
                <a:cubicBezTo>
                  <a:pt x="304800" y="285115"/>
                  <a:pt x="299085" y="279400"/>
                  <a:pt x="292100" y="279400"/>
                </a:cubicBezTo>
                <a:lnTo>
                  <a:pt x="266700" y="279400"/>
                </a:lnTo>
                <a:cubicBezTo>
                  <a:pt x="259715" y="279400"/>
                  <a:pt x="254000" y="285115"/>
                  <a:pt x="254000" y="292100"/>
                </a:cubicBezTo>
                <a:close/>
              </a:path>
            </a:pathLst>
          </a:custGeom>
          <a:solidFill>
            <a:srgbClr val="4361EE"/>
          </a:solidFill>
          <a:ln/>
        </p:spPr>
      </p:sp>
      <p:sp>
        <p:nvSpPr>
          <p:cNvPr id="29" name="Text 27"/>
          <p:cNvSpPr/>
          <p:nvPr/>
        </p:nvSpPr>
        <p:spPr>
          <a:xfrm>
            <a:off x="13335000" y="8191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Forecast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the next 5-7 days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750800" y="9017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28600" y="0"/>
                </a:moveTo>
                <a:lnTo>
                  <a:pt x="101600" y="0"/>
                </a:lnTo>
                <a:cubicBezTo>
                  <a:pt x="87551" y="0"/>
                  <a:pt x="76200" y="11351"/>
                  <a:pt x="76200" y="25400"/>
                </a:cubicBezTo>
                <a:cubicBezTo>
                  <a:pt x="76200" y="39449"/>
                  <a:pt x="87551" y="50800"/>
                  <a:pt x="101600" y="50800"/>
                </a:cubicBezTo>
                <a:lnTo>
                  <a:pt x="101600" y="171053"/>
                </a:lnTo>
                <a:lnTo>
                  <a:pt x="5953" y="338376"/>
                </a:lnTo>
                <a:cubicBezTo>
                  <a:pt x="2064" y="345281"/>
                  <a:pt x="0" y="352981"/>
                  <a:pt x="0" y="360918"/>
                </a:cubicBezTo>
                <a:cubicBezTo>
                  <a:pt x="0" y="386080"/>
                  <a:pt x="20320" y="406400"/>
                  <a:pt x="45482" y="406400"/>
                </a:cubicBezTo>
                <a:lnTo>
                  <a:pt x="310118" y="406400"/>
                </a:lnTo>
                <a:cubicBezTo>
                  <a:pt x="335201" y="406400"/>
                  <a:pt x="355600" y="386080"/>
                  <a:pt x="355600" y="360918"/>
                </a:cubicBezTo>
                <a:cubicBezTo>
                  <a:pt x="355600" y="352981"/>
                  <a:pt x="353536" y="345202"/>
                  <a:pt x="349647" y="338376"/>
                </a:cubicBezTo>
                <a:lnTo>
                  <a:pt x="254000" y="171053"/>
                </a:lnTo>
                <a:lnTo>
                  <a:pt x="254000" y="50800"/>
                </a:lnTo>
                <a:cubicBezTo>
                  <a:pt x="268049" y="50800"/>
                  <a:pt x="279400" y="39449"/>
                  <a:pt x="279400" y="25400"/>
                </a:cubicBezTo>
                <a:cubicBezTo>
                  <a:pt x="279400" y="11351"/>
                  <a:pt x="268049" y="0"/>
                  <a:pt x="254000" y="0"/>
                </a:cubicBezTo>
                <a:lnTo>
                  <a:pt x="228600" y="0"/>
                </a:lnTo>
                <a:close/>
                <a:moveTo>
                  <a:pt x="152400" y="171053"/>
                </a:moveTo>
                <a:lnTo>
                  <a:pt x="152400" y="50800"/>
                </a:lnTo>
                <a:lnTo>
                  <a:pt x="203200" y="50800"/>
                </a:lnTo>
                <a:lnTo>
                  <a:pt x="203200" y="171053"/>
                </a:lnTo>
                <a:cubicBezTo>
                  <a:pt x="203200" y="179864"/>
                  <a:pt x="205502" y="188595"/>
                  <a:pt x="209868" y="196294"/>
                </a:cubicBezTo>
                <a:lnTo>
                  <a:pt x="242888" y="254000"/>
                </a:lnTo>
                <a:lnTo>
                  <a:pt x="112713" y="254000"/>
                </a:lnTo>
                <a:lnTo>
                  <a:pt x="145733" y="196294"/>
                </a:lnTo>
                <a:cubicBezTo>
                  <a:pt x="150098" y="188595"/>
                  <a:pt x="152400" y="179943"/>
                  <a:pt x="152400" y="171053"/>
                </a:cubicBezTo>
                <a:close/>
              </a:path>
            </a:pathLst>
          </a:cu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13335000" y="8953500"/>
            <a:ext cx="914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Pollutant Breakdown</a:t>
            </a:r>
            <a:pPr>
              <a:lnSpc>
                <a:spcPct val="140000"/>
              </a:lnSpc>
            </a:pPr>
            <a:r>
              <a:rPr lang="en-US" sz="20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safe limit percentage bars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725400" y="9906000"/>
            <a:ext cx="990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Tech: Random Forest ML | Real-Time APIs | Responsive React Frontend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00" y="1295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data sourced from official CPCB monitoring stations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1590000" y="12954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888A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y7quss76h4lrg/mnt/agents/output/aqi-india/images/7_Can_Delhi_sustain_its_clean_air_blu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60000"/>
                </a:srgbClr>
              </a:gs>
              <a:gs pos="50000">
                <a:srgbClr val="1A1A2E">
                  <a:alpha val="87000"/>
                </a:srgbClr>
              </a:gs>
              <a:gs pos="100000">
                <a:srgbClr val="1A1A2E"/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127500" y="3302000"/>
            <a:ext cx="16129000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4127500" y="10414000"/>
            <a:ext cx="16129000" cy="0"/>
          </a:xfrm>
          <a:prstGeom prst="line">
            <a:avLst/>
          </a:prstGeom>
          <a:noFill/>
          <a:ln w="9525">
            <a:solidFill>
              <a:srgbClr val="4361EE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2540000" y="3810000"/>
            <a:ext cx="1930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10000"/>
              </a:lnSpc>
            </a:pPr>
            <a:r>
              <a:rPr lang="en-US" sz="12000" dirty="0">
                <a:solidFill>
                  <a:srgbClr val="FFFFFF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BREATHE </a:t>
            </a:r>
            <a:pPr algn="ctr">
              <a:lnSpc>
                <a:spcPct val="110000"/>
              </a:lnSpc>
            </a:pPr>
            <a:r>
              <a:rPr lang="en-US" sz="12000" dirty="0">
                <a:solidFill>
                  <a:srgbClr val="4361E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SMARTER</a:t>
            </a:r>
            <a:endParaRPr lang="en-US" sz="12000" dirty="0"/>
          </a:p>
        </p:txBody>
      </p:sp>
      <p:sp>
        <p:nvSpPr>
          <p:cNvPr id="7" name="Text 4"/>
          <p:cNvSpPr/>
          <p:nvPr/>
        </p:nvSpPr>
        <p:spPr>
          <a:xfrm>
            <a:off x="3810000" y="6604000"/>
            <a:ext cx="167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3200" dirty="0">
                <a:solidFill>
                  <a:srgbClr val="E8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Monitor. Forecast. Protect.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0" y="7747000"/>
            <a:ext cx="167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8888A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AI-powered air quality companion for healthier living across India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652000" y="9144000"/>
            <a:ext cx="5080000" cy="762000"/>
          </a:xfrm>
          <a:prstGeom prst="roundRect">
            <a:avLst>
              <a:gd name="adj" fmla="val 16000"/>
            </a:avLst>
          </a:prstGeom>
          <a:solidFill>
            <a:srgbClr val="4361EE"/>
          </a:solidFill>
          <a:ln/>
        </p:spPr>
      </p:sp>
      <p:sp>
        <p:nvSpPr>
          <p:cNvPr id="10" name="Text 7"/>
          <p:cNvSpPr/>
          <p:nvPr/>
        </p:nvSpPr>
        <p:spPr>
          <a:xfrm>
            <a:off x="9652000" y="9144000"/>
            <a:ext cx="508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 Started Today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861800" y="10414000"/>
            <a:ext cx="660400" cy="6604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2" name="Text 9"/>
          <p:cNvSpPr/>
          <p:nvPr/>
        </p:nvSpPr>
        <p:spPr>
          <a:xfrm>
            <a:off x="10922000" y="11303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4361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AQI India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Air Quality Monitoring Assistant for India</dc:title>
  <dc:subject>AI-Powered Air Quality Monitoring Assistant for India</dc:subject>
  <dc:creator>Kimi</dc:creator>
  <cp:lastModifiedBy>Kimi</cp:lastModifiedBy>
  <cp:revision>1</cp:revision>
  <dcterms:created xsi:type="dcterms:W3CDTF">2026-05-06T02:13:24Z</dcterms:created>
  <dcterms:modified xsi:type="dcterms:W3CDTF">2026-05-06T02:13:24Z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{"Label":"AI-Powered Air Quality Monitoring Assistant for India","ContentProducer":"001191110108MACG2KBH8F10000","ProduceID":"19df6e4f-9ac2-8b1f-8000-000011c1cf3c","ReservedCode1":"","ContentPropagator":"001191110108MACG2KBH8F20000","PropagateID":"19df6e4f-9ac2-8b1f-8000-000011c1cf3c","ReservedCode2":""}</vt:lpwstr>
  </property>
</Properties>
</file>
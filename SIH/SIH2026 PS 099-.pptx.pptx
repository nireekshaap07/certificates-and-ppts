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" charset="1" panose="020B0604020202020204"/>
      <p:regular r:id="rId14"/>
    </p:embeddedFont>
    <p:embeddedFont>
      <p:font typeface="Arial Bold" charset="1" panose="020B0704020202020204"/>
      <p:regular r:id="rId15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Calibri (MS)" charset="1" panose="020F05020202040302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sz="48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40055" y="2545242"/>
            <a:ext cx="8703945" cy="6678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 marL="651510" indent="-325755" lvl="1">
              <a:lnSpc>
                <a:spcPts val="5256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SIH26099</a:t>
            </a:r>
          </a:p>
          <a:p>
            <a:pPr algn="just" marL="651510" indent="-325755" lvl="1">
              <a:lnSpc>
                <a:spcPts val="5256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National Unified Material Master Framework</a:t>
            </a:r>
          </a:p>
          <a:p>
            <a:pPr algn="l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Smart Automation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ID- 140981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SLUG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-1086366" y="9435749"/>
            <a:ext cx="13084230" cy="4718500"/>
          </a:xfrm>
          <a:custGeom>
            <a:avLst/>
            <a:gdLst/>
            <a:ahLst/>
            <a:cxnLst/>
            <a:rect r="r" b="b" t="t" l="l"/>
            <a:pathLst>
              <a:path h="4718500" w="13084230">
                <a:moveTo>
                  <a:pt x="0" y="0"/>
                </a:moveTo>
                <a:lnTo>
                  <a:pt x="13084230" y="0"/>
                </a:lnTo>
                <a:lnTo>
                  <a:pt x="13084230" y="4718501"/>
                </a:lnTo>
                <a:lnTo>
                  <a:pt x="0" y="47185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0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32650" y="9706775"/>
            <a:ext cx="7422700" cy="1160450"/>
            <a:chOff x="0" y="0"/>
            <a:chExt cx="9896934" cy="1547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96932" cy="1547267"/>
            </a:xfrm>
            <a:custGeom>
              <a:avLst/>
              <a:gdLst/>
              <a:ahLst/>
              <a:cxnLst/>
              <a:rect r="r" b="b" t="t" l="l"/>
              <a:pathLst>
                <a:path h="1547267" w="9896932">
                  <a:moveTo>
                    <a:pt x="0" y="0"/>
                  </a:moveTo>
                  <a:lnTo>
                    <a:pt x="9896932" y="0"/>
                  </a:lnTo>
                  <a:lnTo>
                    <a:pt x="9896932" y="1547267"/>
                  </a:lnTo>
                  <a:lnTo>
                    <a:pt x="0" y="15472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099" r="35252" b="-4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896934" cy="1566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One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Nation – One Material Code | Standardize. Harmonize. Unify.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1896453" cy="1236431"/>
            <a:chOff x="0" y="0"/>
            <a:chExt cx="2554516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SLUG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274501" y="2130323"/>
            <a:ext cx="9564337" cy="3752130"/>
            <a:chOff x="0" y="0"/>
            <a:chExt cx="2519002" cy="98821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19002" cy="988215"/>
            </a:xfrm>
            <a:custGeom>
              <a:avLst/>
              <a:gdLst/>
              <a:ahLst/>
              <a:cxnLst/>
              <a:rect r="r" b="b" t="t" l="l"/>
              <a:pathLst>
                <a:path h="988215" w="2519002">
                  <a:moveTo>
                    <a:pt x="0" y="0"/>
                  </a:moveTo>
                  <a:lnTo>
                    <a:pt x="2519002" y="0"/>
                  </a:lnTo>
                  <a:lnTo>
                    <a:pt x="2519002" y="988215"/>
                  </a:lnTo>
                  <a:lnTo>
                    <a:pt x="0" y="988215"/>
                  </a:lnTo>
                  <a:close/>
                </a:path>
              </a:pathLst>
            </a:custGeom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519002" cy="10072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639"/>
                </a:lnSpc>
              </a:pPr>
              <a:r>
                <a:rPr lang="en-US" sz="2199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PROBLEM:</a:t>
              </a:r>
            </a:p>
            <a:p>
              <a:pPr algn="l">
                <a:lnSpc>
                  <a:spcPts val="2160"/>
                </a:lnSpc>
              </a:pPr>
            </a:p>
            <a:p>
              <a:pPr algn="l" marL="388620" indent="-194310" lvl="1">
                <a:lnSpc>
                  <a:spcPts val="2466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Fragmented Material Masters:</a:t>
              </a: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Different CPSEs use different codes, descriptions, units, specifications, and naming conventions for the same material.</a:t>
              </a:r>
            </a:p>
            <a:p>
              <a:pPr algn="l" marL="388620" indent="-194310" lvl="1">
                <a:lnSpc>
                  <a:spcPts val="2466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Duplicate &amp; Near-Duplicate Records: </a:t>
              </a: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Equivalent materials remain scattered across organizations, creating fragmented procurement information and higher inventory levels.</a:t>
              </a:r>
            </a:p>
            <a:p>
              <a:pPr algn="l" marL="388620" indent="-194310" lvl="1">
                <a:lnSpc>
                  <a:spcPts val="2466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Technical Matching Risk:</a:t>
              </a: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Simple text matching can falsely merge incompatible materials such as SS304 vs SS316 or M16×50 vs M16×100.</a:t>
              </a:r>
            </a:p>
            <a:p>
              <a:pPr algn="l" marL="388620" indent="-194310" lvl="1">
                <a:lnSpc>
                  <a:spcPts val="2466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Limited Traceability: </a:t>
              </a: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Standardization requires preserving legacy codes, source lineage, approval history, and the reasoning behind every AI recommendation.</a:t>
              </a:r>
            </a:p>
            <a:p>
              <a:pPr algn="l">
                <a:lnSpc>
                  <a:spcPts val="2160"/>
                </a:lnSpc>
              </a:pP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63645" y="6025273"/>
            <a:ext cx="9818386" cy="3289728"/>
            <a:chOff x="0" y="0"/>
            <a:chExt cx="2585912" cy="8664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85912" cy="866430"/>
            </a:xfrm>
            <a:custGeom>
              <a:avLst/>
              <a:gdLst/>
              <a:ahLst/>
              <a:cxnLst/>
              <a:rect r="r" b="b" t="t" l="l"/>
              <a:pathLst>
                <a:path h="866430" w="2585912">
                  <a:moveTo>
                    <a:pt x="0" y="0"/>
                  </a:moveTo>
                  <a:lnTo>
                    <a:pt x="2585912" y="0"/>
                  </a:lnTo>
                  <a:lnTo>
                    <a:pt x="2585912" y="866430"/>
                  </a:lnTo>
                  <a:lnTo>
                    <a:pt x="0" y="866430"/>
                  </a:lnTo>
                  <a:close/>
                </a:path>
              </a:pathLst>
            </a:custGeom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585912" cy="8664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SOLUTION - One Nation, One Material Code:</a:t>
              </a:r>
            </a:p>
            <a:p>
              <a:pPr algn="l">
                <a:lnSpc>
                  <a:spcPts val="2160"/>
                </a:lnSpc>
              </a:pPr>
            </a:p>
            <a:p>
              <a:pPr algn="l" marL="388620" indent="-194310" lvl="1">
                <a:lnSpc>
                  <a:spcPts val="2304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From fragmented records to one identity: </a:t>
              </a: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AI normalizes material data, extracts technical attributes, and generates structured material fingerprints.</a:t>
              </a:r>
            </a:p>
            <a:p>
              <a:pPr algn="l" marL="388620" indent="-194310" lvl="1">
                <a:lnSpc>
                  <a:spcPts val="2304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From text similarity to intelligent matching:</a:t>
              </a: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Hybrid matching combines exact, fuzzy, semantic, attribute, and technical compatibility signals.</a:t>
              </a:r>
            </a:p>
            <a:p>
              <a:pPr algn="l" marL="388620" indent="-194310" lvl="1">
                <a:lnSpc>
                  <a:spcPts val="2304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From duplicates to a National Master: </a:t>
              </a: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Equivalent materials are clustered and mapped to a persistent National Material Code (NMC) while preserving legacy CPSE codes.</a:t>
              </a:r>
            </a:p>
            <a:p>
              <a:pPr algn="l" marL="388620" indent="-194310" lvl="1">
                <a:lnSpc>
                  <a:spcPts val="2304"/>
                </a:lnSpc>
                <a:buFont typeface="Arial"/>
                <a:buChar char="•"/>
              </a:pPr>
              <a:r>
                <a:rPr lang="en-US" b="true" sz="180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From black-box AI to governed decisions: </a:t>
              </a:r>
              <a:r>
                <a:rPr lang="en-US" sz="1800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Every recommendation provides matching evidence, confidence, conflicts, and source lineage for human approval.</a:t>
              </a:r>
            </a:p>
            <a:p>
              <a:pPr algn="l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68877" y="1942895"/>
            <a:ext cx="9813129" cy="3568294"/>
            <a:chOff x="0" y="0"/>
            <a:chExt cx="2584528" cy="93979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84528" cy="939798"/>
            </a:xfrm>
            <a:custGeom>
              <a:avLst/>
              <a:gdLst/>
              <a:ahLst/>
              <a:cxnLst/>
              <a:rect r="r" b="b" t="t" l="l"/>
              <a:pathLst>
                <a:path h="939798" w="2584528">
                  <a:moveTo>
                    <a:pt x="59959" y="0"/>
                  </a:moveTo>
                  <a:lnTo>
                    <a:pt x="2524569" y="0"/>
                  </a:lnTo>
                  <a:cubicBezTo>
                    <a:pt x="2540471" y="0"/>
                    <a:pt x="2555722" y="6317"/>
                    <a:pt x="2566966" y="17562"/>
                  </a:cubicBezTo>
                  <a:cubicBezTo>
                    <a:pt x="2578211" y="28806"/>
                    <a:pt x="2584528" y="44057"/>
                    <a:pt x="2584528" y="59959"/>
                  </a:cubicBezTo>
                  <a:lnTo>
                    <a:pt x="2584528" y="879839"/>
                  </a:lnTo>
                  <a:cubicBezTo>
                    <a:pt x="2584528" y="895741"/>
                    <a:pt x="2578211" y="910991"/>
                    <a:pt x="2566966" y="922236"/>
                  </a:cubicBezTo>
                  <a:cubicBezTo>
                    <a:pt x="2555722" y="933481"/>
                    <a:pt x="2540471" y="939798"/>
                    <a:pt x="2524569" y="939798"/>
                  </a:cubicBezTo>
                  <a:lnTo>
                    <a:pt x="59959" y="939798"/>
                  </a:lnTo>
                  <a:cubicBezTo>
                    <a:pt x="44057" y="939798"/>
                    <a:pt x="28806" y="933481"/>
                    <a:pt x="17562" y="922236"/>
                  </a:cubicBezTo>
                  <a:cubicBezTo>
                    <a:pt x="6317" y="910991"/>
                    <a:pt x="0" y="895741"/>
                    <a:pt x="0" y="879839"/>
                  </a:cubicBezTo>
                  <a:lnTo>
                    <a:pt x="0" y="59959"/>
                  </a:lnTo>
                  <a:cubicBezTo>
                    <a:pt x="0" y="44057"/>
                    <a:pt x="6317" y="28806"/>
                    <a:pt x="17562" y="17562"/>
                  </a:cubicBezTo>
                  <a:cubicBezTo>
                    <a:pt x="28806" y="6317"/>
                    <a:pt x="44057" y="0"/>
                    <a:pt x="59959" y="0"/>
                  </a:cubicBezTo>
                  <a:close/>
                </a:path>
              </a:pathLst>
            </a:custGeom>
            <a:solidFill>
              <a:srgbClr val="66C6FE">
                <a:alpha val="9804"/>
              </a:srgbClr>
            </a:solidFill>
            <a:ln w="9525" cap="rnd">
              <a:solidFill>
                <a:srgbClr val="1F497D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584528" cy="9588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58021" y="5809448"/>
            <a:ext cx="9816192" cy="3379305"/>
            <a:chOff x="0" y="0"/>
            <a:chExt cx="2585334" cy="89002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585334" cy="890023"/>
            </a:xfrm>
            <a:custGeom>
              <a:avLst/>
              <a:gdLst/>
              <a:ahLst/>
              <a:cxnLst/>
              <a:rect r="r" b="b" t="t" l="l"/>
              <a:pathLst>
                <a:path h="890023" w="2585334">
                  <a:moveTo>
                    <a:pt x="59940" y="0"/>
                  </a:moveTo>
                  <a:lnTo>
                    <a:pt x="2525394" y="0"/>
                  </a:lnTo>
                  <a:cubicBezTo>
                    <a:pt x="2558498" y="0"/>
                    <a:pt x="2585334" y="26836"/>
                    <a:pt x="2585334" y="59940"/>
                  </a:cubicBezTo>
                  <a:lnTo>
                    <a:pt x="2585334" y="830082"/>
                  </a:lnTo>
                  <a:cubicBezTo>
                    <a:pt x="2585334" y="863187"/>
                    <a:pt x="2558498" y="890023"/>
                    <a:pt x="2525394" y="890023"/>
                  </a:cubicBezTo>
                  <a:lnTo>
                    <a:pt x="59940" y="890023"/>
                  </a:lnTo>
                  <a:cubicBezTo>
                    <a:pt x="26836" y="890023"/>
                    <a:pt x="0" y="863187"/>
                    <a:pt x="0" y="830082"/>
                  </a:cubicBezTo>
                  <a:lnTo>
                    <a:pt x="0" y="59940"/>
                  </a:lnTo>
                  <a:cubicBezTo>
                    <a:pt x="0" y="26836"/>
                    <a:pt x="26836" y="0"/>
                    <a:pt x="59940" y="0"/>
                  </a:cubicBezTo>
                  <a:close/>
                </a:path>
              </a:pathLst>
            </a:custGeom>
            <a:solidFill>
              <a:srgbClr val="228162">
                <a:alpha val="2353"/>
              </a:srgbClr>
            </a:solidFill>
            <a:ln w="9525" cap="rnd">
              <a:solidFill>
                <a:srgbClr val="228162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2585334" cy="9090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182031" y="2277006"/>
            <a:ext cx="2821388" cy="1644565"/>
          </a:xfrm>
          <a:custGeom>
            <a:avLst/>
            <a:gdLst/>
            <a:ahLst/>
            <a:cxnLst/>
            <a:rect r="r" b="b" t="t" l="l"/>
            <a:pathLst>
              <a:path h="1644565" w="2821388">
                <a:moveTo>
                  <a:pt x="0" y="0"/>
                </a:moveTo>
                <a:lnTo>
                  <a:pt x="2821388" y="0"/>
                </a:lnTo>
                <a:lnTo>
                  <a:pt x="2821388" y="1644565"/>
                </a:lnTo>
                <a:lnTo>
                  <a:pt x="0" y="16445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5565" t="-114908" r="-274744" b="-38018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4896404" y="2189670"/>
            <a:ext cx="2922223" cy="1731901"/>
          </a:xfrm>
          <a:custGeom>
            <a:avLst/>
            <a:gdLst/>
            <a:ahLst/>
            <a:cxnLst/>
            <a:rect r="r" b="b" t="t" l="l"/>
            <a:pathLst>
              <a:path h="1731901" w="2922223">
                <a:moveTo>
                  <a:pt x="0" y="0"/>
                </a:moveTo>
                <a:lnTo>
                  <a:pt x="2922224" y="0"/>
                </a:lnTo>
                <a:lnTo>
                  <a:pt x="2922224" y="1731901"/>
                </a:lnTo>
                <a:lnTo>
                  <a:pt x="0" y="17319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2278" t="-256248" r="-292753" b="-279333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0624624" y="4683135"/>
            <a:ext cx="1693589" cy="1199319"/>
            <a:chOff x="0" y="0"/>
            <a:chExt cx="894117" cy="6331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94117" cy="633171"/>
            </a:xfrm>
            <a:custGeom>
              <a:avLst/>
              <a:gdLst/>
              <a:ahLst/>
              <a:cxnLst/>
              <a:rect r="r" b="b" t="t" l="l"/>
              <a:pathLst>
                <a:path h="633171" w="894117">
                  <a:moveTo>
                    <a:pt x="894117" y="316585"/>
                  </a:moveTo>
                  <a:lnTo>
                    <a:pt x="894117" y="316585"/>
                  </a:lnTo>
                  <a:cubicBezTo>
                    <a:pt x="894117" y="491431"/>
                    <a:pt x="752377" y="633171"/>
                    <a:pt x="577531" y="633171"/>
                  </a:cubicBezTo>
                  <a:lnTo>
                    <a:pt x="316585" y="633171"/>
                  </a:lnTo>
                  <a:cubicBezTo>
                    <a:pt x="141740" y="633171"/>
                    <a:pt x="0" y="491431"/>
                    <a:pt x="0" y="316585"/>
                  </a:cubicBezTo>
                  <a:lnTo>
                    <a:pt x="0" y="316585"/>
                  </a:lnTo>
                  <a:cubicBezTo>
                    <a:pt x="0" y="141740"/>
                    <a:pt x="141740" y="0"/>
                    <a:pt x="316585" y="0"/>
                  </a:cubicBezTo>
                  <a:lnTo>
                    <a:pt x="577531" y="0"/>
                  </a:lnTo>
                  <a:cubicBezTo>
                    <a:pt x="661495" y="0"/>
                    <a:pt x="742020" y="33354"/>
                    <a:pt x="801391" y="92726"/>
                  </a:cubicBezTo>
                  <a:cubicBezTo>
                    <a:pt x="860762" y="152097"/>
                    <a:pt x="894117" y="232622"/>
                    <a:pt x="894117" y="316585"/>
                  </a:cubicBezTo>
                  <a:close/>
                </a:path>
              </a:pathLst>
            </a:custGeom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894117" cy="652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643568" y="6411988"/>
            <a:ext cx="1693589" cy="1199319"/>
            <a:chOff x="0" y="0"/>
            <a:chExt cx="894117" cy="6331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94117" cy="633171"/>
            </a:xfrm>
            <a:custGeom>
              <a:avLst/>
              <a:gdLst/>
              <a:ahLst/>
              <a:cxnLst/>
              <a:rect r="r" b="b" t="t" l="l"/>
              <a:pathLst>
                <a:path h="633171" w="894117">
                  <a:moveTo>
                    <a:pt x="894117" y="316585"/>
                  </a:moveTo>
                  <a:lnTo>
                    <a:pt x="894117" y="316585"/>
                  </a:lnTo>
                  <a:cubicBezTo>
                    <a:pt x="894117" y="491431"/>
                    <a:pt x="752377" y="633171"/>
                    <a:pt x="577531" y="633171"/>
                  </a:cubicBezTo>
                  <a:lnTo>
                    <a:pt x="316585" y="633171"/>
                  </a:lnTo>
                  <a:cubicBezTo>
                    <a:pt x="141740" y="633171"/>
                    <a:pt x="0" y="491431"/>
                    <a:pt x="0" y="316585"/>
                  </a:cubicBezTo>
                  <a:lnTo>
                    <a:pt x="0" y="316585"/>
                  </a:lnTo>
                  <a:cubicBezTo>
                    <a:pt x="0" y="141740"/>
                    <a:pt x="141740" y="0"/>
                    <a:pt x="316585" y="0"/>
                  </a:cubicBezTo>
                  <a:lnTo>
                    <a:pt x="577531" y="0"/>
                  </a:lnTo>
                  <a:cubicBezTo>
                    <a:pt x="661495" y="0"/>
                    <a:pt x="742020" y="33354"/>
                    <a:pt x="801391" y="92726"/>
                  </a:cubicBezTo>
                  <a:cubicBezTo>
                    <a:pt x="860762" y="152097"/>
                    <a:pt x="894117" y="232622"/>
                    <a:pt x="894117" y="316585"/>
                  </a:cubicBezTo>
                  <a:close/>
                </a:path>
              </a:pathLst>
            </a:custGeom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894117" cy="652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643568" y="8058981"/>
            <a:ext cx="1693589" cy="1199319"/>
            <a:chOff x="0" y="0"/>
            <a:chExt cx="894117" cy="6331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94117" cy="633171"/>
            </a:xfrm>
            <a:custGeom>
              <a:avLst/>
              <a:gdLst/>
              <a:ahLst/>
              <a:cxnLst/>
              <a:rect r="r" b="b" t="t" l="l"/>
              <a:pathLst>
                <a:path h="633171" w="894117">
                  <a:moveTo>
                    <a:pt x="894117" y="316585"/>
                  </a:moveTo>
                  <a:lnTo>
                    <a:pt x="894117" y="316585"/>
                  </a:lnTo>
                  <a:cubicBezTo>
                    <a:pt x="894117" y="491431"/>
                    <a:pt x="752377" y="633171"/>
                    <a:pt x="577531" y="633171"/>
                  </a:cubicBezTo>
                  <a:lnTo>
                    <a:pt x="316585" y="633171"/>
                  </a:lnTo>
                  <a:cubicBezTo>
                    <a:pt x="141740" y="633171"/>
                    <a:pt x="0" y="491431"/>
                    <a:pt x="0" y="316585"/>
                  </a:cubicBezTo>
                  <a:lnTo>
                    <a:pt x="0" y="316585"/>
                  </a:lnTo>
                  <a:cubicBezTo>
                    <a:pt x="0" y="141740"/>
                    <a:pt x="141740" y="0"/>
                    <a:pt x="316585" y="0"/>
                  </a:cubicBezTo>
                  <a:lnTo>
                    <a:pt x="577531" y="0"/>
                  </a:lnTo>
                  <a:cubicBezTo>
                    <a:pt x="661495" y="0"/>
                    <a:pt x="742020" y="33354"/>
                    <a:pt x="801391" y="92726"/>
                  </a:cubicBezTo>
                  <a:cubicBezTo>
                    <a:pt x="860762" y="152097"/>
                    <a:pt x="894117" y="232622"/>
                    <a:pt x="894117" y="316585"/>
                  </a:cubicBezTo>
                  <a:close/>
                </a:path>
              </a:pathLst>
            </a:custGeom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894117" cy="652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3106400" y="8062348"/>
            <a:ext cx="1693589" cy="1199319"/>
            <a:chOff x="0" y="0"/>
            <a:chExt cx="894117" cy="63317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94117" cy="633171"/>
            </a:xfrm>
            <a:custGeom>
              <a:avLst/>
              <a:gdLst/>
              <a:ahLst/>
              <a:cxnLst/>
              <a:rect r="r" b="b" t="t" l="l"/>
              <a:pathLst>
                <a:path h="633171" w="894117">
                  <a:moveTo>
                    <a:pt x="894117" y="316585"/>
                  </a:moveTo>
                  <a:lnTo>
                    <a:pt x="894117" y="316585"/>
                  </a:lnTo>
                  <a:cubicBezTo>
                    <a:pt x="894117" y="491431"/>
                    <a:pt x="752377" y="633171"/>
                    <a:pt x="577531" y="633171"/>
                  </a:cubicBezTo>
                  <a:lnTo>
                    <a:pt x="316585" y="633171"/>
                  </a:lnTo>
                  <a:cubicBezTo>
                    <a:pt x="141740" y="633171"/>
                    <a:pt x="0" y="491431"/>
                    <a:pt x="0" y="316585"/>
                  </a:cubicBezTo>
                  <a:lnTo>
                    <a:pt x="0" y="316585"/>
                  </a:lnTo>
                  <a:cubicBezTo>
                    <a:pt x="0" y="141740"/>
                    <a:pt x="141740" y="0"/>
                    <a:pt x="316585" y="0"/>
                  </a:cubicBezTo>
                  <a:lnTo>
                    <a:pt x="577531" y="0"/>
                  </a:lnTo>
                  <a:cubicBezTo>
                    <a:pt x="661495" y="0"/>
                    <a:pt x="742020" y="33354"/>
                    <a:pt x="801391" y="92726"/>
                  </a:cubicBezTo>
                  <a:cubicBezTo>
                    <a:pt x="860762" y="152097"/>
                    <a:pt x="894117" y="232622"/>
                    <a:pt x="894117" y="316585"/>
                  </a:cubicBezTo>
                  <a:close/>
                </a:path>
              </a:pathLst>
            </a:custGeom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894117" cy="652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106400" y="6372340"/>
            <a:ext cx="1693589" cy="1199319"/>
            <a:chOff x="0" y="0"/>
            <a:chExt cx="894117" cy="6331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94117" cy="633171"/>
            </a:xfrm>
            <a:custGeom>
              <a:avLst/>
              <a:gdLst/>
              <a:ahLst/>
              <a:cxnLst/>
              <a:rect r="r" b="b" t="t" l="l"/>
              <a:pathLst>
                <a:path h="633171" w="894117">
                  <a:moveTo>
                    <a:pt x="894117" y="316585"/>
                  </a:moveTo>
                  <a:lnTo>
                    <a:pt x="894117" y="316585"/>
                  </a:lnTo>
                  <a:cubicBezTo>
                    <a:pt x="894117" y="491431"/>
                    <a:pt x="752377" y="633171"/>
                    <a:pt x="577531" y="633171"/>
                  </a:cubicBezTo>
                  <a:lnTo>
                    <a:pt x="316585" y="633171"/>
                  </a:lnTo>
                  <a:cubicBezTo>
                    <a:pt x="141740" y="633171"/>
                    <a:pt x="0" y="491431"/>
                    <a:pt x="0" y="316585"/>
                  </a:cubicBezTo>
                  <a:lnTo>
                    <a:pt x="0" y="316585"/>
                  </a:lnTo>
                  <a:cubicBezTo>
                    <a:pt x="0" y="141740"/>
                    <a:pt x="141740" y="0"/>
                    <a:pt x="316585" y="0"/>
                  </a:cubicBezTo>
                  <a:lnTo>
                    <a:pt x="577531" y="0"/>
                  </a:lnTo>
                  <a:cubicBezTo>
                    <a:pt x="661495" y="0"/>
                    <a:pt x="742020" y="33354"/>
                    <a:pt x="801391" y="92726"/>
                  </a:cubicBezTo>
                  <a:cubicBezTo>
                    <a:pt x="860762" y="152097"/>
                    <a:pt x="894117" y="232622"/>
                    <a:pt x="894117" y="316585"/>
                  </a:cubicBezTo>
                  <a:close/>
                </a:path>
              </a:pathLst>
            </a:custGeom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894117" cy="652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003419" y="4683135"/>
            <a:ext cx="1693589" cy="1199319"/>
            <a:chOff x="0" y="0"/>
            <a:chExt cx="894117" cy="63317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94117" cy="633171"/>
            </a:xfrm>
            <a:custGeom>
              <a:avLst/>
              <a:gdLst/>
              <a:ahLst/>
              <a:cxnLst/>
              <a:rect r="r" b="b" t="t" l="l"/>
              <a:pathLst>
                <a:path h="633171" w="894117">
                  <a:moveTo>
                    <a:pt x="894117" y="316585"/>
                  </a:moveTo>
                  <a:lnTo>
                    <a:pt x="894117" y="316585"/>
                  </a:lnTo>
                  <a:cubicBezTo>
                    <a:pt x="894117" y="491431"/>
                    <a:pt x="752377" y="633171"/>
                    <a:pt x="577531" y="633171"/>
                  </a:cubicBezTo>
                  <a:lnTo>
                    <a:pt x="316585" y="633171"/>
                  </a:lnTo>
                  <a:cubicBezTo>
                    <a:pt x="141740" y="633171"/>
                    <a:pt x="0" y="491431"/>
                    <a:pt x="0" y="316585"/>
                  </a:cubicBezTo>
                  <a:lnTo>
                    <a:pt x="0" y="316585"/>
                  </a:lnTo>
                  <a:cubicBezTo>
                    <a:pt x="0" y="141740"/>
                    <a:pt x="141740" y="0"/>
                    <a:pt x="316585" y="0"/>
                  </a:cubicBezTo>
                  <a:lnTo>
                    <a:pt x="577531" y="0"/>
                  </a:lnTo>
                  <a:cubicBezTo>
                    <a:pt x="661495" y="0"/>
                    <a:pt x="742020" y="33354"/>
                    <a:pt x="801391" y="92726"/>
                  </a:cubicBezTo>
                  <a:cubicBezTo>
                    <a:pt x="860762" y="152097"/>
                    <a:pt x="894117" y="232622"/>
                    <a:pt x="894117" y="316585"/>
                  </a:cubicBezTo>
                  <a:close/>
                </a:path>
              </a:pathLst>
            </a:custGeom>
            <a:ln w="571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894117" cy="652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AutoShape 50" id="50"/>
          <p:cNvSpPr/>
          <p:nvPr/>
        </p:nvSpPr>
        <p:spPr>
          <a:xfrm>
            <a:off x="11326414" y="5882453"/>
            <a:ext cx="15681" cy="4503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1" id="51"/>
          <p:cNvSpPr/>
          <p:nvPr/>
        </p:nvSpPr>
        <p:spPr>
          <a:xfrm>
            <a:off x="11345453" y="7611969"/>
            <a:ext cx="15681" cy="4503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2" id="52"/>
          <p:cNvSpPr/>
          <p:nvPr/>
        </p:nvSpPr>
        <p:spPr>
          <a:xfrm flipV="true">
            <a:off x="13899437" y="7571659"/>
            <a:ext cx="53758" cy="45991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3" id="53"/>
          <p:cNvSpPr/>
          <p:nvPr/>
        </p:nvSpPr>
        <p:spPr>
          <a:xfrm>
            <a:off x="12337157" y="8658641"/>
            <a:ext cx="716750" cy="5564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54" id="54"/>
          <p:cNvSpPr/>
          <p:nvPr/>
        </p:nvSpPr>
        <p:spPr>
          <a:xfrm flipV="true">
            <a:off x="13823334" y="5910219"/>
            <a:ext cx="26879" cy="37748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55" id="55"/>
          <p:cNvGrpSpPr/>
          <p:nvPr/>
        </p:nvGrpSpPr>
        <p:grpSpPr>
          <a:xfrm rot="0">
            <a:off x="15790589" y="6411988"/>
            <a:ext cx="2073402" cy="1210391"/>
            <a:chOff x="0" y="0"/>
            <a:chExt cx="546081" cy="31878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46081" cy="318786"/>
            </a:xfrm>
            <a:custGeom>
              <a:avLst/>
              <a:gdLst/>
              <a:ahLst/>
              <a:cxnLst/>
              <a:rect r="r" b="b" t="t" l="l"/>
              <a:pathLst>
                <a:path h="318786" w="546081">
                  <a:moveTo>
                    <a:pt x="159393" y="0"/>
                  </a:moveTo>
                  <a:lnTo>
                    <a:pt x="386688" y="0"/>
                  </a:lnTo>
                  <a:cubicBezTo>
                    <a:pt x="428962" y="0"/>
                    <a:pt x="469504" y="16793"/>
                    <a:pt x="499396" y="46685"/>
                  </a:cubicBezTo>
                  <a:cubicBezTo>
                    <a:pt x="529288" y="76577"/>
                    <a:pt x="546081" y="117119"/>
                    <a:pt x="546081" y="159393"/>
                  </a:cubicBezTo>
                  <a:lnTo>
                    <a:pt x="546081" y="159393"/>
                  </a:lnTo>
                  <a:cubicBezTo>
                    <a:pt x="546081" y="247423"/>
                    <a:pt x="474718" y="318786"/>
                    <a:pt x="386688" y="318786"/>
                  </a:cubicBezTo>
                  <a:lnTo>
                    <a:pt x="159393" y="318786"/>
                  </a:lnTo>
                  <a:cubicBezTo>
                    <a:pt x="117119" y="318786"/>
                    <a:pt x="76577" y="301993"/>
                    <a:pt x="46685" y="272101"/>
                  </a:cubicBezTo>
                  <a:cubicBezTo>
                    <a:pt x="16793" y="242209"/>
                    <a:pt x="0" y="201667"/>
                    <a:pt x="0" y="159393"/>
                  </a:cubicBezTo>
                  <a:lnTo>
                    <a:pt x="0" y="159393"/>
                  </a:lnTo>
                  <a:cubicBezTo>
                    <a:pt x="0" y="117119"/>
                    <a:pt x="16793" y="76577"/>
                    <a:pt x="46685" y="46685"/>
                  </a:cubicBezTo>
                  <a:cubicBezTo>
                    <a:pt x="76577" y="16793"/>
                    <a:pt x="117119" y="0"/>
                    <a:pt x="159393" y="0"/>
                  </a:cubicBezTo>
                  <a:close/>
                </a:path>
              </a:pathLst>
            </a:custGeom>
            <a:solidFill>
              <a:srgbClr val="66C6FE">
                <a:alpha val="9804"/>
              </a:srgbClr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546081" cy="337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5763808" y="5018126"/>
            <a:ext cx="2073402" cy="1210391"/>
            <a:chOff x="0" y="0"/>
            <a:chExt cx="546081" cy="31878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46081" cy="318786"/>
            </a:xfrm>
            <a:custGeom>
              <a:avLst/>
              <a:gdLst/>
              <a:ahLst/>
              <a:cxnLst/>
              <a:rect r="r" b="b" t="t" l="l"/>
              <a:pathLst>
                <a:path h="318786" w="546081">
                  <a:moveTo>
                    <a:pt x="159393" y="0"/>
                  </a:moveTo>
                  <a:lnTo>
                    <a:pt x="386688" y="0"/>
                  </a:lnTo>
                  <a:cubicBezTo>
                    <a:pt x="428962" y="0"/>
                    <a:pt x="469504" y="16793"/>
                    <a:pt x="499396" y="46685"/>
                  </a:cubicBezTo>
                  <a:cubicBezTo>
                    <a:pt x="529288" y="76577"/>
                    <a:pt x="546081" y="117119"/>
                    <a:pt x="546081" y="159393"/>
                  </a:cubicBezTo>
                  <a:lnTo>
                    <a:pt x="546081" y="159393"/>
                  </a:lnTo>
                  <a:cubicBezTo>
                    <a:pt x="546081" y="247423"/>
                    <a:pt x="474718" y="318786"/>
                    <a:pt x="386688" y="318786"/>
                  </a:cubicBezTo>
                  <a:lnTo>
                    <a:pt x="159393" y="318786"/>
                  </a:lnTo>
                  <a:cubicBezTo>
                    <a:pt x="117119" y="318786"/>
                    <a:pt x="76577" y="301993"/>
                    <a:pt x="46685" y="272101"/>
                  </a:cubicBezTo>
                  <a:cubicBezTo>
                    <a:pt x="16793" y="242209"/>
                    <a:pt x="0" y="201667"/>
                    <a:pt x="0" y="159393"/>
                  </a:cubicBezTo>
                  <a:lnTo>
                    <a:pt x="0" y="159393"/>
                  </a:lnTo>
                  <a:cubicBezTo>
                    <a:pt x="0" y="117119"/>
                    <a:pt x="16793" y="76577"/>
                    <a:pt x="46685" y="46685"/>
                  </a:cubicBezTo>
                  <a:cubicBezTo>
                    <a:pt x="76577" y="16793"/>
                    <a:pt x="117119" y="0"/>
                    <a:pt x="159393" y="0"/>
                  </a:cubicBezTo>
                  <a:close/>
                </a:path>
              </a:pathLst>
            </a:custGeom>
            <a:solidFill>
              <a:srgbClr val="66C6FE">
                <a:alpha val="9804"/>
              </a:srgbClr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19050"/>
              <a:ext cx="546081" cy="337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5819164" y="7835795"/>
            <a:ext cx="2073402" cy="1210391"/>
            <a:chOff x="0" y="0"/>
            <a:chExt cx="546081" cy="31878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46081" cy="318786"/>
            </a:xfrm>
            <a:custGeom>
              <a:avLst/>
              <a:gdLst/>
              <a:ahLst/>
              <a:cxnLst/>
              <a:rect r="r" b="b" t="t" l="l"/>
              <a:pathLst>
                <a:path h="318786" w="546081">
                  <a:moveTo>
                    <a:pt x="159393" y="0"/>
                  </a:moveTo>
                  <a:lnTo>
                    <a:pt x="386688" y="0"/>
                  </a:lnTo>
                  <a:cubicBezTo>
                    <a:pt x="428962" y="0"/>
                    <a:pt x="469504" y="16793"/>
                    <a:pt x="499396" y="46685"/>
                  </a:cubicBezTo>
                  <a:cubicBezTo>
                    <a:pt x="529288" y="76577"/>
                    <a:pt x="546081" y="117119"/>
                    <a:pt x="546081" y="159393"/>
                  </a:cubicBezTo>
                  <a:lnTo>
                    <a:pt x="546081" y="159393"/>
                  </a:lnTo>
                  <a:cubicBezTo>
                    <a:pt x="546081" y="247423"/>
                    <a:pt x="474718" y="318786"/>
                    <a:pt x="386688" y="318786"/>
                  </a:cubicBezTo>
                  <a:lnTo>
                    <a:pt x="159393" y="318786"/>
                  </a:lnTo>
                  <a:cubicBezTo>
                    <a:pt x="117119" y="318786"/>
                    <a:pt x="76577" y="301993"/>
                    <a:pt x="46685" y="272101"/>
                  </a:cubicBezTo>
                  <a:cubicBezTo>
                    <a:pt x="16793" y="242209"/>
                    <a:pt x="0" y="201667"/>
                    <a:pt x="0" y="159393"/>
                  </a:cubicBezTo>
                  <a:lnTo>
                    <a:pt x="0" y="159393"/>
                  </a:lnTo>
                  <a:cubicBezTo>
                    <a:pt x="0" y="117119"/>
                    <a:pt x="16793" y="76577"/>
                    <a:pt x="46685" y="46685"/>
                  </a:cubicBezTo>
                  <a:cubicBezTo>
                    <a:pt x="76577" y="16793"/>
                    <a:pt x="117119" y="0"/>
                    <a:pt x="159393" y="0"/>
                  </a:cubicBezTo>
                  <a:close/>
                </a:path>
              </a:pathLst>
            </a:custGeom>
            <a:solidFill>
              <a:srgbClr val="66C6FE">
                <a:alpha val="9804"/>
              </a:srgbClr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546081" cy="3378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5400000">
            <a:off x="16520895" y="6165351"/>
            <a:ext cx="559226" cy="256085"/>
            <a:chOff x="0" y="0"/>
            <a:chExt cx="812800" cy="37220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372203"/>
            </a:xfrm>
            <a:custGeom>
              <a:avLst/>
              <a:gdLst/>
              <a:ahLst/>
              <a:cxnLst/>
              <a:rect r="r" b="b" t="t" l="l"/>
              <a:pathLst>
                <a:path h="372203" w="812800">
                  <a:moveTo>
                    <a:pt x="609600" y="0"/>
                  </a:moveTo>
                  <a:lnTo>
                    <a:pt x="0" y="0"/>
                  </a:lnTo>
                  <a:lnTo>
                    <a:pt x="0" y="372203"/>
                  </a:lnTo>
                  <a:lnTo>
                    <a:pt x="609600" y="372203"/>
                  </a:lnTo>
                  <a:lnTo>
                    <a:pt x="812800" y="18610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66C6FE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698500" cy="391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5400000">
            <a:off x="16520895" y="7597690"/>
            <a:ext cx="559226" cy="256085"/>
            <a:chOff x="0" y="0"/>
            <a:chExt cx="812800" cy="372203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372203"/>
            </a:xfrm>
            <a:custGeom>
              <a:avLst/>
              <a:gdLst/>
              <a:ahLst/>
              <a:cxnLst/>
              <a:rect r="r" b="b" t="t" l="l"/>
              <a:pathLst>
                <a:path h="372203" w="812800">
                  <a:moveTo>
                    <a:pt x="609600" y="0"/>
                  </a:moveTo>
                  <a:lnTo>
                    <a:pt x="0" y="0"/>
                  </a:lnTo>
                  <a:lnTo>
                    <a:pt x="0" y="372203"/>
                  </a:lnTo>
                  <a:lnTo>
                    <a:pt x="609600" y="372203"/>
                  </a:lnTo>
                  <a:lnTo>
                    <a:pt x="812800" y="186101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66C6FE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19050"/>
              <a:ext cx="698500" cy="3912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978791" y="2726277"/>
            <a:ext cx="1917614" cy="681675"/>
            <a:chOff x="0" y="0"/>
            <a:chExt cx="736600" cy="26184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6600" cy="261847"/>
            </a:xfrm>
            <a:custGeom>
              <a:avLst/>
              <a:gdLst/>
              <a:ahLst/>
              <a:cxnLst/>
              <a:rect r="r" b="b" t="t" l="l"/>
              <a:pathLst>
                <a:path h="261847" w="736600">
                  <a:moveTo>
                    <a:pt x="736600" y="130924"/>
                  </a:moveTo>
                  <a:lnTo>
                    <a:pt x="476634" y="261847"/>
                  </a:lnTo>
                  <a:lnTo>
                    <a:pt x="492392" y="137100"/>
                  </a:lnTo>
                  <a:lnTo>
                    <a:pt x="244208" y="137100"/>
                  </a:lnTo>
                  <a:lnTo>
                    <a:pt x="259966" y="261847"/>
                  </a:lnTo>
                  <a:lnTo>
                    <a:pt x="0" y="130924"/>
                  </a:lnTo>
                  <a:lnTo>
                    <a:pt x="259966" y="0"/>
                  </a:lnTo>
                  <a:lnTo>
                    <a:pt x="244196" y="124785"/>
                  </a:lnTo>
                  <a:lnTo>
                    <a:pt x="492404" y="124785"/>
                  </a:lnTo>
                  <a:lnTo>
                    <a:pt x="476634" y="0"/>
                  </a:lnTo>
                  <a:lnTo>
                    <a:pt x="736600" y="130924"/>
                  </a:lnTo>
                  <a:close/>
                </a:path>
              </a:pathLst>
            </a:custGeom>
            <a:solidFill>
              <a:srgbClr val="425962">
                <a:alpha val="82745"/>
              </a:srgbClr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114300" y="107950"/>
              <a:ext cx="508000" cy="26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1160182" y="4896306"/>
            <a:ext cx="622474" cy="28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Ingest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976162" y="6553957"/>
            <a:ext cx="1028402" cy="28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Normalize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083969" y="8167785"/>
            <a:ext cx="812788" cy="552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Analyze</a:t>
            </a:r>
          </a:p>
          <a:p>
            <a:pPr algn="ctr">
              <a:lnSpc>
                <a:spcPts val="2160"/>
              </a:lnSpc>
              <a:spcBef>
                <a:spcPct val="0"/>
              </a:spcBef>
            </a:pPr>
          </a:p>
        </p:txBody>
      </p:sp>
      <p:sp>
        <p:nvSpPr>
          <p:cNvPr name="TextBox 76" id="76"/>
          <p:cNvSpPr txBox="true"/>
          <p:nvPr/>
        </p:nvSpPr>
        <p:spPr>
          <a:xfrm rot="0">
            <a:off x="13642051" y="8204789"/>
            <a:ext cx="622288" cy="28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Match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3488375" y="6574619"/>
            <a:ext cx="723677" cy="28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Cluster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445866" y="4908913"/>
            <a:ext cx="808695" cy="285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Validate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003096" y="5209447"/>
            <a:ext cx="933523" cy="375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3"/>
              </a:lnSpc>
            </a:pPr>
            <a:r>
              <a:rPr lang="en-US" sz="123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Collect &amp;</a:t>
            </a:r>
          </a:p>
          <a:p>
            <a:pPr algn="ctr">
              <a:lnSpc>
                <a:spcPts val="1483"/>
              </a:lnSpc>
              <a:spcBef>
                <a:spcPct val="0"/>
              </a:spcBef>
            </a:pPr>
            <a:r>
              <a:rPr lang="en-US" sz="123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validate data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0903291" y="6935316"/>
            <a:ext cx="1136255" cy="37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"/>
              </a:lnSpc>
            </a:pPr>
            <a:r>
              <a:rPr lang="en-US" sz="12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Standardize </a:t>
            </a:r>
          </a:p>
          <a:p>
            <a:pPr algn="ctr">
              <a:lnSpc>
                <a:spcPts val="1498"/>
              </a:lnSpc>
              <a:spcBef>
                <a:spcPct val="0"/>
              </a:spcBef>
            </a:pPr>
            <a:r>
              <a:rPr lang="en-US" sz="124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Units &amp; Formats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0774407" y="8503439"/>
            <a:ext cx="1431912" cy="414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2"/>
              </a:lnSpc>
            </a:pPr>
            <a:r>
              <a:rPr lang="en-US" sz="13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Extract attributes </a:t>
            </a:r>
          </a:p>
          <a:p>
            <a:pPr algn="ctr">
              <a:lnSpc>
                <a:spcPts val="1602"/>
              </a:lnSpc>
              <a:spcBef>
                <a:spcPct val="0"/>
              </a:spcBef>
            </a:pPr>
            <a:r>
              <a:rPr lang="en-US" sz="13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&amp; create fingerprint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163375" y="5163081"/>
            <a:ext cx="1373675" cy="440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5"/>
              </a:lnSpc>
            </a:pPr>
            <a:r>
              <a:rPr lang="en-US" sz="14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Human approval </a:t>
            </a:r>
          </a:p>
          <a:p>
            <a:pPr algn="ctr">
              <a:lnSpc>
                <a:spcPts val="1705"/>
              </a:lnSpc>
              <a:spcBef>
                <a:spcPct val="0"/>
              </a:spcBef>
            </a:pPr>
            <a:r>
              <a:rPr lang="en-US" sz="142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&amp; mapping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413479" y="6954912"/>
            <a:ext cx="1079432" cy="340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9"/>
              </a:lnSpc>
            </a:pPr>
            <a:r>
              <a:rPr lang="en-US" sz="111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Group equivalent</a:t>
            </a:r>
          </a:p>
          <a:p>
            <a:pPr algn="ctr">
              <a:lnSpc>
                <a:spcPts val="1339"/>
              </a:lnSpc>
              <a:spcBef>
                <a:spcPct val="0"/>
              </a:spcBef>
            </a:pPr>
            <a:r>
              <a:rPr lang="en-US" sz="111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materials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3359218" y="8537338"/>
            <a:ext cx="1307047" cy="23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0"/>
              </a:lnSpc>
              <a:spcBef>
                <a:spcPct val="0"/>
              </a:spcBef>
            </a:pPr>
            <a:r>
              <a:rPr lang="en-US" sz="142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Hybrid matching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163304" y="4080501"/>
            <a:ext cx="2744577" cy="5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8"/>
              </a:lnSpc>
              <a:spcBef>
                <a:spcPct val="0"/>
              </a:spcBef>
            </a:pPr>
            <a:r>
              <a:rPr lang="en-US" b="true" sz="342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How It Works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15561650" y="4184080"/>
            <a:ext cx="2221632" cy="542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08"/>
              </a:lnSpc>
              <a:spcBef>
                <a:spcPct val="0"/>
              </a:spcBef>
            </a:pPr>
            <a:r>
              <a:rPr lang="en-US" b="true" sz="342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The Result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5970896" y="5199922"/>
            <a:ext cx="1769938" cy="6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33"/>
              </a:lnSpc>
            </a:pPr>
            <a:r>
              <a:rPr lang="en-US" sz="19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Many CPSE</a:t>
            </a:r>
          </a:p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9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material records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5952514" y="6753982"/>
            <a:ext cx="1674316" cy="314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33"/>
              </a:lnSpc>
              <a:spcBef>
                <a:spcPct val="0"/>
              </a:spcBef>
            </a:pPr>
            <a:r>
              <a:rPr lang="en-US" sz="194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Our Application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6238264" y="8177310"/>
            <a:ext cx="1769938" cy="640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94"/>
              </a:lnSpc>
            </a:pPr>
            <a:r>
              <a:rPr lang="en-US" sz="207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Traceable</a:t>
            </a:r>
          </a:p>
          <a:p>
            <a:pPr algn="just">
              <a:lnSpc>
                <a:spcPts val="2494"/>
              </a:lnSpc>
              <a:spcBef>
                <a:spcPct val="0"/>
              </a:spcBef>
            </a:pPr>
            <a:r>
              <a:rPr lang="en-US" sz="2078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&amp; Unified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597781" y="9688893"/>
            <a:ext cx="7092437" cy="1160450"/>
            <a:chOff x="0" y="0"/>
            <a:chExt cx="9456583" cy="1547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56582" cy="1547267"/>
            </a:xfrm>
            <a:custGeom>
              <a:avLst/>
              <a:gdLst/>
              <a:ahLst/>
              <a:cxnLst/>
              <a:rect r="r" b="b" t="t" l="l"/>
              <a:pathLst>
                <a:path h="1547267" w="9456582">
                  <a:moveTo>
                    <a:pt x="0" y="0"/>
                  </a:moveTo>
                  <a:lnTo>
                    <a:pt x="9456582" y="0"/>
                  </a:lnTo>
                  <a:lnTo>
                    <a:pt x="9456582" y="1547267"/>
                  </a:lnTo>
                  <a:lnTo>
                    <a:pt x="0" y="15472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099" r="32237" b="-4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456583" cy="1566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One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Nation – One Material Code | Standardize. Harmonize. Unify.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2169936" cy="1249101"/>
            <a:chOff x="0" y="0"/>
            <a:chExt cx="2893247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893204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93204">
                  <a:moveTo>
                    <a:pt x="0" y="832740"/>
                  </a:moveTo>
                  <a:cubicBezTo>
                    <a:pt x="0" y="372873"/>
                    <a:pt x="647713" y="0"/>
                    <a:pt x="1446602" y="0"/>
                  </a:cubicBezTo>
                  <a:cubicBezTo>
                    <a:pt x="2245491" y="0"/>
                    <a:pt x="2893204" y="372873"/>
                    <a:pt x="2893204" y="832740"/>
                  </a:cubicBezTo>
                  <a:cubicBezTo>
                    <a:pt x="2893204" y="1292608"/>
                    <a:pt x="2245491" y="1665481"/>
                    <a:pt x="1446602" y="1665481"/>
                  </a:cubicBezTo>
                  <a:cubicBezTo>
                    <a:pt x="647713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893247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SLUG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5972469" y="1133801"/>
            <a:ext cx="12315531" cy="8124499"/>
          </a:xfrm>
          <a:custGeom>
            <a:avLst/>
            <a:gdLst/>
            <a:ahLst/>
            <a:cxnLst/>
            <a:rect r="r" b="b" t="t" l="l"/>
            <a:pathLst>
              <a:path h="8124499" w="12315531">
                <a:moveTo>
                  <a:pt x="0" y="0"/>
                </a:moveTo>
                <a:lnTo>
                  <a:pt x="12315531" y="0"/>
                </a:lnTo>
                <a:lnTo>
                  <a:pt x="12315531" y="8124499"/>
                </a:lnTo>
                <a:lnTo>
                  <a:pt x="0" y="81244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425" r="0" b="-575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342893" y="9028834"/>
            <a:ext cx="8247388" cy="458933"/>
          </a:xfrm>
          <a:custGeom>
            <a:avLst/>
            <a:gdLst/>
            <a:ahLst/>
            <a:cxnLst/>
            <a:rect r="r" b="b" t="t" l="l"/>
            <a:pathLst>
              <a:path h="458933" w="8247388">
                <a:moveTo>
                  <a:pt x="0" y="0"/>
                </a:moveTo>
                <a:lnTo>
                  <a:pt x="8247388" y="0"/>
                </a:lnTo>
                <a:lnTo>
                  <a:pt x="8247388" y="458932"/>
                </a:lnTo>
                <a:lnTo>
                  <a:pt x="0" y="4589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3601" r="0" b="-1247454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64462" y="1875549"/>
            <a:ext cx="6295842" cy="3829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9"/>
              </a:lnSpc>
            </a:pPr>
            <a:r>
              <a:rPr lang="en-US" sz="254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Technology Stack</a:t>
            </a:r>
          </a:p>
          <a:p>
            <a:pPr algn="l">
              <a:lnSpc>
                <a:spcPts val="2691"/>
              </a:lnSpc>
            </a:pP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Frontend:</a:t>
            </a: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React / Next.js, TypeScript , </a:t>
            </a:r>
          </a:p>
          <a:p>
            <a:pPr algn="l">
              <a:lnSpc>
                <a:spcPts val="2691"/>
              </a:lnSpc>
            </a:pP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Tailwind CSS</a:t>
            </a:r>
          </a:p>
          <a:p>
            <a:pPr algn="l">
              <a:lnSpc>
                <a:spcPts val="2691"/>
              </a:lnSpc>
            </a:pP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Backend: </a:t>
            </a: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Python , FastAPI</a:t>
            </a:r>
          </a:p>
          <a:p>
            <a:pPr algn="l">
              <a:lnSpc>
                <a:spcPts val="2691"/>
              </a:lnSpc>
            </a:pP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2242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AI / ML: </a:t>
            </a:r>
          </a:p>
          <a:p>
            <a:pPr algn="l" marL="484222" indent="-242111" lvl="1">
              <a:lnSpc>
                <a:spcPts val="2691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NLP &amp; semantic embeddings</a:t>
            </a:r>
          </a:p>
          <a:p>
            <a:pPr algn="l" marL="484222" indent="-242111" lvl="1">
              <a:lnSpc>
                <a:spcPts val="2691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Entity / attribute extraction</a:t>
            </a:r>
          </a:p>
          <a:p>
            <a:pPr algn="l" marL="484222" indent="-242111" lvl="1">
              <a:lnSpc>
                <a:spcPts val="2691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Fuzzy + semantic similarity</a:t>
            </a:r>
          </a:p>
          <a:p>
            <a:pPr algn="l" marL="484222" indent="-242111" lvl="1">
              <a:lnSpc>
                <a:spcPts val="2691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ML-assisted duplicate detection</a:t>
            </a:r>
          </a:p>
          <a:p>
            <a:pPr algn="l" marL="484222" indent="-242111" lvl="1">
              <a:lnSpc>
                <a:spcPts val="2691"/>
              </a:lnSpc>
              <a:buFont typeface="Arial"/>
              <a:buChar char="•"/>
            </a:pPr>
            <a:r>
              <a:rPr lang="en-US" sz="2242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LLM-assisted normalization</a:t>
            </a:r>
          </a:p>
          <a:p>
            <a:pPr algn="l">
              <a:lnSpc>
                <a:spcPts val="2691"/>
              </a:lnSpc>
            </a:pPr>
          </a:p>
          <a:p>
            <a:pPr algn="l">
              <a:lnSpc>
                <a:spcPts val="132"/>
              </a:lnSpc>
              <a:spcBef>
                <a:spcPct val="0"/>
              </a:spcBef>
            </a:pPr>
            <a:r>
              <a:rPr lang="en-US" sz="11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Structured material master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4462" y="5506591"/>
            <a:ext cx="7494017" cy="3914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1"/>
              </a:lnSpc>
            </a:pPr>
            <a:r>
              <a:rPr lang="en-US" b="true" sz="255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Data &amp; Search: </a:t>
            </a:r>
          </a:p>
          <a:p>
            <a:pPr algn="l" marL="509450" indent="-254725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PostgreSQL </a:t>
            </a:r>
          </a:p>
          <a:p>
            <a:pPr algn="l" marL="509450" indent="-254725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Vector database / vector search</a:t>
            </a:r>
          </a:p>
          <a:p>
            <a:pPr algn="l" marL="509450" indent="-254725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Structured material maste </a:t>
            </a:r>
          </a:p>
          <a:p>
            <a:pPr algn="l" marL="509450" indent="-254725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Structured material master</a:t>
            </a:r>
          </a:p>
          <a:p>
            <a:pPr algn="l" marL="509450" indent="-254725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Audit &amp; mapping store</a:t>
            </a:r>
          </a:p>
          <a:p>
            <a:pPr algn="l" marL="509450" indent="-254725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Infrastructure:</a:t>
            </a:r>
          </a:p>
          <a:p>
            <a:pPr algn="l" marL="509450" indent="-254725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REST APIs</a:t>
            </a:r>
          </a:p>
          <a:p>
            <a:pPr algn="l" marL="509450" indent="-254725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Containerized deployment</a:t>
            </a:r>
          </a:p>
          <a:p>
            <a:pPr algn="l" marL="509450" indent="-254725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Role-based access</a:t>
            </a:r>
          </a:p>
          <a:p>
            <a:pPr algn="l" marL="509450" indent="-254725" lvl="1">
              <a:lnSpc>
                <a:spcPts val="2831"/>
              </a:lnSpc>
              <a:buFont typeface="Arial"/>
              <a:buChar char="•"/>
            </a:pPr>
            <a:r>
              <a:rPr lang="en-US" sz="235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Scalable processing pipeline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841784" y="9706775"/>
            <a:ext cx="7067033" cy="1160450"/>
            <a:chOff x="0" y="0"/>
            <a:chExt cx="9422710" cy="1547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422709" cy="1547267"/>
            </a:xfrm>
            <a:custGeom>
              <a:avLst/>
              <a:gdLst/>
              <a:ahLst/>
              <a:cxnLst/>
              <a:rect r="r" b="b" t="t" l="l"/>
              <a:pathLst>
                <a:path h="1547267" w="9422709">
                  <a:moveTo>
                    <a:pt x="0" y="0"/>
                  </a:moveTo>
                  <a:lnTo>
                    <a:pt x="9422709" y="0"/>
                  </a:lnTo>
                  <a:lnTo>
                    <a:pt x="9422709" y="1547267"/>
                  </a:lnTo>
                  <a:lnTo>
                    <a:pt x="0" y="15472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099" r="31994" b="-4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422710" cy="1566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One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Nation – One Material Code | Standardize. Harmonize. Unify.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2119126" cy="1249101"/>
            <a:chOff x="0" y="0"/>
            <a:chExt cx="2825501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2825459" cy="1665481"/>
            </a:xfrm>
            <a:custGeom>
              <a:avLst/>
              <a:gdLst/>
              <a:ahLst/>
              <a:cxnLst/>
              <a:rect r="r" b="b" t="t" l="l"/>
              <a:pathLst>
                <a:path h="1665481" w="2825459">
                  <a:moveTo>
                    <a:pt x="0" y="832740"/>
                  </a:moveTo>
                  <a:cubicBezTo>
                    <a:pt x="0" y="372873"/>
                    <a:pt x="632547" y="0"/>
                    <a:pt x="1412730" y="0"/>
                  </a:cubicBezTo>
                  <a:cubicBezTo>
                    <a:pt x="2192912" y="0"/>
                    <a:pt x="2825459" y="372873"/>
                    <a:pt x="2825459" y="832740"/>
                  </a:cubicBezTo>
                  <a:cubicBezTo>
                    <a:pt x="2825459" y="1292608"/>
                    <a:pt x="2192912" y="1665481"/>
                    <a:pt x="1412730" y="1665481"/>
                  </a:cubicBezTo>
                  <a:cubicBezTo>
                    <a:pt x="632547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825501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SLUG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2461092" y="1380225"/>
            <a:ext cx="13143075" cy="7878075"/>
          </a:xfrm>
          <a:custGeom>
            <a:avLst/>
            <a:gdLst/>
            <a:ahLst/>
            <a:cxnLst/>
            <a:rect r="r" b="b" t="t" l="l"/>
            <a:pathLst>
              <a:path h="7878075" w="13143075">
                <a:moveTo>
                  <a:pt x="0" y="0"/>
                </a:moveTo>
                <a:lnTo>
                  <a:pt x="13143075" y="0"/>
                </a:lnTo>
                <a:lnTo>
                  <a:pt x="13143075" y="7878075"/>
                </a:lnTo>
                <a:lnTo>
                  <a:pt x="0" y="78780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890" r="0" b="-532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445352" y="9706775"/>
            <a:ext cx="7397296" cy="1160450"/>
            <a:chOff x="0" y="0"/>
            <a:chExt cx="9863061" cy="1547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863059" cy="1547267"/>
            </a:xfrm>
            <a:custGeom>
              <a:avLst/>
              <a:gdLst/>
              <a:ahLst/>
              <a:cxnLst/>
              <a:rect r="r" b="b" t="t" l="l"/>
              <a:pathLst>
                <a:path h="1547267" w="9863059">
                  <a:moveTo>
                    <a:pt x="0" y="0"/>
                  </a:moveTo>
                  <a:lnTo>
                    <a:pt x="9863059" y="0"/>
                  </a:lnTo>
                  <a:lnTo>
                    <a:pt x="9863059" y="1547267"/>
                  </a:lnTo>
                  <a:lnTo>
                    <a:pt x="0" y="15472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099" r="35030" b="-4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863061" cy="1566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One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Nation – One Material Code | Standardize. Harmonize. Unify.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2296960" cy="1249101"/>
            <a:chOff x="0" y="0"/>
            <a:chExt cx="3062613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3062568" cy="1665481"/>
            </a:xfrm>
            <a:custGeom>
              <a:avLst/>
              <a:gdLst/>
              <a:ahLst/>
              <a:cxnLst/>
              <a:rect r="r" b="b" t="t" l="l"/>
              <a:pathLst>
                <a:path h="1665481" w="3062568">
                  <a:moveTo>
                    <a:pt x="0" y="832740"/>
                  </a:moveTo>
                  <a:cubicBezTo>
                    <a:pt x="0" y="372873"/>
                    <a:pt x="685629" y="0"/>
                    <a:pt x="1531284" y="0"/>
                  </a:cubicBezTo>
                  <a:cubicBezTo>
                    <a:pt x="2376938" y="0"/>
                    <a:pt x="3062568" y="372873"/>
                    <a:pt x="3062568" y="832740"/>
                  </a:cubicBezTo>
                  <a:cubicBezTo>
                    <a:pt x="3062568" y="1292608"/>
                    <a:pt x="2376938" y="1665481"/>
                    <a:pt x="1531284" y="1665481"/>
                  </a:cubicBezTo>
                  <a:cubicBezTo>
                    <a:pt x="685629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062613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SLUG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1382109" y="1643062"/>
            <a:ext cx="14975407" cy="8149424"/>
          </a:xfrm>
          <a:custGeom>
            <a:avLst/>
            <a:gdLst/>
            <a:ahLst/>
            <a:cxnLst/>
            <a:rect r="r" b="b" t="t" l="l"/>
            <a:pathLst>
              <a:path h="8149424" w="14975407">
                <a:moveTo>
                  <a:pt x="0" y="0"/>
                </a:moveTo>
                <a:lnTo>
                  <a:pt x="14975407" y="0"/>
                </a:lnTo>
                <a:lnTo>
                  <a:pt x="14975407" y="8149424"/>
                </a:lnTo>
                <a:lnTo>
                  <a:pt x="0" y="81494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506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635889" y="9706775"/>
            <a:ext cx="7016223" cy="1160450"/>
            <a:chOff x="0" y="0"/>
            <a:chExt cx="9354964" cy="154726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54962" cy="1547267"/>
            </a:xfrm>
            <a:custGeom>
              <a:avLst/>
              <a:gdLst/>
              <a:ahLst/>
              <a:cxnLst/>
              <a:rect r="r" b="b" t="t" l="l"/>
              <a:pathLst>
                <a:path h="1547267" w="9354962">
                  <a:moveTo>
                    <a:pt x="0" y="0"/>
                  </a:moveTo>
                  <a:lnTo>
                    <a:pt x="9354962" y="0"/>
                  </a:lnTo>
                  <a:lnTo>
                    <a:pt x="9354962" y="1547267"/>
                  </a:lnTo>
                  <a:lnTo>
                    <a:pt x="0" y="15472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099" r="31501" b="-429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9354964" cy="15663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One</a:t>
              </a: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Nation – One Material Code | Standardize. Harmonize. Unify.</a:t>
              </a: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75612" y="359321"/>
            <a:ext cx="2347770" cy="1249101"/>
            <a:chOff x="0" y="0"/>
            <a:chExt cx="3130359" cy="1665468"/>
          </a:xfrm>
        </p:grpSpPr>
        <p:sp>
          <p:nvSpPr>
            <p:cNvPr name="Freeform 14" id="14" descr="Your startup LOGO"/>
            <p:cNvSpPr/>
            <p:nvPr/>
          </p:nvSpPr>
          <p:spPr>
            <a:xfrm flipH="false" flipV="false" rot="0">
              <a:off x="0" y="0"/>
              <a:ext cx="3130313" cy="1665481"/>
            </a:xfrm>
            <a:custGeom>
              <a:avLst/>
              <a:gdLst/>
              <a:ahLst/>
              <a:cxnLst/>
              <a:rect r="r" b="b" t="t" l="l"/>
              <a:pathLst>
                <a:path h="1665481" w="3130313">
                  <a:moveTo>
                    <a:pt x="0" y="832740"/>
                  </a:moveTo>
                  <a:cubicBezTo>
                    <a:pt x="0" y="372873"/>
                    <a:pt x="700795" y="0"/>
                    <a:pt x="1565156" y="0"/>
                  </a:cubicBezTo>
                  <a:cubicBezTo>
                    <a:pt x="2429517" y="0"/>
                    <a:pt x="3130313" y="372873"/>
                    <a:pt x="3130313" y="832740"/>
                  </a:cubicBezTo>
                  <a:cubicBezTo>
                    <a:pt x="3130313" y="1292608"/>
                    <a:pt x="2429517" y="1665481"/>
                    <a:pt x="1565156" y="1665481"/>
                  </a:cubicBezTo>
                  <a:cubicBezTo>
                    <a:pt x="700795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3130359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SLUG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97754" y="2589471"/>
            <a:ext cx="17867591" cy="459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ISO 8000-110:2021 — Data Quality: Master Data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Supports standardized exchange and semantic representation of master data across organizations. 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ISO 8000-115:2024 — Master Data Quality Identifiers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Relevant to unique identification, semantic resolution and mapping of material identities. 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Reimers &amp; Gurevych (2019) — Sentence-BERT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Foundation for semantic similarity and embe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W3C PROV — Provenance Data Model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Relevant to maintaining traceability, provenance and audit history of standardized material mappings. </a:t>
            </a: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ISO/TS 8000-82:2022 — Data Quality Rules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Supports the use of machine-processable data rules for maintaining data integrity and reliability.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DAHWd2obZ2A</dc:identifier>
  <dcterms:modified xsi:type="dcterms:W3CDTF">2011-08-01T06:04:30Z</dcterms:modified>
  <cp:revision>1</cp:revision>
  <dc:title>SIH2026 PS 099-.pptx</dc:title>
</cp:coreProperties>
</file>